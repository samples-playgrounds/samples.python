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Default Extension="gif" ContentType="image/gif"/>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55"/>
  </p:notesMasterIdLst>
  <p:handoutMasterIdLst>
    <p:handoutMasterId r:id="rId56"/>
  </p:handoutMasterIdLst>
  <p:sldIdLst>
    <p:sldId id="320" r:id="rId2"/>
    <p:sldId id="321" r:id="rId3"/>
    <p:sldId id="322" r:id="rId4"/>
    <p:sldId id="325" r:id="rId5"/>
    <p:sldId id="324" r:id="rId6"/>
    <p:sldId id="326" r:id="rId7"/>
    <p:sldId id="328" r:id="rId8"/>
    <p:sldId id="329" r:id="rId9"/>
    <p:sldId id="330" r:id="rId10"/>
    <p:sldId id="331" r:id="rId11"/>
    <p:sldId id="332" r:id="rId12"/>
    <p:sldId id="333" r:id="rId13"/>
    <p:sldId id="375" r:id="rId14"/>
    <p:sldId id="376" r:id="rId15"/>
    <p:sldId id="335" r:id="rId16"/>
    <p:sldId id="336" r:id="rId17"/>
    <p:sldId id="337" r:id="rId18"/>
    <p:sldId id="338" r:id="rId19"/>
    <p:sldId id="339" r:id="rId20"/>
    <p:sldId id="340" r:id="rId21"/>
    <p:sldId id="341" r:id="rId22"/>
    <p:sldId id="342" r:id="rId23"/>
    <p:sldId id="343" r:id="rId24"/>
    <p:sldId id="344" r:id="rId25"/>
    <p:sldId id="345" r:id="rId26"/>
    <p:sldId id="346" r:id="rId27"/>
    <p:sldId id="347" r:id="rId28"/>
    <p:sldId id="348" r:id="rId29"/>
    <p:sldId id="349" r:id="rId30"/>
    <p:sldId id="350" r:id="rId31"/>
    <p:sldId id="351" r:id="rId32"/>
    <p:sldId id="380" r:id="rId33"/>
    <p:sldId id="381" r:id="rId34"/>
    <p:sldId id="352" r:id="rId35"/>
    <p:sldId id="353" r:id="rId36"/>
    <p:sldId id="382" r:id="rId37"/>
    <p:sldId id="354" r:id="rId38"/>
    <p:sldId id="355" r:id="rId39"/>
    <p:sldId id="356" r:id="rId40"/>
    <p:sldId id="357" r:id="rId41"/>
    <p:sldId id="358" r:id="rId42"/>
    <p:sldId id="359" r:id="rId43"/>
    <p:sldId id="360" r:id="rId44"/>
    <p:sldId id="361" r:id="rId45"/>
    <p:sldId id="362" r:id="rId46"/>
    <p:sldId id="363" r:id="rId47"/>
    <p:sldId id="364" r:id="rId48"/>
    <p:sldId id="368" r:id="rId49"/>
    <p:sldId id="369" r:id="rId50"/>
    <p:sldId id="370" r:id="rId51"/>
    <p:sldId id="371" r:id="rId52"/>
    <p:sldId id="379" r:id="rId53"/>
    <p:sldId id="383" r:id="rId54"/>
  </p:sldIdLst>
  <p:sldSz cx="9144000" cy="6858000" type="screen4x3"/>
  <p:notesSz cx="6881813" cy="9296400"/>
  <p:defaultTextStyle>
    <a:defPPr>
      <a:defRPr lang="en-US"/>
    </a:defPPr>
    <a:lvl1pPr algn="l" rtl="0" fontAlgn="base">
      <a:spcBef>
        <a:spcPct val="0"/>
      </a:spcBef>
      <a:spcAft>
        <a:spcPct val="0"/>
      </a:spcAft>
      <a:defRPr sz="25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FFFF"/>
    <a:srgbClr val="3DC878"/>
    <a:srgbClr val="D9FFEF"/>
    <a:srgbClr val="3DF560"/>
    <a:srgbClr val="3DF52F"/>
    <a:srgbClr val="7AF870"/>
    <a:srgbClr val="D9F3EF"/>
    <a:srgbClr val="ADE5DC"/>
    <a:srgbClr val="94E692"/>
    <a:srgbClr val="B5EE96"/>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2" autoAdjust="0"/>
    <p:restoredTop sz="96117" autoAdjust="0"/>
  </p:normalViewPr>
  <p:slideViewPr>
    <p:cSldViewPr>
      <p:cViewPr>
        <p:scale>
          <a:sx n="70" d="100"/>
          <a:sy n="70" d="100"/>
        </p:scale>
        <p:origin x="-127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1998" y="-84"/>
      </p:cViewPr>
      <p:guideLst>
        <p:guide orient="horz" pos="2928"/>
        <p:guide pos="2168"/>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82913" cy="465138"/>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lvl1pPr defTabSz="923925">
              <a:defRPr sz="1200">
                <a:solidFill>
                  <a:schemeClr val="tx1"/>
                </a:solidFill>
                <a:latin typeface="Calibri" pitchFamily="34" charset="0"/>
              </a:defRPr>
            </a:lvl1pPr>
          </a:lstStyle>
          <a:p>
            <a:endParaRPr lang="en-US" dirty="0"/>
          </a:p>
        </p:txBody>
      </p:sp>
      <p:sp>
        <p:nvSpPr>
          <p:cNvPr id="3" name="Date Placeholder 2"/>
          <p:cNvSpPr>
            <a:spLocks noGrp="1"/>
          </p:cNvSpPr>
          <p:nvPr>
            <p:ph type="dt" sz="quarter" idx="1"/>
          </p:nvPr>
        </p:nvSpPr>
        <p:spPr bwMode="auto">
          <a:xfrm>
            <a:off x="3897313" y="0"/>
            <a:ext cx="2982912" cy="465138"/>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lvl1pPr algn="r" defTabSz="923925">
              <a:defRPr sz="1200">
                <a:solidFill>
                  <a:schemeClr val="tx1"/>
                </a:solidFill>
                <a:latin typeface="Calibri" pitchFamily="34" charset="0"/>
              </a:defRPr>
            </a:lvl1pPr>
          </a:lstStyle>
          <a:p>
            <a:fld id="{3BF7C7B5-275F-4D1F-9AB4-9255447DBC73}" type="datetimeFigureOut">
              <a:rPr lang="en-US"/>
              <a:pPr/>
              <a:t>29/06/2015</a:t>
            </a:fld>
            <a:endParaRPr lang="en-US" dirty="0"/>
          </a:p>
        </p:txBody>
      </p:sp>
      <p:sp>
        <p:nvSpPr>
          <p:cNvPr id="4" name="Footer Placeholder 3"/>
          <p:cNvSpPr>
            <a:spLocks noGrp="1"/>
          </p:cNvSpPr>
          <p:nvPr>
            <p:ph type="ftr" sz="quarter" idx="2"/>
          </p:nvPr>
        </p:nvSpPr>
        <p:spPr bwMode="auto">
          <a:xfrm>
            <a:off x="0" y="8829675"/>
            <a:ext cx="2982913" cy="465138"/>
          </a:xfrm>
          <a:prstGeom prst="rect">
            <a:avLst/>
          </a:prstGeom>
          <a:noFill/>
          <a:ln w="9525">
            <a:noFill/>
            <a:miter lim="800000"/>
            <a:headEnd/>
            <a:tailEnd/>
          </a:ln>
        </p:spPr>
        <p:txBody>
          <a:bodyPr vert="horz" wrap="square" lIns="92436" tIns="46219" rIns="92436" bIns="46219" numCol="1" anchor="b" anchorCtr="0" compatLnSpc="1">
            <a:prstTxWarp prst="textNoShape">
              <a:avLst/>
            </a:prstTxWarp>
          </a:bodyPr>
          <a:lstStyle>
            <a:lvl1pPr defTabSz="923925">
              <a:defRPr sz="1200">
                <a:solidFill>
                  <a:schemeClr val="tx1"/>
                </a:solidFill>
                <a:latin typeface="Calibri" pitchFamily="34" charset="0"/>
              </a:defRPr>
            </a:lvl1pPr>
          </a:lstStyle>
          <a:p>
            <a:endParaRPr lang="en-US" dirty="0"/>
          </a:p>
        </p:txBody>
      </p:sp>
      <p:sp>
        <p:nvSpPr>
          <p:cNvPr id="5" name="Slide Number Placeholder 4"/>
          <p:cNvSpPr>
            <a:spLocks noGrp="1"/>
          </p:cNvSpPr>
          <p:nvPr>
            <p:ph type="sldNum" sz="quarter" idx="3"/>
          </p:nvPr>
        </p:nvSpPr>
        <p:spPr bwMode="auto">
          <a:xfrm>
            <a:off x="3897313" y="8829675"/>
            <a:ext cx="2982912" cy="465138"/>
          </a:xfrm>
          <a:prstGeom prst="rect">
            <a:avLst/>
          </a:prstGeom>
          <a:noFill/>
          <a:ln w="9525">
            <a:noFill/>
            <a:miter lim="800000"/>
            <a:headEnd/>
            <a:tailEnd/>
          </a:ln>
        </p:spPr>
        <p:txBody>
          <a:bodyPr vert="horz" wrap="square" lIns="92436" tIns="46219" rIns="92436" bIns="46219" numCol="1" anchor="b" anchorCtr="0" compatLnSpc="1">
            <a:prstTxWarp prst="textNoShape">
              <a:avLst/>
            </a:prstTxWarp>
          </a:bodyPr>
          <a:lstStyle>
            <a:lvl1pPr algn="r" defTabSz="923925">
              <a:defRPr sz="1200">
                <a:solidFill>
                  <a:schemeClr val="tx1"/>
                </a:solidFill>
                <a:latin typeface="Calibri" pitchFamily="34" charset="0"/>
              </a:defRPr>
            </a:lvl1pPr>
          </a:lstStyle>
          <a:p>
            <a:fld id="{3DADE544-1278-4EDA-8870-0A169B9A6D6D}" type="slidenum">
              <a:rPr lang="en-US"/>
              <a:pPr/>
              <a:t>‹#›</a:t>
            </a:fld>
            <a:endParaRPr lang="en-US" dirty="0"/>
          </a:p>
        </p:txBody>
      </p:sp>
    </p:spTree>
    <p:extLst>
      <p:ext uri="{BB962C8B-B14F-4D97-AF65-F5344CB8AC3E}">
        <p14:creationId xmlns="" xmlns:p14="http://schemas.microsoft.com/office/powerpoint/2010/main" val="14778049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82913" cy="465138"/>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lvl1pPr defTabSz="923925">
              <a:defRPr sz="1200">
                <a:solidFill>
                  <a:schemeClr val="tx1"/>
                </a:solidFill>
                <a:latin typeface="Calibri" pitchFamily="34" charset="0"/>
              </a:defRPr>
            </a:lvl1pPr>
          </a:lstStyle>
          <a:p>
            <a:endParaRPr lang="en-US" dirty="0"/>
          </a:p>
        </p:txBody>
      </p:sp>
      <p:sp>
        <p:nvSpPr>
          <p:cNvPr id="3" name="Date Placeholder 2"/>
          <p:cNvSpPr>
            <a:spLocks noGrp="1"/>
          </p:cNvSpPr>
          <p:nvPr>
            <p:ph type="dt" idx="1"/>
          </p:nvPr>
        </p:nvSpPr>
        <p:spPr bwMode="auto">
          <a:xfrm>
            <a:off x="3897313" y="0"/>
            <a:ext cx="2982912" cy="465138"/>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lvl1pPr algn="r" defTabSz="923925">
              <a:defRPr sz="1200">
                <a:solidFill>
                  <a:schemeClr val="tx1"/>
                </a:solidFill>
                <a:latin typeface="Calibri" pitchFamily="34" charset="0"/>
              </a:defRPr>
            </a:lvl1pPr>
          </a:lstStyle>
          <a:p>
            <a:fld id="{9B46F231-FB2B-4655-A644-E2477325E686}" type="datetimeFigureOut">
              <a:rPr lang="en-US"/>
              <a:pPr/>
              <a:t>29/06/2015</a:t>
            </a:fld>
            <a:endParaRPr lang="en-US" dirty="0"/>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bwMode="auto">
          <a:xfrm>
            <a:off x="687388" y="4416425"/>
            <a:ext cx="5507037" cy="4183063"/>
          </a:xfrm>
          <a:prstGeom prst="rect">
            <a:avLst/>
          </a:prstGeom>
          <a:noFill/>
          <a:ln w="9525">
            <a:noFill/>
            <a:miter lim="800000"/>
            <a:headEnd/>
            <a:tailEnd/>
          </a:ln>
        </p:spPr>
        <p:txBody>
          <a:bodyPr vert="horz" wrap="square" lIns="92436" tIns="46219" rIns="92436" bIns="4621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bwMode="auto">
          <a:xfrm>
            <a:off x="0" y="8829675"/>
            <a:ext cx="2982913" cy="465138"/>
          </a:xfrm>
          <a:prstGeom prst="rect">
            <a:avLst/>
          </a:prstGeom>
          <a:noFill/>
          <a:ln w="9525">
            <a:noFill/>
            <a:miter lim="800000"/>
            <a:headEnd/>
            <a:tailEnd/>
          </a:ln>
        </p:spPr>
        <p:txBody>
          <a:bodyPr vert="horz" wrap="square" lIns="92436" tIns="46219" rIns="92436" bIns="46219" numCol="1" anchor="b" anchorCtr="0" compatLnSpc="1">
            <a:prstTxWarp prst="textNoShape">
              <a:avLst/>
            </a:prstTxWarp>
          </a:bodyPr>
          <a:lstStyle>
            <a:lvl1pPr defTabSz="923925">
              <a:defRPr sz="1200">
                <a:solidFill>
                  <a:schemeClr val="tx1"/>
                </a:solidFill>
                <a:latin typeface="Calibri" pitchFamily="34" charset="0"/>
              </a:defRPr>
            </a:lvl1pPr>
          </a:lstStyle>
          <a:p>
            <a:endParaRPr lang="en-US" dirty="0"/>
          </a:p>
        </p:txBody>
      </p:sp>
      <p:sp>
        <p:nvSpPr>
          <p:cNvPr id="7" name="Slide Number Placeholder 6"/>
          <p:cNvSpPr>
            <a:spLocks noGrp="1"/>
          </p:cNvSpPr>
          <p:nvPr>
            <p:ph type="sldNum" sz="quarter" idx="5"/>
          </p:nvPr>
        </p:nvSpPr>
        <p:spPr bwMode="auto">
          <a:xfrm>
            <a:off x="3897313" y="8829675"/>
            <a:ext cx="2982912" cy="465138"/>
          </a:xfrm>
          <a:prstGeom prst="rect">
            <a:avLst/>
          </a:prstGeom>
          <a:noFill/>
          <a:ln w="9525">
            <a:noFill/>
            <a:miter lim="800000"/>
            <a:headEnd/>
            <a:tailEnd/>
          </a:ln>
        </p:spPr>
        <p:txBody>
          <a:bodyPr vert="horz" wrap="square" lIns="92436" tIns="46219" rIns="92436" bIns="46219" numCol="1" anchor="b" anchorCtr="0" compatLnSpc="1">
            <a:prstTxWarp prst="textNoShape">
              <a:avLst/>
            </a:prstTxWarp>
          </a:bodyPr>
          <a:lstStyle>
            <a:lvl1pPr algn="r" defTabSz="923925">
              <a:defRPr sz="1200">
                <a:solidFill>
                  <a:schemeClr val="tx1"/>
                </a:solidFill>
                <a:latin typeface="Calibri" pitchFamily="34" charset="0"/>
              </a:defRPr>
            </a:lvl1pPr>
          </a:lstStyle>
          <a:p>
            <a:fld id="{6FB4F6EA-423E-42DF-9292-215E7D886C4E}" type="slidenum">
              <a:rPr lang="en-US"/>
              <a:pPr/>
              <a:t>‹#›</a:t>
            </a:fld>
            <a:endParaRPr lang="en-US" dirty="0"/>
          </a:p>
        </p:txBody>
      </p:sp>
    </p:spTree>
    <p:extLst>
      <p:ext uri="{BB962C8B-B14F-4D97-AF65-F5344CB8AC3E}">
        <p14:creationId xmlns="" xmlns:p14="http://schemas.microsoft.com/office/powerpoint/2010/main" val="27870520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8" Type="http://schemas.openxmlformats.org/officeDocument/2006/relationships/hyperlink" Target="http://en.wikipedia.org/wiki/Class_(computer_science)" TargetMode="External"/><Relationship Id="rId13" Type="http://schemas.openxmlformats.org/officeDocument/2006/relationships/hyperlink" Target="http://en.wikipedia.org/wiki/Common_Language_Runtime" TargetMode="External"/><Relationship Id="rId3" Type="http://schemas.openxmlformats.org/officeDocument/2006/relationships/hyperlink" Target="http://en.wikipedia.org/wiki/Microsoft_.NET" TargetMode="External"/><Relationship Id="rId7" Type="http://schemas.openxmlformats.org/officeDocument/2006/relationships/hyperlink" Target="http://en.wikipedia.org/wiki/.NET_assemblies" TargetMode="External"/><Relationship Id="rId12" Type="http://schemas.openxmlformats.org/officeDocument/2006/relationships/hyperlink" Target="http://en.wikipedia.org/wiki/Parameter_(computer_science)" TargetMode="External"/><Relationship Id="rId2" Type="http://schemas.openxmlformats.org/officeDocument/2006/relationships/slide" Target="../slides/slide34.xml"/><Relationship Id="rId1" Type="http://schemas.openxmlformats.org/officeDocument/2006/relationships/notesMaster" Target="../notesMasters/notesMaster1.xml"/><Relationship Id="rId6" Type="http://schemas.openxmlformats.org/officeDocument/2006/relationships/hyperlink" Target="http://en.wikipedia.org/wiki/Metadata" TargetMode="External"/><Relationship Id="rId11" Type="http://schemas.openxmlformats.org/officeDocument/2006/relationships/hyperlink" Target="http://en.wikipedia.org/wiki/Method_(computer_science)" TargetMode="External"/><Relationship Id="rId5" Type="http://schemas.openxmlformats.org/officeDocument/2006/relationships/hyperlink" Target="http://en.wikipedia.org/wiki/Compiler" TargetMode="External"/><Relationship Id="rId10" Type="http://schemas.openxmlformats.org/officeDocument/2006/relationships/hyperlink" Target="http://en.wikipedia.org/wiki/Return_type" TargetMode="External"/><Relationship Id="rId4" Type="http://schemas.openxmlformats.org/officeDocument/2006/relationships/hyperlink" Target="http://en.wikipedia.org/wiki/Common_Intermediate_Language" TargetMode="External"/><Relationship Id="rId9" Type="http://schemas.openxmlformats.org/officeDocument/2006/relationships/hyperlink" Target="http://en.wikipedia.org/wiki/Members"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8" Type="http://schemas.openxmlformats.org/officeDocument/2006/relationships/hyperlink" Target="http://en.wikipedia.org/wiki/Class_(computer_science)" TargetMode="External"/><Relationship Id="rId13" Type="http://schemas.openxmlformats.org/officeDocument/2006/relationships/hyperlink" Target="http://en.wikipedia.org/wiki/Common_Language_Runtime" TargetMode="External"/><Relationship Id="rId3" Type="http://schemas.openxmlformats.org/officeDocument/2006/relationships/hyperlink" Target="http://en.wikipedia.org/wiki/Microsoft_.NET" TargetMode="External"/><Relationship Id="rId7" Type="http://schemas.openxmlformats.org/officeDocument/2006/relationships/hyperlink" Target="http://en.wikipedia.org/wiki/.NET_assemblies" TargetMode="External"/><Relationship Id="rId12" Type="http://schemas.openxmlformats.org/officeDocument/2006/relationships/hyperlink" Target="http://en.wikipedia.org/wiki/Parameter_(computer_science)" TargetMode="External"/><Relationship Id="rId2" Type="http://schemas.openxmlformats.org/officeDocument/2006/relationships/slide" Target="../slides/slide36.xml"/><Relationship Id="rId1" Type="http://schemas.openxmlformats.org/officeDocument/2006/relationships/notesMaster" Target="../notesMasters/notesMaster1.xml"/><Relationship Id="rId6" Type="http://schemas.openxmlformats.org/officeDocument/2006/relationships/hyperlink" Target="http://en.wikipedia.org/wiki/Metadata" TargetMode="External"/><Relationship Id="rId11" Type="http://schemas.openxmlformats.org/officeDocument/2006/relationships/hyperlink" Target="http://en.wikipedia.org/wiki/Method_(computer_science)" TargetMode="External"/><Relationship Id="rId5" Type="http://schemas.openxmlformats.org/officeDocument/2006/relationships/hyperlink" Target="http://en.wikipedia.org/wiki/Compiler" TargetMode="External"/><Relationship Id="rId10" Type="http://schemas.openxmlformats.org/officeDocument/2006/relationships/hyperlink" Target="http://en.wikipedia.org/wiki/Return_type" TargetMode="External"/><Relationship Id="rId4" Type="http://schemas.openxmlformats.org/officeDocument/2006/relationships/hyperlink" Target="http://en.wikipedia.org/wiki/Common_Intermediate_Language" TargetMode="External"/><Relationship Id="rId9" Type="http://schemas.openxmlformats.org/officeDocument/2006/relationships/hyperlink" Target="http://en.wikipedia.org/wiki/Members"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en.wikipedia.org/wiki/Specification" TargetMode="External"/><Relationship Id="rId2" Type="http://schemas.openxmlformats.org/officeDocument/2006/relationships/slide" Target="../slides/slide39.xml"/><Relationship Id="rId1" Type="http://schemas.openxmlformats.org/officeDocument/2006/relationships/notesMaster" Target="../notesMasters/notesMaster1.xml"/><Relationship Id="rId6" Type="http://schemas.openxmlformats.org/officeDocument/2006/relationships/hyperlink" Target="http://en.wikipedia.org/wiki/Common_Language_Runtime" TargetMode="External"/><Relationship Id="rId5" Type="http://schemas.openxmlformats.org/officeDocument/2006/relationships/hyperlink" Target="http://en.wikipedia.org/wiki/.NET_Framework" TargetMode="External"/><Relationship Id="rId4" Type="http://schemas.openxmlformats.org/officeDocument/2006/relationships/hyperlink" Target="http://en.wikipedia.org/wiki/Microsoft" TargetMode="External"/></Relationships>
</file>

<file path=ppt/notesSlides/_rels/notesSlide37.xml.rels><?xml version="1.0" encoding="UTF-8" standalone="yes"?>
<Relationships xmlns="http://schemas.openxmlformats.org/package/2006/relationships"><Relationship Id="rId8" Type="http://schemas.openxmlformats.org/officeDocument/2006/relationships/hyperlink" Target="http://en.wikipedia.org/wiki/Machine_language" TargetMode="External"/><Relationship Id="rId3" Type="http://schemas.openxmlformats.org/officeDocument/2006/relationships/hyperlink" Target="http://en.wikipedia.org/wiki/Common_Type_System" TargetMode="External"/><Relationship Id="rId7" Type="http://schemas.openxmlformats.org/officeDocument/2006/relationships/hyperlink" Target="http://en.wikipedia.org/wiki/Intermediate_language" TargetMode="External"/><Relationship Id="rId2" Type="http://schemas.openxmlformats.org/officeDocument/2006/relationships/slide" Target="../slides/slide40.xml"/><Relationship Id="rId1" Type="http://schemas.openxmlformats.org/officeDocument/2006/relationships/notesMaster" Target="../notesMasters/notesMaster1.xml"/><Relationship Id="rId6" Type="http://schemas.openxmlformats.org/officeDocument/2006/relationships/hyperlink" Target="http://en.wikipedia.org/wiki/Common_Intermediate_Language" TargetMode="External"/><Relationship Id="rId5" Type="http://schemas.openxmlformats.org/officeDocument/2006/relationships/hyperlink" Target="http://en.wikipedia.org/wiki/Programming_language" TargetMode="External"/><Relationship Id="rId4" Type="http://schemas.openxmlformats.org/officeDocument/2006/relationships/hyperlink" Target="http://en.wikipedia.org/wiki/Datatype" TargetMode="Externa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C648B391-0299-46AC-B0BF-9AD5BC6ACC7E}" type="slidenum">
              <a:rPr lang="en-US"/>
              <a:pPr/>
              <a:t>2</a:t>
            </a:fld>
            <a:r>
              <a:rPr lang="en-US" dirty="0"/>
              <a:t>##</a:t>
            </a:r>
          </a:p>
        </p:txBody>
      </p:sp>
      <p:sp>
        <p:nvSpPr>
          <p:cNvPr id="1420290" name="Rectangle 2"/>
          <p:cNvSpPr>
            <a:spLocks noGrp="1" noRot="1" noChangeAspect="1" noChangeArrowheads="1" noTextEdit="1"/>
          </p:cNvSpPr>
          <p:nvPr>
            <p:ph type="sldImg"/>
          </p:nvPr>
        </p:nvSpPr>
        <p:spPr>
          <a:xfrm>
            <a:off x="1119188" y="698500"/>
            <a:ext cx="4645025" cy="3482975"/>
          </a:xfrm>
          <a:ln/>
        </p:spPr>
      </p:sp>
      <p:sp>
        <p:nvSpPr>
          <p:cNvPr id="1420291"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301C07D6-12CA-4AAA-8BC4-CE7BCF43D9A2}" type="slidenum">
              <a:rPr lang="en-US"/>
              <a:pPr/>
              <a:t>3</a:t>
            </a:fld>
            <a:r>
              <a:rPr lang="en-US" dirty="0"/>
              <a:t>##</a:t>
            </a:r>
          </a:p>
        </p:txBody>
      </p:sp>
      <p:sp>
        <p:nvSpPr>
          <p:cNvPr id="1422338" name="Rectangle 2"/>
          <p:cNvSpPr>
            <a:spLocks noGrp="1" noRot="1" noChangeAspect="1" noChangeArrowheads="1" noTextEdit="1"/>
          </p:cNvSpPr>
          <p:nvPr>
            <p:ph type="sldImg"/>
          </p:nvPr>
        </p:nvSpPr>
        <p:spPr>
          <a:ln/>
        </p:spPr>
      </p:sp>
      <p:sp>
        <p:nvSpPr>
          <p:cNvPr id="1422339" name="Rectangle 3"/>
          <p:cNvSpPr>
            <a:spLocks noGrp="1" noChangeArrowheads="1"/>
          </p:cNvSpPr>
          <p:nvPr>
            <p:ph type="body" idx="1"/>
          </p:nvPr>
        </p:nvSpPr>
        <p:spPr/>
        <p:txBody>
          <a:bodyPr/>
          <a:lstStyle/>
          <a:p>
            <a:endParaRPr lang="bg-BG"/>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292243A1-A4DA-4F6C-BF8E-A8717F3ABA55}" type="slidenum">
              <a:rPr lang="en-US"/>
              <a:pPr/>
              <a:t>4</a:t>
            </a:fld>
            <a:r>
              <a:rPr lang="en-US" dirty="0"/>
              <a:t>##</a:t>
            </a:r>
          </a:p>
        </p:txBody>
      </p:sp>
      <p:sp>
        <p:nvSpPr>
          <p:cNvPr id="1567746" name="Rectangle 2"/>
          <p:cNvSpPr>
            <a:spLocks noGrp="1" noRot="1" noChangeAspect="1" noChangeArrowheads="1" noTextEdit="1"/>
          </p:cNvSpPr>
          <p:nvPr>
            <p:ph type="sldImg"/>
          </p:nvPr>
        </p:nvSpPr>
        <p:spPr>
          <a:ln/>
        </p:spPr>
      </p:sp>
      <p:sp>
        <p:nvSpPr>
          <p:cNvPr id="1567747" name="Rectangle 3"/>
          <p:cNvSpPr>
            <a:spLocks noGrp="1" noChangeArrowheads="1"/>
          </p:cNvSpPr>
          <p:nvPr>
            <p:ph type="body" idx="1"/>
          </p:nvPr>
        </p:nvSpPr>
        <p:spPr/>
        <p:txBody>
          <a:bodyPr/>
          <a:lstStyle/>
          <a:p>
            <a:endParaRPr lang="bg-BG"/>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F968917A-4A19-40BE-82C1-F06115873D47}" type="slidenum">
              <a:rPr lang="en-US"/>
              <a:pPr/>
              <a:t>5</a:t>
            </a:fld>
            <a:r>
              <a:rPr lang="en-US" dirty="0"/>
              <a:t>##</a:t>
            </a:r>
          </a:p>
        </p:txBody>
      </p:sp>
      <p:sp>
        <p:nvSpPr>
          <p:cNvPr id="1426434" name="Rectangle 2"/>
          <p:cNvSpPr>
            <a:spLocks noGrp="1" noRot="1" noChangeAspect="1" noChangeArrowheads="1" noTextEdit="1"/>
          </p:cNvSpPr>
          <p:nvPr>
            <p:ph type="sldImg"/>
          </p:nvPr>
        </p:nvSpPr>
        <p:spPr>
          <a:xfrm>
            <a:off x="1119188" y="698500"/>
            <a:ext cx="4645025" cy="3482975"/>
          </a:xfrm>
          <a:ln/>
        </p:spPr>
      </p:sp>
      <p:sp>
        <p:nvSpPr>
          <p:cNvPr id="1426435"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8314C5CC-F6F1-4910-BE23-2D32950E0D60}" type="slidenum">
              <a:rPr lang="en-US"/>
              <a:pPr/>
              <a:t>6</a:t>
            </a:fld>
            <a:r>
              <a:rPr lang="en-US" dirty="0"/>
              <a:t>##</a:t>
            </a:r>
          </a:p>
        </p:txBody>
      </p:sp>
      <p:sp>
        <p:nvSpPr>
          <p:cNvPr id="1428482" name="Rectangle 2"/>
          <p:cNvSpPr>
            <a:spLocks noGrp="1" noRot="1" noChangeAspect="1" noChangeArrowheads="1" noTextEdit="1"/>
          </p:cNvSpPr>
          <p:nvPr>
            <p:ph type="sldImg"/>
          </p:nvPr>
        </p:nvSpPr>
        <p:spPr>
          <a:xfrm>
            <a:off x="1119188" y="698500"/>
            <a:ext cx="4645025" cy="3482975"/>
          </a:xfrm>
          <a:ln/>
        </p:spPr>
      </p:sp>
      <p:sp>
        <p:nvSpPr>
          <p:cNvPr id="1428483"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43263145-8125-42C7-8A92-E6A922351FFF}" type="slidenum">
              <a:rPr lang="en-US"/>
              <a:pPr/>
              <a:t>7</a:t>
            </a:fld>
            <a:r>
              <a:rPr lang="en-US" dirty="0"/>
              <a:t>##</a:t>
            </a:r>
          </a:p>
        </p:txBody>
      </p:sp>
      <p:sp>
        <p:nvSpPr>
          <p:cNvPr id="1430530" name="Rectangle 2"/>
          <p:cNvSpPr>
            <a:spLocks noGrp="1" noRot="1" noChangeAspect="1" noChangeArrowheads="1" noTextEdit="1"/>
          </p:cNvSpPr>
          <p:nvPr>
            <p:ph type="sldImg"/>
          </p:nvPr>
        </p:nvSpPr>
        <p:spPr>
          <a:xfrm>
            <a:off x="1119188" y="698500"/>
            <a:ext cx="4645025" cy="3482975"/>
          </a:xfrm>
          <a:ln/>
        </p:spPr>
      </p:sp>
      <p:sp>
        <p:nvSpPr>
          <p:cNvPr id="1430531"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23B738E6-6955-4B0E-B619-6BEE83432F56}" type="slidenum">
              <a:rPr lang="en-US"/>
              <a:pPr/>
              <a:t>8</a:t>
            </a:fld>
            <a:r>
              <a:rPr lang="en-US" dirty="0"/>
              <a:t>##</a:t>
            </a:r>
          </a:p>
        </p:txBody>
      </p:sp>
      <p:sp>
        <p:nvSpPr>
          <p:cNvPr id="1432578" name="Rectangle 2"/>
          <p:cNvSpPr>
            <a:spLocks noGrp="1" noRot="1" noChangeAspect="1" noChangeArrowheads="1" noTextEdit="1"/>
          </p:cNvSpPr>
          <p:nvPr>
            <p:ph type="sldImg"/>
          </p:nvPr>
        </p:nvSpPr>
        <p:spPr>
          <a:xfrm>
            <a:off x="1119188" y="698500"/>
            <a:ext cx="4645025" cy="3482975"/>
          </a:xfrm>
          <a:ln/>
        </p:spPr>
      </p:sp>
      <p:sp>
        <p:nvSpPr>
          <p:cNvPr id="1432579"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70433AE2-C72B-4428-9CE3-FF1316D58CD8}" type="slidenum">
              <a:rPr lang="en-US"/>
              <a:pPr/>
              <a:t>9</a:t>
            </a:fld>
            <a:r>
              <a:rPr lang="en-US" dirty="0"/>
              <a:t>##</a:t>
            </a:r>
          </a:p>
        </p:txBody>
      </p:sp>
      <p:sp>
        <p:nvSpPr>
          <p:cNvPr id="1434626" name="Rectangle 2"/>
          <p:cNvSpPr>
            <a:spLocks noGrp="1" noRot="1" noChangeAspect="1" noChangeArrowheads="1" noTextEdit="1"/>
          </p:cNvSpPr>
          <p:nvPr>
            <p:ph type="sldImg"/>
          </p:nvPr>
        </p:nvSpPr>
        <p:spPr>
          <a:xfrm>
            <a:off x="1119188" y="698500"/>
            <a:ext cx="4645025" cy="3482975"/>
          </a:xfrm>
          <a:ln/>
        </p:spPr>
      </p:sp>
      <p:sp>
        <p:nvSpPr>
          <p:cNvPr id="1434627"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9863588C-2F5F-474E-A774-D8357E653594}" type="slidenum">
              <a:rPr lang="en-US"/>
              <a:pPr/>
              <a:t>10</a:t>
            </a:fld>
            <a:r>
              <a:rPr lang="en-US" dirty="0"/>
              <a:t>##</a:t>
            </a:r>
          </a:p>
        </p:txBody>
      </p:sp>
      <p:sp>
        <p:nvSpPr>
          <p:cNvPr id="1436674" name="Rectangle 2"/>
          <p:cNvSpPr>
            <a:spLocks noGrp="1" noRot="1" noChangeAspect="1" noChangeArrowheads="1" noTextEdit="1"/>
          </p:cNvSpPr>
          <p:nvPr>
            <p:ph type="sldImg"/>
          </p:nvPr>
        </p:nvSpPr>
        <p:spPr>
          <a:xfrm>
            <a:off x="1119188" y="698500"/>
            <a:ext cx="4645025" cy="3482975"/>
          </a:xfrm>
          <a:ln/>
        </p:spPr>
      </p:sp>
      <p:sp>
        <p:nvSpPr>
          <p:cNvPr id="1436675"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33DE3298-C6E8-4220-ACA9-49B2B742E70E}" type="slidenum">
              <a:rPr lang="en-US"/>
              <a:pPr/>
              <a:t>11</a:t>
            </a:fld>
            <a:r>
              <a:rPr lang="en-US" dirty="0"/>
              <a:t>##</a:t>
            </a:r>
          </a:p>
        </p:txBody>
      </p:sp>
      <p:sp>
        <p:nvSpPr>
          <p:cNvPr id="1438722" name="Rectangle 2"/>
          <p:cNvSpPr>
            <a:spLocks noGrp="1" noRot="1" noChangeAspect="1" noChangeArrowheads="1" noTextEdit="1"/>
          </p:cNvSpPr>
          <p:nvPr>
            <p:ph type="sldImg"/>
          </p:nvPr>
        </p:nvSpPr>
        <p:spPr>
          <a:xfrm>
            <a:off x="1119188" y="698500"/>
            <a:ext cx="4645025" cy="3482975"/>
          </a:xfrm>
          <a:ln/>
        </p:spPr>
      </p:sp>
      <p:sp>
        <p:nvSpPr>
          <p:cNvPr id="1438723"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E736C113-2292-40FB-AB47-3FC795D20109}" type="slidenum">
              <a:rPr lang="en-US"/>
              <a:pPr/>
              <a:t>12</a:t>
            </a:fld>
            <a:r>
              <a:rPr lang="en-US" dirty="0"/>
              <a:t>##</a:t>
            </a:r>
          </a:p>
        </p:txBody>
      </p:sp>
      <p:sp>
        <p:nvSpPr>
          <p:cNvPr id="1440770" name="Rectangle 2"/>
          <p:cNvSpPr>
            <a:spLocks noGrp="1" noRot="1" noChangeAspect="1" noChangeArrowheads="1" noTextEdit="1"/>
          </p:cNvSpPr>
          <p:nvPr>
            <p:ph type="sldImg"/>
          </p:nvPr>
        </p:nvSpPr>
        <p:spPr>
          <a:xfrm>
            <a:off x="1119188" y="698500"/>
            <a:ext cx="4645025" cy="3482975"/>
          </a:xfrm>
          <a:ln/>
        </p:spPr>
      </p:sp>
      <p:sp>
        <p:nvSpPr>
          <p:cNvPr id="1440771"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E736C113-2292-40FB-AB47-3FC795D20109}" type="slidenum">
              <a:rPr lang="en-US"/>
              <a:pPr/>
              <a:t>13</a:t>
            </a:fld>
            <a:r>
              <a:rPr lang="en-US" dirty="0"/>
              <a:t>##</a:t>
            </a:r>
          </a:p>
        </p:txBody>
      </p:sp>
      <p:sp>
        <p:nvSpPr>
          <p:cNvPr id="1440770" name="Rectangle 2"/>
          <p:cNvSpPr>
            <a:spLocks noGrp="1" noRot="1" noChangeAspect="1" noChangeArrowheads="1" noTextEdit="1"/>
          </p:cNvSpPr>
          <p:nvPr>
            <p:ph type="sldImg"/>
          </p:nvPr>
        </p:nvSpPr>
        <p:spPr>
          <a:xfrm>
            <a:off x="1119188" y="698500"/>
            <a:ext cx="4645025" cy="3482975"/>
          </a:xfrm>
          <a:ln/>
        </p:spPr>
      </p:sp>
      <p:sp>
        <p:nvSpPr>
          <p:cNvPr id="1440771"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E736C113-2292-40FB-AB47-3FC795D20109}" type="slidenum">
              <a:rPr lang="en-US"/>
              <a:pPr/>
              <a:t>14</a:t>
            </a:fld>
            <a:r>
              <a:rPr lang="en-US" dirty="0"/>
              <a:t>##</a:t>
            </a:r>
          </a:p>
        </p:txBody>
      </p:sp>
      <p:sp>
        <p:nvSpPr>
          <p:cNvPr id="1440770" name="Rectangle 2"/>
          <p:cNvSpPr>
            <a:spLocks noGrp="1" noRot="1" noChangeAspect="1" noChangeArrowheads="1" noTextEdit="1"/>
          </p:cNvSpPr>
          <p:nvPr>
            <p:ph type="sldImg"/>
          </p:nvPr>
        </p:nvSpPr>
        <p:spPr>
          <a:xfrm>
            <a:off x="1119188" y="698500"/>
            <a:ext cx="4645025" cy="3482975"/>
          </a:xfrm>
          <a:ln/>
        </p:spPr>
      </p:sp>
      <p:sp>
        <p:nvSpPr>
          <p:cNvPr id="1440771"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14E04BC2-DA80-49BD-8BD8-B9D03C4F7477}" type="slidenum">
              <a:rPr lang="en-US"/>
              <a:pPr/>
              <a:t>15</a:t>
            </a:fld>
            <a:r>
              <a:rPr lang="en-US" dirty="0"/>
              <a:t>##</a:t>
            </a:r>
          </a:p>
        </p:txBody>
      </p:sp>
      <p:sp>
        <p:nvSpPr>
          <p:cNvPr id="1565698" name="Rectangle 2"/>
          <p:cNvSpPr>
            <a:spLocks noGrp="1" noRot="1" noChangeAspect="1" noChangeArrowheads="1" noTextEdit="1"/>
          </p:cNvSpPr>
          <p:nvPr>
            <p:ph type="sldImg"/>
          </p:nvPr>
        </p:nvSpPr>
        <p:spPr>
          <a:ln/>
        </p:spPr>
      </p:sp>
      <p:sp>
        <p:nvSpPr>
          <p:cNvPr id="1565699" name="Rectangle 3"/>
          <p:cNvSpPr>
            <a:spLocks noGrp="1" noChangeArrowheads="1"/>
          </p:cNvSpPr>
          <p:nvPr>
            <p:ph type="body" idx="1"/>
          </p:nvPr>
        </p:nvSpPr>
        <p:spPr/>
        <p:txBody>
          <a:bodyPr/>
          <a:lstStyle/>
          <a:p>
            <a:endParaRPr lang="bg-BG"/>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CC3C1A65-DBD8-4638-9675-5F95EA505977}" type="slidenum">
              <a:rPr lang="en-US"/>
              <a:pPr/>
              <a:t>16</a:t>
            </a:fld>
            <a:r>
              <a:rPr lang="en-US" dirty="0"/>
              <a:t>##</a:t>
            </a:r>
          </a:p>
        </p:txBody>
      </p:sp>
      <p:sp>
        <p:nvSpPr>
          <p:cNvPr id="1444866" name="Rectangle 2"/>
          <p:cNvSpPr>
            <a:spLocks noGrp="1" noRot="1" noChangeAspect="1" noChangeArrowheads="1" noTextEdit="1"/>
          </p:cNvSpPr>
          <p:nvPr>
            <p:ph type="sldImg"/>
          </p:nvPr>
        </p:nvSpPr>
        <p:spPr>
          <a:xfrm>
            <a:off x="1119188" y="698500"/>
            <a:ext cx="4645025" cy="3482975"/>
          </a:xfrm>
          <a:ln/>
        </p:spPr>
      </p:sp>
      <p:sp>
        <p:nvSpPr>
          <p:cNvPr id="1444867"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EEA0020C-C937-4DC4-B050-45281D38C6BC}" type="slidenum">
              <a:rPr lang="en-US"/>
              <a:pPr/>
              <a:t>17</a:t>
            </a:fld>
            <a:r>
              <a:rPr lang="en-US" dirty="0"/>
              <a:t>##</a:t>
            </a:r>
          </a:p>
        </p:txBody>
      </p:sp>
      <p:sp>
        <p:nvSpPr>
          <p:cNvPr id="1446914" name="Rectangle 2"/>
          <p:cNvSpPr>
            <a:spLocks noGrp="1" noRot="1" noChangeAspect="1" noChangeArrowheads="1" noTextEdit="1"/>
          </p:cNvSpPr>
          <p:nvPr>
            <p:ph type="sldImg"/>
          </p:nvPr>
        </p:nvSpPr>
        <p:spPr>
          <a:xfrm>
            <a:off x="1119188" y="698500"/>
            <a:ext cx="4645025" cy="3482975"/>
          </a:xfrm>
          <a:ln/>
        </p:spPr>
      </p:sp>
      <p:sp>
        <p:nvSpPr>
          <p:cNvPr id="1446915"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B711A118-C946-4888-829F-C9CBE9875643}" type="slidenum">
              <a:rPr lang="en-US"/>
              <a:pPr/>
              <a:t>19</a:t>
            </a:fld>
            <a:r>
              <a:rPr lang="en-US" dirty="0"/>
              <a:t>##</a:t>
            </a:r>
          </a:p>
        </p:txBody>
      </p:sp>
      <p:sp>
        <p:nvSpPr>
          <p:cNvPr id="1449986" name="Rectangle 2"/>
          <p:cNvSpPr>
            <a:spLocks noGrp="1" noRot="1" noChangeAspect="1" noChangeArrowheads="1" noTextEdit="1"/>
          </p:cNvSpPr>
          <p:nvPr>
            <p:ph type="sldImg"/>
          </p:nvPr>
        </p:nvSpPr>
        <p:spPr>
          <a:xfrm>
            <a:off x="1119188" y="698500"/>
            <a:ext cx="4645025" cy="3482975"/>
          </a:xfrm>
          <a:ln/>
        </p:spPr>
      </p:sp>
      <p:sp>
        <p:nvSpPr>
          <p:cNvPr id="1449987" name="Rectangle 3"/>
          <p:cNvSpPr>
            <a:spLocks noGrp="1" noChangeArrowheads="1"/>
          </p:cNvSpPr>
          <p:nvPr>
            <p:ph type="body" idx="1"/>
          </p:nvPr>
        </p:nvSpPr>
        <p:spPr>
          <a:xfrm>
            <a:off x="917165" y="4413880"/>
            <a:ext cx="5047484" cy="4184605"/>
          </a:xfrm>
        </p:spPr>
        <p:txBody>
          <a:bodyPr/>
          <a:lstStyle/>
          <a:p>
            <a:endParaRPr lang="bg-BG"/>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FE50E9CB-9AC2-4338-A842-2012BF7C3E9E}" type="slidenum">
              <a:rPr lang="en-US"/>
              <a:pPr/>
              <a:t>20</a:t>
            </a:fld>
            <a:r>
              <a:rPr lang="en-US" dirty="0"/>
              <a:t>##</a:t>
            </a:r>
          </a:p>
        </p:txBody>
      </p:sp>
      <p:sp>
        <p:nvSpPr>
          <p:cNvPr id="1569794" name="Rectangle 2"/>
          <p:cNvSpPr>
            <a:spLocks noGrp="1" noRot="1" noChangeAspect="1" noChangeArrowheads="1" noTextEdit="1"/>
          </p:cNvSpPr>
          <p:nvPr>
            <p:ph type="sldImg"/>
          </p:nvPr>
        </p:nvSpPr>
        <p:spPr>
          <a:ln/>
        </p:spPr>
      </p:sp>
      <p:sp>
        <p:nvSpPr>
          <p:cNvPr id="1569795" name="Rectangle 3"/>
          <p:cNvSpPr>
            <a:spLocks noGrp="1" noChangeArrowheads="1"/>
          </p:cNvSpPr>
          <p:nvPr>
            <p:ph type="body" idx="1"/>
          </p:nvPr>
        </p:nvSpPr>
        <p:spPr/>
        <p:txBody>
          <a:bodyPr/>
          <a:lstStyle/>
          <a:p>
            <a:endParaRPr lang="bg-BG"/>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4B257424-5BA1-4B9B-A7D7-45E56534FBA4}" type="slidenum">
              <a:rPr lang="en-US"/>
              <a:pPr/>
              <a:t>21</a:t>
            </a:fld>
            <a:r>
              <a:rPr lang="en-US" dirty="0"/>
              <a:t>##</a:t>
            </a:r>
          </a:p>
        </p:txBody>
      </p:sp>
      <p:sp>
        <p:nvSpPr>
          <p:cNvPr id="1452034" name="Rectangle 2"/>
          <p:cNvSpPr>
            <a:spLocks noGrp="1" noRot="1" noChangeAspect="1" noChangeArrowheads="1" noTextEdit="1"/>
          </p:cNvSpPr>
          <p:nvPr>
            <p:ph type="sldImg"/>
          </p:nvPr>
        </p:nvSpPr>
        <p:spPr>
          <a:ln/>
        </p:spPr>
      </p:sp>
      <p:sp>
        <p:nvSpPr>
          <p:cNvPr id="1452035"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3768EA01-F509-4CB7-A07B-9A2CEE6A2FDB}" type="slidenum">
              <a:rPr lang="en-US"/>
              <a:pPr/>
              <a:t>22</a:t>
            </a:fld>
            <a:r>
              <a:rPr lang="en-US" dirty="0"/>
              <a:t>##</a:t>
            </a:r>
          </a:p>
        </p:txBody>
      </p:sp>
      <p:sp>
        <p:nvSpPr>
          <p:cNvPr id="1454082" name="Rectangle 2"/>
          <p:cNvSpPr>
            <a:spLocks noGrp="1" noRot="1" noChangeAspect="1" noChangeArrowheads="1" noTextEdit="1"/>
          </p:cNvSpPr>
          <p:nvPr>
            <p:ph type="sldImg"/>
          </p:nvPr>
        </p:nvSpPr>
        <p:spPr>
          <a:ln/>
        </p:spPr>
      </p:sp>
      <p:sp>
        <p:nvSpPr>
          <p:cNvPr id="1454083"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EE3606F0-9FA7-4E59-B116-5230D70C40C8}" type="slidenum">
              <a:rPr lang="en-US"/>
              <a:pPr/>
              <a:t>24</a:t>
            </a:fld>
            <a:r>
              <a:rPr lang="en-US" dirty="0"/>
              <a:t>##</a:t>
            </a:r>
          </a:p>
        </p:txBody>
      </p:sp>
      <p:sp>
        <p:nvSpPr>
          <p:cNvPr id="1457154" name="Rectangle 2"/>
          <p:cNvSpPr>
            <a:spLocks noGrp="1" noRot="1" noChangeAspect="1" noChangeArrowheads="1" noTextEdit="1"/>
          </p:cNvSpPr>
          <p:nvPr>
            <p:ph type="sldImg"/>
          </p:nvPr>
        </p:nvSpPr>
        <p:spPr>
          <a:ln/>
        </p:spPr>
      </p:sp>
      <p:sp>
        <p:nvSpPr>
          <p:cNvPr id="1457155"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F6500389-F969-4DE9-993B-ED3ADD1B5C03}" type="slidenum">
              <a:rPr lang="en-US"/>
              <a:pPr/>
              <a:t>25</a:t>
            </a:fld>
            <a:r>
              <a:rPr lang="en-US" dirty="0"/>
              <a:t>##</a:t>
            </a:r>
          </a:p>
        </p:txBody>
      </p:sp>
      <p:sp>
        <p:nvSpPr>
          <p:cNvPr id="1573890" name="Rectangle 2"/>
          <p:cNvSpPr>
            <a:spLocks noGrp="1" noRot="1" noChangeAspect="1" noChangeArrowheads="1" noTextEdit="1"/>
          </p:cNvSpPr>
          <p:nvPr>
            <p:ph type="sldImg"/>
          </p:nvPr>
        </p:nvSpPr>
        <p:spPr>
          <a:ln/>
        </p:spPr>
      </p:sp>
      <p:sp>
        <p:nvSpPr>
          <p:cNvPr id="1573891"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EA690317-C84B-48E3-91A3-DAF96AA3975C}" type="slidenum">
              <a:rPr lang="en-US"/>
              <a:pPr/>
              <a:t>26</a:t>
            </a:fld>
            <a:r>
              <a:rPr lang="en-US" dirty="0"/>
              <a:t>##</a:t>
            </a:r>
          </a:p>
        </p:txBody>
      </p:sp>
      <p:sp>
        <p:nvSpPr>
          <p:cNvPr id="1459202" name="Rectangle 2"/>
          <p:cNvSpPr>
            <a:spLocks noGrp="1" noRot="1" noChangeAspect="1" noChangeArrowheads="1" noTextEdit="1"/>
          </p:cNvSpPr>
          <p:nvPr>
            <p:ph type="sldImg"/>
          </p:nvPr>
        </p:nvSpPr>
        <p:spPr>
          <a:ln/>
        </p:spPr>
      </p:sp>
      <p:sp>
        <p:nvSpPr>
          <p:cNvPr id="1459203"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3D29455C-79BC-432F-90F3-8DAC11DDFAC8}" type="slidenum">
              <a:rPr lang="en-US"/>
              <a:pPr/>
              <a:t>27</a:t>
            </a:fld>
            <a:r>
              <a:rPr lang="en-US" dirty="0"/>
              <a:t>##</a:t>
            </a:r>
          </a:p>
        </p:txBody>
      </p:sp>
      <p:sp>
        <p:nvSpPr>
          <p:cNvPr id="1461250" name="Rectangle 2"/>
          <p:cNvSpPr>
            <a:spLocks noGrp="1" noRot="1" noChangeAspect="1" noChangeArrowheads="1" noTextEdit="1"/>
          </p:cNvSpPr>
          <p:nvPr>
            <p:ph type="sldImg"/>
          </p:nvPr>
        </p:nvSpPr>
        <p:spPr>
          <a:ln/>
        </p:spPr>
      </p:sp>
      <p:sp>
        <p:nvSpPr>
          <p:cNvPr id="1461251"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EC2BD006-657A-4693-AAB9-841A24E56BBA}" type="slidenum">
              <a:rPr lang="en-US"/>
              <a:pPr/>
              <a:t>28</a:t>
            </a:fld>
            <a:r>
              <a:rPr lang="en-US" dirty="0"/>
              <a:t>##</a:t>
            </a:r>
          </a:p>
        </p:txBody>
      </p:sp>
      <p:sp>
        <p:nvSpPr>
          <p:cNvPr id="1463298" name="Rectangle 2"/>
          <p:cNvSpPr>
            <a:spLocks noGrp="1" noRot="1" noChangeAspect="1" noChangeArrowheads="1" noTextEdit="1"/>
          </p:cNvSpPr>
          <p:nvPr>
            <p:ph type="sldImg"/>
          </p:nvPr>
        </p:nvSpPr>
        <p:spPr>
          <a:ln/>
        </p:spPr>
      </p:sp>
      <p:sp>
        <p:nvSpPr>
          <p:cNvPr id="1463299"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7B1D7E82-D23F-4C94-ADD9-ECE3B5BF3C05}" type="slidenum">
              <a:rPr lang="en-US"/>
              <a:pPr/>
              <a:t>29</a:t>
            </a:fld>
            <a:r>
              <a:rPr lang="en-US" dirty="0"/>
              <a:t>##</a:t>
            </a:r>
          </a:p>
        </p:txBody>
      </p:sp>
      <p:sp>
        <p:nvSpPr>
          <p:cNvPr id="1465346" name="Rectangle 2"/>
          <p:cNvSpPr>
            <a:spLocks noGrp="1" noRot="1" noChangeAspect="1" noChangeArrowheads="1" noTextEdit="1"/>
          </p:cNvSpPr>
          <p:nvPr>
            <p:ph type="sldImg"/>
          </p:nvPr>
        </p:nvSpPr>
        <p:spPr>
          <a:ln/>
        </p:spPr>
      </p:sp>
      <p:sp>
        <p:nvSpPr>
          <p:cNvPr id="1465347"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619B30D6-1296-48D4-AEDE-C07EDD7460C9}" type="slidenum">
              <a:rPr lang="en-US"/>
              <a:pPr/>
              <a:t>30</a:t>
            </a:fld>
            <a:r>
              <a:rPr lang="en-US" dirty="0"/>
              <a:t>##</a:t>
            </a:r>
          </a:p>
        </p:txBody>
      </p:sp>
      <p:sp>
        <p:nvSpPr>
          <p:cNvPr id="1575938" name="Rectangle 2"/>
          <p:cNvSpPr>
            <a:spLocks noGrp="1" noRot="1" noChangeAspect="1" noChangeArrowheads="1" noTextEdit="1"/>
          </p:cNvSpPr>
          <p:nvPr>
            <p:ph type="sldImg"/>
          </p:nvPr>
        </p:nvSpPr>
        <p:spPr>
          <a:ln/>
        </p:spPr>
      </p:sp>
      <p:sp>
        <p:nvSpPr>
          <p:cNvPr id="1575939"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CCFE82FE-4DD9-46BE-B3A3-CA78D9005F47}" type="slidenum">
              <a:rPr lang="en-US"/>
              <a:pPr/>
              <a:t>31</a:t>
            </a:fld>
            <a:r>
              <a:rPr lang="en-US" dirty="0"/>
              <a:t>##</a:t>
            </a:r>
          </a:p>
        </p:txBody>
      </p:sp>
      <p:sp>
        <p:nvSpPr>
          <p:cNvPr id="1467394" name="Rectangle 2"/>
          <p:cNvSpPr>
            <a:spLocks noGrp="1" noRot="1" noChangeAspect="1" noChangeArrowheads="1" noTextEdit="1"/>
          </p:cNvSpPr>
          <p:nvPr>
            <p:ph type="sldImg"/>
          </p:nvPr>
        </p:nvSpPr>
        <p:spPr>
          <a:ln/>
        </p:spPr>
      </p:sp>
      <p:sp>
        <p:nvSpPr>
          <p:cNvPr id="1467395" name="Rectangle 3"/>
          <p:cNvSpPr>
            <a:spLocks noGrp="1" noChangeArrowheads="1"/>
          </p:cNvSpPr>
          <p:nvPr>
            <p:ph type="body" idx="1"/>
          </p:nvPr>
        </p:nvSpPr>
        <p:spPr/>
        <p:txBody>
          <a:bodyPr/>
          <a:lstStyle/>
          <a:p>
            <a:endParaRPr lang="bg-BG"/>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CCFE82FE-4DD9-46BE-B3A3-CA78D9005F47}" type="slidenum">
              <a:rPr lang="en-US"/>
              <a:pPr/>
              <a:t>32</a:t>
            </a:fld>
            <a:r>
              <a:rPr lang="en-US" dirty="0"/>
              <a:t>##</a:t>
            </a:r>
          </a:p>
        </p:txBody>
      </p:sp>
      <p:sp>
        <p:nvSpPr>
          <p:cNvPr id="1467394" name="Rectangle 2"/>
          <p:cNvSpPr>
            <a:spLocks noGrp="1" noRot="1" noChangeAspect="1" noChangeArrowheads="1" noTextEdit="1"/>
          </p:cNvSpPr>
          <p:nvPr>
            <p:ph type="sldImg"/>
          </p:nvPr>
        </p:nvSpPr>
        <p:spPr>
          <a:ln/>
        </p:spPr>
      </p:sp>
      <p:sp>
        <p:nvSpPr>
          <p:cNvPr id="1467395" name="Rectangle 3"/>
          <p:cNvSpPr>
            <a:spLocks noGrp="1" noChangeArrowheads="1"/>
          </p:cNvSpPr>
          <p:nvPr>
            <p:ph type="body" idx="1"/>
          </p:nvPr>
        </p:nvSpPr>
        <p:spPr/>
        <p:txBody>
          <a:bodyPr/>
          <a:lstStyle/>
          <a:p>
            <a:endParaRPr lang="bg-BG"/>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CCFE82FE-4DD9-46BE-B3A3-CA78D9005F47}" type="slidenum">
              <a:rPr lang="en-US"/>
              <a:pPr/>
              <a:t>33</a:t>
            </a:fld>
            <a:r>
              <a:rPr lang="en-US" dirty="0"/>
              <a:t>##</a:t>
            </a:r>
          </a:p>
        </p:txBody>
      </p:sp>
      <p:sp>
        <p:nvSpPr>
          <p:cNvPr id="1467394" name="Rectangle 2"/>
          <p:cNvSpPr>
            <a:spLocks noGrp="1" noRot="1" noChangeAspect="1" noChangeArrowheads="1" noTextEdit="1"/>
          </p:cNvSpPr>
          <p:nvPr>
            <p:ph type="sldImg"/>
          </p:nvPr>
        </p:nvSpPr>
        <p:spPr>
          <a:ln/>
        </p:spPr>
      </p:sp>
      <p:sp>
        <p:nvSpPr>
          <p:cNvPr id="1467395" name="Rectangle 3"/>
          <p:cNvSpPr>
            <a:spLocks noGrp="1" noChangeArrowheads="1"/>
          </p:cNvSpPr>
          <p:nvPr>
            <p:ph type="body" idx="1"/>
          </p:nvPr>
        </p:nvSpPr>
        <p:spPr/>
        <p:txBody>
          <a:bodyPr/>
          <a:lstStyle/>
          <a:p>
            <a:endParaRPr lang="bg-BG"/>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01A1DE26-9833-4BB7-9C6B-2CE5C9B9A9A4}" type="slidenum">
              <a:rPr lang="en-US"/>
              <a:pPr/>
              <a:t>34</a:t>
            </a:fld>
            <a:r>
              <a:rPr lang="en-US" dirty="0"/>
              <a:t>##</a:t>
            </a:r>
          </a:p>
        </p:txBody>
      </p:sp>
      <p:sp>
        <p:nvSpPr>
          <p:cNvPr id="1580034" name="Rectangle 2"/>
          <p:cNvSpPr>
            <a:spLocks noGrp="1" noRot="1" noChangeAspect="1" noChangeArrowheads="1" noTextEdit="1"/>
          </p:cNvSpPr>
          <p:nvPr>
            <p:ph type="sldImg"/>
          </p:nvPr>
        </p:nvSpPr>
        <p:spPr>
          <a:ln/>
        </p:spPr>
      </p:sp>
      <p:sp>
        <p:nvSpPr>
          <p:cNvPr id="1580035" name="Rectangle 3"/>
          <p:cNvSpPr>
            <a:spLocks noGrp="1" noChangeArrowheads="1"/>
          </p:cNvSpPr>
          <p:nvPr>
            <p:ph type="body" idx="1"/>
          </p:nvPr>
        </p:nvSpPr>
        <p:spPr/>
        <p:txBody>
          <a:bodyPr/>
          <a:lstStyle/>
          <a:p>
            <a:r>
              <a:rPr lang="en-US"/>
              <a:t>Metadata </a:t>
            </a:r>
          </a:p>
          <a:p>
            <a:pPr lvl="1"/>
            <a:r>
              <a:rPr lang="en-US"/>
              <a:t>Information about program structure is language-agnostic, so that it can be referenced between languages and tools, making it easy to work with code written in a language you are not using.</a:t>
            </a:r>
          </a:p>
          <a:p>
            <a:endParaRPr lang="en-US"/>
          </a:p>
          <a:p>
            <a:r>
              <a:rPr lang="en-US" b="1"/>
              <a:t>.NET metadata</a:t>
            </a:r>
            <a:r>
              <a:rPr lang="en-US"/>
              <a:t>, in the </a:t>
            </a:r>
            <a:r>
              <a:rPr lang="en-US">
                <a:hlinkClick r:id="rId3" tooltip="Microsoft .NET"/>
              </a:rPr>
              <a:t>Microsoft .NET</a:t>
            </a:r>
            <a:r>
              <a:rPr lang="en-US"/>
              <a:t> framework, refers to code that describes .NET CIL (</a:t>
            </a:r>
            <a:r>
              <a:rPr lang="en-US">
                <a:hlinkClick r:id="rId4" tooltip="Common Intermediate Language"/>
              </a:rPr>
              <a:t>Common Intermediate Language</a:t>
            </a:r>
            <a:r>
              <a:rPr lang="en-US"/>
              <a:t>) code. A .NET language </a:t>
            </a:r>
            <a:r>
              <a:rPr lang="en-US">
                <a:hlinkClick r:id="rId5" tooltip="Compiler"/>
              </a:rPr>
              <a:t>compiler</a:t>
            </a:r>
            <a:r>
              <a:rPr lang="en-US"/>
              <a:t> will generate the </a:t>
            </a:r>
            <a:r>
              <a:rPr lang="en-US">
                <a:hlinkClick r:id="rId6" tooltip="Metadata"/>
              </a:rPr>
              <a:t>metadata</a:t>
            </a:r>
            <a:r>
              <a:rPr lang="en-US"/>
              <a:t> and store this in the </a:t>
            </a:r>
            <a:r>
              <a:rPr lang="en-US">
                <a:hlinkClick r:id="rId7" tooltip=".NET assemblies"/>
              </a:rPr>
              <a:t>assembly</a:t>
            </a:r>
            <a:r>
              <a:rPr lang="en-US"/>
              <a:t> containing the CIL. Metadata describes all </a:t>
            </a:r>
            <a:r>
              <a:rPr lang="en-US">
                <a:hlinkClick r:id="rId8" tooltip="Class (computer science)"/>
              </a:rPr>
              <a:t>classes</a:t>
            </a:r>
            <a:r>
              <a:rPr lang="en-US"/>
              <a:t> and class members that are defined in the assembly, and the classes and class </a:t>
            </a:r>
            <a:r>
              <a:rPr lang="en-US">
                <a:hlinkClick r:id="rId9" tooltip="Members"/>
              </a:rPr>
              <a:t>members</a:t>
            </a:r>
            <a:r>
              <a:rPr lang="en-US"/>
              <a:t> that the current assembly will call from another assembly. The metadata for a method contains the complete description of the method, including the class (and the assembly that contains the class), the </a:t>
            </a:r>
            <a:r>
              <a:rPr lang="en-US">
                <a:hlinkClick r:id="rId10" tooltip="Return type"/>
              </a:rPr>
              <a:t>return type</a:t>
            </a:r>
            <a:r>
              <a:rPr lang="en-US"/>
              <a:t> and all of the </a:t>
            </a:r>
            <a:r>
              <a:rPr lang="en-US">
                <a:hlinkClick r:id="rId11" tooltip="Method (computer science)"/>
              </a:rPr>
              <a:t>method</a:t>
            </a:r>
            <a:r>
              <a:rPr lang="en-US"/>
              <a:t> </a:t>
            </a:r>
            <a:r>
              <a:rPr lang="en-US">
                <a:hlinkClick r:id="rId12" tooltip="Parameter (computer science)"/>
              </a:rPr>
              <a:t>parameters</a:t>
            </a:r>
            <a:r>
              <a:rPr lang="en-US"/>
              <a:t>. When the </a:t>
            </a:r>
            <a:r>
              <a:rPr lang="en-US">
                <a:hlinkClick r:id="rId13" tooltip="Common Language Runtime"/>
              </a:rPr>
              <a:t>CLR</a:t>
            </a:r>
            <a:r>
              <a:rPr lang="en-US"/>
              <a:t> executes CIL it will check to make sure that the metadata of the called method is the same as the metadata that is stored in the calling method. This ensures that a method can only be called with exactly the right number of parameters and exactly the right parameter types.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C69B10CC-4D4E-41ED-BC94-1BF974561F3A}" type="slidenum">
              <a:rPr lang="en-US"/>
              <a:pPr/>
              <a:t>35</a:t>
            </a:fld>
            <a:r>
              <a:rPr lang="en-US" dirty="0"/>
              <a:t>##</a:t>
            </a:r>
          </a:p>
        </p:txBody>
      </p:sp>
      <p:sp>
        <p:nvSpPr>
          <p:cNvPr id="1469442" name="Rectangle 2"/>
          <p:cNvSpPr>
            <a:spLocks noGrp="1" noRot="1" noChangeAspect="1" noChangeArrowheads="1" noTextEdit="1"/>
          </p:cNvSpPr>
          <p:nvPr>
            <p:ph type="sldImg"/>
          </p:nvPr>
        </p:nvSpPr>
        <p:spPr>
          <a:ln/>
        </p:spPr>
      </p:sp>
      <p:sp>
        <p:nvSpPr>
          <p:cNvPr id="1469443" name="Rectangle 3"/>
          <p:cNvSpPr>
            <a:spLocks noGrp="1" noChangeArrowheads="1"/>
          </p:cNvSpPr>
          <p:nvPr>
            <p:ph type="body" idx="1"/>
          </p:nvPr>
        </p:nvSpPr>
        <p:spPr/>
        <p:txBody>
          <a:bodyPr/>
          <a:lstStyle/>
          <a:p>
            <a:endParaRPr lang="bg-BG"/>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01A1DE26-9833-4BB7-9C6B-2CE5C9B9A9A4}" type="slidenum">
              <a:rPr lang="en-US"/>
              <a:pPr/>
              <a:t>36</a:t>
            </a:fld>
            <a:r>
              <a:rPr lang="en-US" dirty="0"/>
              <a:t>##</a:t>
            </a:r>
          </a:p>
        </p:txBody>
      </p:sp>
      <p:sp>
        <p:nvSpPr>
          <p:cNvPr id="1580034" name="Rectangle 2"/>
          <p:cNvSpPr>
            <a:spLocks noGrp="1" noRot="1" noChangeAspect="1" noChangeArrowheads="1" noTextEdit="1"/>
          </p:cNvSpPr>
          <p:nvPr>
            <p:ph type="sldImg"/>
          </p:nvPr>
        </p:nvSpPr>
        <p:spPr>
          <a:ln/>
        </p:spPr>
      </p:sp>
      <p:sp>
        <p:nvSpPr>
          <p:cNvPr id="1580035" name="Rectangle 3"/>
          <p:cNvSpPr>
            <a:spLocks noGrp="1" noChangeArrowheads="1"/>
          </p:cNvSpPr>
          <p:nvPr>
            <p:ph type="body" idx="1"/>
          </p:nvPr>
        </p:nvSpPr>
        <p:spPr/>
        <p:txBody>
          <a:bodyPr/>
          <a:lstStyle/>
          <a:p>
            <a:r>
              <a:rPr lang="en-US"/>
              <a:t>Metadata </a:t>
            </a:r>
          </a:p>
          <a:p>
            <a:pPr lvl="1"/>
            <a:r>
              <a:rPr lang="en-US"/>
              <a:t>Information about program structure is language-agnostic, so that it can be referenced between languages and tools, making it easy to work with code written in a language you are not using.</a:t>
            </a:r>
          </a:p>
          <a:p>
            <a:endParaRPr lang="en-US"/>
          </a:p>
          <a:p>
            <a:r>
              <a:rPr lang="en-US" b="1"/>
              <a:t>.NET metadata</a:t>
            </a:r>
            <a:r>
              <a:rPr lang="en-US"/>
              <a:t>, in the </a:t>
            </a:r>
            <a:r>
              <a:rPr lang="en-US">
                <a:hlinkClick r:id="rId3" tooltip="Microsoft .NET"/>
              </a:rPr>
              <a:t>Microsoft .NET</a:t>
            </a:r>
            <a:r>
              <a:rPr lang="en-US"/>
              <a:t> framework, refers to code that describes .NET CIL (</a:t>
            </a:r>
            <a:r>
              <a:rPr lang="en-US">
                <a:hlinkClick r:id="rId4" tooltip="Common Intermediate Language"/>
              </a:rPr>
              <a:t>Common Intermediate Language</a:t>
            </a:r>
            <a:r>
              <a:rPr lang="en-US"/>
              <a:t>) code. A .NET language </a:t>
            </a:r>
            <a:r>
              <a:rPr lang="en-US">
                <a:hlinkClick r:id="rId5" tooltip="Compiler"/>
              </a:rPr>
              <a:t>compiler</a:t>
            </a:r>
            <a:r>
              <a:rPr lang="en-US"/>
              <a:t> will generate the </a:t>
            </a:r>
            <a:r>
              <a:rPr lang="en-US">
                <a:hlinkClick r:id="rId6" tooltip="Metadata"/>
              </a:rPr>
              <a:t>metadata</a:t>
            </a:r>
            <a:r>
              <a:rPr lang="en-US"/>
              <a:t> and store this in the </a:t>
            </a:r>
            <a:r>
              <a:rPr lang="en-US">
                <a:hlinkClick r:id="rId7" tooltip=".NET assemblies"/>
              </a:rPr>
              <a:t>assembly</a:t>
            </a:r>
            <a:r>
              <a:rPr lang="en-US"/>
              <a:t> containing the CIL. Metadata describes all </a:t>
            </a:r>
            <a:r>
              <a:rPr lang="en-US">
                <a:hlinkClick r:id="rId8" tooltip="Class (computer science)"/>
              </a:rPr>
              <a:t>classes</a:t>
            </a:r>
            <a:r>
              <a:rPr lang="en-US"/>
              <a:t> and class members that are defined in the assembly, and the classes and class </a:t>
            </a:r>
            <a:r>
              <a:rPr lang="en-US">
                <a:hlinkClick r:id="rId9" tooltip="Members"/>
              </a:rPr>
              <a:t>members</a:t>
            </a:r>
            <a:r>
              <a:rPr lang="en-US"/>
              <a:t> that the current assembly will call from another assembly. The metadata for a method contains the complete description of the method, including the class (and the assembly that contains the class), the </a:t>
            </a:r>
            <a:r>
              <a:rPr lang="en-US">
                <a:hlinkClick r:id="rId10" tooltip="Return type"/>
              </a:rPr>
              <a:t>return type</a:t>
            </a:r>
            <a:r>
              <a:rPr lang="en-US"/>
              <a:t> and all of the </a:t>
            </a:r>
            <a:r>
              <a:rPr lang="en-US">
                <a:hlinkClick r:id="rId11" tooltip="Method (computer science)"/>
              </a:rPr>
              <a:t>method</a:t>
            </a:r>
            <a:r>
              <a:rPr lang="en-US"/>
              <a:t> </a:t>
            </a:r>
            <a:r>
              <a:rPr lang="en-US">
                <a:hlinkClick r:id="rId12" tooltip="Parameter (computer science)"/>
              </a:rPr>
              <a:t>parameters</a:t>
            </a:r>
            <a:r>
              <a:rPr lang="en-US"/>
              <a:t>. When the </a:t>
            </a:r>
            <a:r>
              <a:rPr lang="en-US">
                <a:hlinkClick r:id="rId13" tooltip="Common Language Runtime"/>
              </a:rPr>
              <a:t>CLR</a:t>
            </a:r>
            <a:r>
              <a:rPr lang="en-US"/>
              <a:t> executes CIL it will check to make sure that the metadata of the called method is the same as the metadata that is stored in the calling method. This ensures that a method can only be called with exactly the right number of parameters and exactly the right parameter types.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BFC2084B-3AFC-4EB8-8127-19076967161F}" type="slidenum">
              <a:rPr lang="en-US"/>
              <a:pPr/>
              <a:t>37</a:t>
            </a:fld>
            <a:r>
              <a:rPr lang="en-US" dirty="0"/>
              <a:t>##</a:t>
            </a:r>
          </a:p>
        </p:txBody>
      </p:sp>
      <p:sp>
        <p:nvSpPr>
          <p:cNvPr id="1513474" name="Rectangle 2"/>
          <p:cNvSpPr>
            <a:spLocks noGrp="1" noRot="1" noChangeAspect="1" noChangeArrowheads="1" noTextEdit="1"/>
          </p:cNvSpPr>
          <p:nvPr>
            <p:ph type="sldImg"/>
          </p:nvPr>
        </p:nvSpPr>
        <p:spPr>
          <a:ln/>
        </p:spPr>
      </p:sp>
      <p:sp>
        <p:nvSpPr>
          <p:cNvPr id="1513475" name="Rectangle 3"/>
          <p:cNvSpPr>
            <a:spLocks noGrp="1" noChangeArrowheads="1"/>
          </p:cNvSpPr>
          <p:nvPr>
            <p:ph type="body" idx="1"/>
          </p:nvPr>
        </p:nvSpPr>
        <p:spPr/>
        <p:txBody>
          <a:bodyPr/>
          <a:lstStyle/>
          <a:p>
            <a:endParaRPr lang="bg-BG"/>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D7DD2B35-02F1-4388-84C9-84C5BB3BF789}" type="slidenum">
              <a:rPr lang="en-US"/>
              <a:pPr/>
              <a:t>38</a:t>
            </a:fld>
            <a:r>
              <a:rPr lang="en-US" dirty="0"/>
              <a:t>##</a:t>
            </a:r>
          </a:p>
        </p:txBody>
      </p:sp>
      <p:sp>
        <p:nvSpPr>
          <p:cNvPr id="1577986" name="Rectangle 2"/>
          <p:cNvSpPr>
            <a:spLocks noGrp="1" noRot="1" noChangeAspect="1" noChangeArrowheads="1" noTextEdit="1"/>
          </p:cNvSpPr>
          <p:nvPr>
            <p:ph type="sldImg"/>
          </p:nvPr>
        </p:nvSpPr>
        <p:spPr>
          <a:ln/>
        </p:spPr>
      </p:sp>
      <p:sp>
        <p:nvSpPr>
          <p:cNvPr id="1577987" name="Rectangle 3"/>
          <p:cNvSpPr>
            <a:spLocks noGrp="1" noChangeArrowheads="1"/>
          </p:cNvSpPr>
          <p:nvPr>
            <p:ph type="body" idx="1"/>
          </p:nvPr>
        </p:nvSpPr>
        <p:spPr/>
        <p:txBody>
          <a:bodyPr/>
          <a:lstStyle/>
          <a:p>
            <a:endParaRPr lang="bg-BG"/>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9A7DAF6F-0FB4-4DC9-BB8A-0BBC35B47A77}" type="slidenum">
              <a:rPr lang="en-US"/>
              <a:pPr/>
              <a:t>39</a:t>
            </a:fld>
            <a:r>
              <a:rPr lang="en-US" dirty="0"/>
              <a:t>##</a:t>
            </a:r>
          </a:p>
        </p:txBody>
      </p:sp>
      <p:sp>
        <p:nvSpPr>
          <p:cNvPr id="1477634" name="Rectangle 2"/>
          <p:cNvSpPr>
            <a:spLocks noGrp="1" noRot="1" noChangeAspect="1" noChangeArrowheads="1" noTextEdit="1"/>
          </p:cNvSpPr>
          <p:nvPr>
            <p:ph type="sldImg"/>
          </p:nvPr>
        </p:nvSpPr>
        <p:spPr>
          <a:ln/>
        </p:spPr>
      </p:sp>
      <p:sp>
        <p:nvSpPr>
          <p:cNvPr id="1477635" name="Rectangle 3"/>
          <p:cNvSpPr>
            <a:spLocks noGrp="1" noChangeArrowheads="1"/>
          </p:cNvSpPr>
          <p:nvPr>
            <p:ph type="body" idx="1"/>
          </p:nvPr>
        </p:nvSpPr>
        <p:spPr/>
        <p:txBody>
          <a:bodyPr/>
          <a:lstStyle/>
          <a:p>
            <a:r>
              <a:rPr lang="en-US" dirty="0"/>
              <a:t>The </a:t>
            </a:r>
            <a:r>
              <a:rPr lang="en-US" b="1" dirty="0"/>
              <a:t>Common Language Infrastructure (CLI)</a:t>
            </a:r>
            <a:r>
              <a:rPr lang="en-US" dirty="0"/>
              <a:t> is an open </a:t>
            </a:r>
            <a:r>
              <a:rPr lang="en-US" dirty="0">
                <a:hlinkClick r:id="rId3" tooltip="Specification"/>
              </a:rPr>
              <a:t>specification</a:t>
            </a:r>
            <a:r>
              <a:rPr lang="en-US" dirty="0"/>
              <a:t> developed by </a:t>
            </a:r>
            <a:r>
              <a:rPr lang="en-US" dirty="0">
                <a:hlinkClick r:id="rId4" tooltip="Microsoft"/>
              </a:rPr>
              <a:t>Microsoft</a:t>
            </a:r>
            <a:r>
              <a:rPr lang="en-US" dirty="0"/>
              <a:t> that describes the executable code and runtime environment that form the core of the </a:t>
            </a:r>
            <a:r>
              <a:rPr lang="en-US" dirty="0">
                <a:hlinkClick r:id="rId5" tooltip=".NET Framework"/>
              </a:rPr>
              <a:t>Microsoft .NET Framework</a:t>
            </a:r>
            <a:r>
              <a:rPr lang="en-US" dirty="0"/>
              <a:t>. The specification defines an environment that allows multiple high-level languages to be used on different computer platforms without being rewritten for specific architectures.</a:t>
            </a:r>
          </a:p>
          <a:p>
            <a:r>
              <a:rPr lang="en-US" dirty="0"/>
              <a:t>To clarify, the CLI is a </a:t>
            </a:r>
            <a:r>
              <a:rPr lang="en-US" i="1" dirty="0"/>
              <a:t>specification,</a:t>
            </a:r>
            <a:r>
              <a:rPr lang="en-US" dirty="0"/>
              <a:t> not an </a:t>
            </a:r>
            <a:r>
              <a:rPr lang="en-US" i="1" dirty="0"/>
              <a:t>implementation,</a:t>
            </a:r>
            <a:r>
              <a:rPr lang="en-US" dirty="0"/>
              <a:t> and is often confused with the </a:t>
            </a:r>
            <a:r>
              <a:rPr lang="en-US" dirty="0">
                <a:hlinkClick r:id="rId6" tooltip="Common Language Runtime"/>
              </a:rPr>
              <a:t>Common Language Runtime</a:t>
            </a:r>
            <a:r>
              <a:rPr lang="en-US" dirty="0"/>
              <a:t> (CLR), which contains aspects outside the scope of the specification.</a:t>
            </a:r>
            <a:endParaRPr lang="bg-BG"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B9DE8ABA-A68A-4A0A-83A8-C97230FB5B1D}" type="slidenum">
              <a:rPr lang="en-US"/>
              <a:pPr/>
              <a:t>40</a:t>
            </a:fld>
            <a:r>
              <a:rPr lang="en-US" dirty="0"/>
              <a:t>##</a:t>
            </a:r>
          </a:p>
        </p:txBody>
      </p:sp>
      <p:sp>
        <p:nvSpPr>
          <p:cNvPr id="1550338" name="Rectangle 2"/>
          <p:cNvSpPr>
            <a:spLocks noGrp="1" noRot="1" noChangeAspect="1" noChangeArrowheads="1" noTextEdit="1"/>
          </p:cNvSpPr>
          <p:nvPr>
            <p:ph type="sldImg"/>
          </p:nvPr>
        </p:nvSpPr>
        <p:spPr>
          <a:ln/>
        </p:spPr>
      </p:sp>
      <p:sp>
        <p:nvSpPr>
          <p:cNvPr id="1550339" name="Rectangle 3"/>
          <p:cNvSpPr>
            <a:spLocks noGrp="1" noChangeArrowheads="1"/>
          </p:cNvSpPr>
          <p:nvPr>
            <p:ph type="body" idx="1"/>
          </p:nvPr>
        </p:nvSpPr>
        <p:spPr/>
        <p:txBody>
          <a:bodyPr/>
          <a:lstStyle/>
          <a:p>
            <a:r>
              <a:rPr lang="en-US"/>
              <a:t>The </a:t>
            </a:r>
            <a:r>
              <a:rPr lang="en-US">
                <a:hlinkClick r:id="rId3" tooltip="Common Type System"/>
              </a:rPr>
              <a:t>Common Type System</a:t>
            </a:r>
            <a:r>
              <a:rPr lang="en-US"/>
              <a:t> (CTS) </a:t>
            </a:r>
          </a:p>
          <a:p>
            <a:pPr lvl="1"/>
            <a:r>
              <a:rPr lang="en-US"/>
              <a:t>A set of </a:t>
            </a:r>
            <a:r>
              <a:rPr lang="en-US">
                <a:hlinkClick r:id="rId4" tooltip="Datatype"/>
              </a:rPr>
              <a:t>types</a:t>
            </a:r>
            <a:r>
              <a:rPr lang="en-US"/>
              <a:t> and operations that are shared by all CTS-compliant </a:t>
            </a:r>
            <a:r>
              <a:rPr lang="en-US">
                <a:hlinkClick r:id="rId5" tooltip="Programming language"/>
              </a:rPr>
              <a:t>programming languages</a:t>
            </a:r>
            <a:r>
              <a:rPr lang="en-US"/>
              <a:t>.</a:t>
            </a:r>
          </a:p>
          <a:p>
            <a:r>
              <a:rPr lang="en-US"/>
              <a:t>Metadata </a:t>
            </a:r>
          </a:p>
          <a:p>
            <a:pPr lvl="1"/>
            <a:r>
              <a:rPr lang="en-US"/>
              <a:t>Information about program structure is language-agnostic, so that it can be referenced between languages and tools, making it easy to work with code written in a language you are not using.</a:t>
            </a:r>
          </a:p>
          <a:p>
            <a:r>
              <a:rPr lang="en-US"/>
              <a:t>Common Language Specification (CLS) </a:t>
            </a:r>
          </a:p>
          <a:p>
            <a:pPr lvl="1"/>
            <a:r>
              <a:rPr lang="en-US"/>
              <a:t>A set of base rules to which any language targeting the CLI should conform in order to interoperate with other CLS-compliant languages.</a:t>
            </a:r>
          </a:p>
          <a:p>
            <a:r>
              <a:rPr lang="en-US"/>
              <a:t>Virtual Execution System (VES) </a:t>
            </a:r>
          </a:p>
          <a:p>
            <a:pPr lvl="1"/>
            <a:r>
              <a:rPr lang="en-US"/>
              <a:t>The VES loads and executes CLI-compatible programs, using the metadata to combine separately generated pieces of code at runtime.</a:t>
            </a:r>
          </a:p>
          <a:p>
            <a:r>
              <a:rPr lang="en-US"/>
              <a:t>All compatible languages compile to </a:t>
            </a:r>
            <a:r>
              <a:rPr lang="en-US">
                <a:hlinkClick r:id="rId6" tooltip="Common Intermediate Language"/>
              </a:rPr>
              <a:t>Common Intermediate Language</a:t>
            </a:r>
            <a:r>
              <a:rPr lang="en-US"/>
              <a:t> (CIL), which is an </a:t>
            </a:r>
            <a:r>
              <a:rPr lang="en-US">
                <a:hlinkClick r:id="rId7" tooltip="Intermediate language"/>
              </a:rPr>
              <a:t>intermediate language</a:t>
            </a:r>
            <a:r>
              <a:rPr lang="en-US"/>
              <a:t> that is abstracted from the platform hardware. When the code is executed, the platform-specific VES will compile the CIL to the </a:t>
            </a:r>
            <a:r>
              <a:rPr lang="en-US">
                <a:hlinkClick r:id="rId8" tooltip="Machine language"/>
              </a:rPr>
              <a:t>machine language</a:t>
            </a:r>
            <a:r>
              <a:rPr lang="en-US"/>
              <a:t> according to the specific hardware.</a:t>
            </a:r>
            <a:endParaRPr lang="bg-BG"/>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5E2955A7-3AE2-4595-87BC-8AA0441A0490}" type="slidenum">
              <a:rPr lang="en-US"/>
              <a:pPr/>
              <a:t>42</a:t>
            </a:fld>
            <a:r>
              <a:rPr lang="en-US" dirty="0"/>
              <a:t>##</a:t>
            </a:r>
          </a:p>
        </p:txBody>
      </p:sp>
      <p:sp>
        <p:nvSpPr>
          <p:cNvPr id="1557506" name="Rectangle 2"/>
          <p:cNvSpPr>
            <a:spLocks noGrp="1" noRot="1" noChangeAspect="1" noChangeArrowheads="1" noTextEdit="1"/>
          </p:cNvSpPr>
          <p:nvPr>
            <p:ph type="sldImg"/>
          </p:nvPr>
        </p:nvSpPr>
        <p:spPr>
          <a:ln/>
        </p:spPr>
      </p:sp>
      <p:sp>
        <p:nvSpPr>
          <p:cNvPr id="1557507" name="Rectangle 3"/>
          <p:cNvSpPr>
            <a:spLocks noGrp="1" noChangeArrowheads="1"/>
          </p:cNvSpPr>
          <p:nvPr>
            <p:ph type="body" idx="1"/>
          </p:nvPr>
        </p:nvSpPr>
        <p:spPr/>
        <p:txBody>
          <a:bodyPr/>
          <a:lstStyle/>
          <a:p>
            <a:endParaRPr lang="bg-BG"/>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C8E29DD4-CD41-4145-AC28-476549F8D677}" type="slidenum">
              <a:rPr lang="en-US"/>
              <a:pPr/>
              <a:t>43</a:t>
            </a:fld>
            <a:r>
              <a:rPr lang="en-US" dirty="0"/>
              <a:t>##</a:t>
            </a:r>
          </a:p>
        </p:txBody>
      </p:sp>
      <p:sp>
        <p:nvSpPr>
          <p:cNvPr id="1555458" name="Rectangle 2"/>
          <p:cNvSpPr>
            <a:spLocks noGrp="1" noRot="1" noChangeAspect="1" noChangeArrowheads="1" noTextEdit="1"/>
          </p:cNvSpPr>
          <p:nvPr>
            <p:ph type="sldImg"/>
          </p:nvPr>
        </p:nvSpPr>
        <p:spPr>
          <a:ln/>
        </p:spPr>
      </p:sp>
      <p:sp>
        <p:nvSpPr>
          <p:cNvPr id="1555459" name="Rectangle 3"/>
          <p:cNvSpPr>
            <a:spLocks noGrp="1" noChangeArrowheads="1"/>
          </p:cNvSpPr>
          <p:nvPr>
            <p:ph type="body" idx="1"/>
          </p:nvPr>
        </p:nvSpPr>
        <p:spPr/>
        <p:txBody>
          <a:bodyPr/>
          <a:lstStyle/>
          <a:p>
            <a:endParaRPr lang="bg-BG"/>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832E1C2F-50E3-4173-B84A-EE83809F83A7}" type="slidenum">
              <a:rPr lang="en-US"/>
              <a:pPr/>
              <a:t>44</a:t>
            </a:fld>
            <a:r>
              <a:rPr lang="en-US" dirty="0"/>
              <a:t>##</a:t>
            </a:r>
          </a:p>
        </p:txBody>
      </p:sp>
      <p:sp>
        <p:nvSpPr>
          <p:cNvPr id="1582082" name="Rectangle 2"/>
          <p:cNvSpPr>
            <a:spLocks noGrp="1" noRot="1" noChangeAspect="1" noChangeArrowheads="1" noTextEdit="1"/>
          </p:cNvSpPr>
          <p:nvPr>
            <p:ph type="sldImg"/>
          </p:nvPr>
        </p:nvSpPr>
        <p:spPr>
          <a:ln/>
        </p:spPr>
      </p:sp>
      <p:sp>
        <p:nvSpPr>
          <p:cNvPr id="1582083" name="Rectangle 3"/>
          <p:cNvSpPr>
            <a:spLocks noGrp="1" noChangeArrowheads="1"/>
          </p:cNvSpPr>
          <p:nvPr>
            <p:ph type="body" idx="1"/>
          </p:nvPr>
        </p:nvSpPr>
        <p:spPr/>
        <p:txBody>
          <a:bodyPr/>
          <a:lstStyle/>
          <a:p>
            <a:endParaRPr lang="bg-BG"/>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72B31E60-4543-45DD-A122-FBDBA4772A7C}" type="slidenum">
              <a:rPr lang="en-US"/>
              <a:pPr/>
              <a:t>45</a:t>
            </a:fld>
            <a:r>
              <a:rPr lang="en-US" dirty="0"/>
              <a:t>##</a:t>
            </a:r>
          </a:p>
        </p:txBody>
      </p:sp>
      <p:sp>
        <p:nvSpPr>
          <p:cNvPr id="1481730" name="Rectangle 2"/>
          <p:cNvSpPr>
            <a:spLocks noGrp="1" noRot="1" noChangeAspect="1" noChangeArrowheads="1" noTextEdit="1"/>
          </p:cNvSpPr>
          <p:nvPr>
            <p:ph type="sldImg"/>
          </p:nvPr>
        </p:nvSpPr>
        <p:spPr>
          <a:ln/>
        </p:spPr>
      </p:sp>
      <p:sp>
        <p:nvSpPr>
          <p:cNvPr id="1481731" name="Rectangle 3"/>
          <p:cNvSpPr>
            <a:spLocks noGrp="1" noChangeArrowheads="1"/>
          </p:cNvSpPr>
          <p:nvPr>
            <p:ph type="body" idx="1"/>
          </p:nvPr>
        </p:nvSpPr>
        <p:spPr/>
        <p:txBody>
          <a:bodyPr/>
          <a:lstStyle/>
          <a:p>
            <a:endParaRPr lang="bg-BG"/>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ECAD602D-EC32-48E3-BCEA-6640571B310C}" type="slidenum">
              <a:rPr lang="en-US"/>
              <a:pPr/>
              <a:t>46</a:t>
            </a:fld>
            <a:r>
              <a:rPr lang="en-US" dirty="0"/>
              <a:t>##</a:t>
            </a:r>
          </a:p>
        </p:txBody>
      </p:sp>
      <p:sp>
        <p:nvSpPr>
          <p:cNvPr id="1483778" name="Rectangle 2"/>
          <p:cNvSpPr>
            <a:spLocks noGrp="1" noRot="1" noChangeAspect="1" noChangeArrowheads="1" noTextEdit="1"/>
          </p:cNvSpPr>
          <p:nvPr>
            <p:ph type="sldImg"/>
          </p:nvPr>
        </p:nvSpPr>
        <p:spPr>
          <a:xfrm>
            <a:off x="1125538" y="703263"/>
            <a:ext cx="4630737" cy="3473450"/>
          </a:xfrm>
          <a:ln/>
        </p:spPr>
      </p:sp>
      <p:sp>
        <p:nvSpPr>
          <p:cNvPr id="1483779" name="Rectangle 3"/>
          <p:cNvSpPr>
            <a:spLocks noGrp="1" noChangeArrowheads="1"/>
          </p:cNvSpPr>
          <p:nvPr>
            <p:ph type="body" idx="1"/>
          </p:nvPr>
        </p:nvSpPr>
        <p:spPr/>
        <p:txBody>
          <a:bodyPr/>
          <a:lstStyle/>
          <a:p>
            <a:endParaRPr lang="bg-BG"/>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B138EC3A-59A5-452A-ACEE-7CE5A9FF175B}" type="slidenum">
              <a:rPr lang="en-US"/>
              <a:pPr/>
              <a:t>47</a:t>
            </a:fld>
            <a:r>
              <a:rPr lang="en-US" dirty="0"/>
              <a:t>##</a:t>
            </a:r>
          </a:p>
        </p:txBody>
      </p:sp>
      <p:sp>
        <p:nvSpPr>
          <p:cNvPr id="1485826" name="Rectangle 2"/>
          <p:cNvSpPr>
            <a:spLocks noGrp="1" noRot="1" noChangeAspect="1" noChangeArrowheads="1" noTextEdit="1"/>
          </p:cNvSpPr>
          <p:nvPr>
            <p:ph type="sldImg"/>
          </p:nvPr>
        </p:nvSpPr>
        <p:spPr>
          <a:ln/>
        </p:spPr>
      </p:sp>
      <p:sp>
        <p:nvSpPr>
          <p:cNvPr id="1485827" name="Rectangle 3"/>
          <p:cNvSpPr>
            <a:spLocks noGrp="1" noChangeArrowheads="1"/>
          </p:cNvSpPr>
          <p:nvPr>
            <p:ph type="body" idx="1"/>
          </p:nvPr>
        </p:nvSpPr>
        <p:spPr/>
        <p:txBody>
          <a:bodyPr/>
          <a:lstStyle/>
          <a:p>
            <a:endParaRPr lang="bg-BG"/>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B67E8598-5825-4D66-B66B-1E37CA9143F4}" type="slidenum">
              <a:rPr lang="en-US"/>
              <a:pPr/>
              <a:t>48</a:t>
            </a:fld>
            <a:r>
              <a:rPr lang="en-US" dirty="0"/>
              <a:t>##</a:t>
            </a:r>
          </a:p>
        </p:txBody>
      </p:sp>
      <p:sp>
        <p:nvSpPr>
          <p:cNvPr id="1586178" name="Rectangle 2"/>
          <p:cNvSpPr>
            <a:spLocks noGrp="1" noRot="1" noChangeAspect="1" noChangeArrowheads="1" noTextEdit="1"/>
          </p:cNvSpPr>
          <p:nvPr>
            <p:ph type="sldImg"/>
          </p:nvPr>
        </p:nvSpPr>
        <p:spPr>
          <a:ln/>
        </p:spPr>
      </p:sp>
      <p:sp>
        <p:nvSpPr>
          <p:cNvPr id="1586179" name="Rectangle 3"/>
          <p:cNvSpPr>
            <a:spLocks noGrp="1" noChangeArrowheads="1"/>
          </p:cNvSpPr>
          <p:nvPr>
            <p:ph type="body" idx="1"/>
          </p:nvPr>
        </p:nvSpPr>
        <p:spPr/>
        <p:txBody>
          <a:bodyPr/>
          <a:lstStyle/>
          <a:p>
            <a:endParaRPr lang="bg-BG"/>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1E17FCDF-81CB-4EE1-B230-A8EA4C42372C}" type="slidenum">
              <a:rPr lang="en-US"/>
              <a:pPr/>
              <a:t>50</a:t>
            </a:fld>
            <a:r>
              <a:rPr lang="en-US" dirty="0"/>
              <a:t>##</a:t>
            </a:r>
          </a:p>
        </p:txBody>
      </p:sp>
      <p:sp>
        <p:nvSpPr>
          <p:cNvPr id="1492994" name="Rectangle 2"/>
          <p:cNvSpPr>
            <a:spLocks noGrp="1" noRot="1" noChangeAspect="1" noChangeArrowheads="1" noTextEdit="1"/>
          </p:cNvSpPr>
          <p:nvPr>
            <p:ph type="sldImg"/>
          </p:nvPr>
        </p:nvSpPr>
        <p:spPr>
          <a:ln/>
        </p:spPr>
      </p:sp>
      <p:sp>
        <p:nvSpPr>
          <p:cNvPr id="1492995" name="Rectangle 3"/>
          <p:cNvSpPr>
            <a:spLocks noGrp="1" noChangeArrowheads="1"/>
          </p:cNvSpPr>
          <p:nvPr>
            <p:ph type="body" idx="1"/>
          </p:nvPr>
        </p:nvSpPr>
        <p:spPr/>
        <p:txBody>
          <a:bodyPr/>
          <a:lstStyle/>
          <a:p>
            <a:endParaRPr lang="bg-BG"/>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248AF4AB-20B7-4C58-BE3A-97CF424D0847}" type="slidenum">
              <a:rPr lang="en-US"/>
              <a:pPr/>
              <a:t>51</a:t>
            </a:fld>
            <a:r>
              <a:rPr lang="en-US" dirty="0"/>
              <a:t>##</a:t>
            </a:r>
          </a:p>
        </p:txBody>
      </p:sp>
      <p:sp>
        <p:nvSpPr>
          <p:cNvPr id="1495042" name="Rectangle 2"/>
          <p:cNvSpPr>
            <a:spLocks noGrp="1" noRot="1" noChangeAspect="1" noChangeArrowheads="1" noTextEdit="1"/>
          </p:cNvSpPr>
          <p:nvPr>
            <p:ph type="sldImg"/>
          </p:nvPr>
        </p:nvSpPr>
        <p:spPr>
          <a:ln/>
        </p:spPr>
      </p:sp>
      <p:sp>
        <p:nvSpPr>
          <p:cNvPr id="1495043" name="Rectangle 3"/>
          <p:cNvSpPr>
            <a:spLocks noGrp="1" noChangeArrowheads="1"/>
          </p:cNvSpPr>
          <p:nvPr>
            <p:ph type="body" idx="1"/>
          </p:nvPr>
        </p:nvSpPr>
        <p:spPr/>
        <p:txBody>
          <a:bodyPr/>
          <a:lstStyle/>
          <a:p>
            <a:endParaRPr lang="bg-BG"/>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5" name="Rectangle 3"/>
          <p:cNvSpPr>
            <a:spLocks noGrp="1" noChangeArrowheads="1"/>
          </p:cNvSpPr>
          <p:nvPr>
            <p:ph type="dt" idx="1"/>
          </p:nvPr>
        </p:nvSpPr>
        <p:spPr>
          <a:ln/>
        </p:spPr>
        <p:txBody>
          <a:bodyPr/>
          <a:lstStyle/>
          <a:p>
            <a:r>
              <a:rPr lang="en-US" dirty="0"/>
              <a:t>07/16/96</a:t>
            </a:r>
          </a:p>
        </p:txBody>
      </p:sp>
      <p:sp>
        <p:nvSpPr>
          <p:cNvPr id="6" name="Rectangle 6"/>
          <p:cNvSpPr>
            <a:spLocks noGrp="1" noChangeArrowheads="1"/>
          </p:cNvSpPr>
          <p:nvPr>
            <p:ph type="ftr" sz="quarter" idx="4"/>
          </p:nvPr>
        </p:nvSpPr>
        <p:spPr>
          <a:ln/>
        </p:spPr>
        <p:txBody>
          <a:bodyPr/>
          <a:lstStyle/>
          <a:p>
            <a:r>
              <a:rPr lang="en-US" dirty="0"/>
              <a:t>(c) 2007 National Academy for Software Development - http://academy.devbg.org. All rights reserved. Unauthorized copying or re-distribution is strictly prohibited.*</a:t>
            </a:r>
          </a:p>
        </p:txBody>
      </p:sp>
      <p:sp>
        <p:nvSpPr>
          <p:cNvPr id="7" name="Rectangle 7"/>
          <p:cNvSpPr>
            <a:spLocks noGrp="1" noChangeArrowheads="1"/>
          </p:cNvSpPr>
          <p:nvPr>
            <p:ph type="sldNum" sz="quarter" idx="5"/>
          </p:nvPr>
        </p:nvSpPr>
        <p:spPr>
          <a:ln/>
        </p:spPr>
        <p:txBody>
          <a:bodyPr/>
          <a:lstStyle/>
          <a:p>
            <a:fld id="{1E17FCDF-81CB-4EE1-B230-A8EA4C42372C}" type="slidenum">
              <a:rPr lang="en-US"/>
              <a:pPr/>
              <a:t>53</a:t>
            </a:fld>
            <a:r>
              <a:rPr lang="en-US" dirty="0"/>
              <a:t>##</a:t>
            </a:r>
          </a:p>
        </p:txBody>
      </p:sp>
      <p:sp>
        <p:nvSpPr>
          <p:cNvPr id="1492994" name="Rectangle 2"/>
          <p:cNvSpPr>
            <a:spLocks noGrp="1" noRot="1" noChangeAspect="1" noChangeArrowheads="1" noTextEdit="1"/>
          </p:cNvSpPr>
          <p:nvPr>
            <p:ph type="sldImg"/>
          </p:nvPr>
        </p:nvSpPr>
        <p:spPr>
          <a:ln/>
        </p:spPr>
      </p:sp>
      <p:sp>
        <p:nvSpPr>
          <p:cNvPr id="1492995" name="Rectangle 3"/>
          <p:cNvSpPr>
            <a:spLocks noGrp="1" noChangeArrowheads="1"/>
          </p:cNvSpPr>
          <p:nvPr>
            <p:ph type="body" idx="1"/>
          </p:nvPr>
        </p:nvSpPr>
        <p:spPr/>
        <p:txBody>
          <a:bodyPr/>
          <a:lstStyle/>
          <a:p>
            <a:endParaRPr lang="bg-BG"/>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teleri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www.telerik.com/"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Presentation Title Slide">
    <p:spTree>
      <p:nvGrpSpPr>
        <p:cNvPr id="1" name=""/>
        <p:cNvGrpSpPr/>
        <p:nvPr/>
      </p:nvGrpSpPr>
      <p:grpSpPr>
        <a:xfrm>
          <a:off x="0" y="0"/>
          <a:ext cx="0" cy="0"/>
          <a:chOff x="0" y="0"/>
          <a:chExt cx="0" cy="0"/>
        </a:xfrm>
      </p:grpSpPr>
      <p:sp>
        <p:nvSpPr>
          <p:cNvPr id="6" name="Title 8"/>
          <p:cNvSpPr>
            <a:spLocks noGrp="1"/>
          </p:cNvSpPr>
          <p:nvPr>
            <p:ph type="ctrTitle" hasCustomPrompt="1"/>
          </p:nvPr>
        </p:nvSpPr>
        <p:spPr>
          <a:xfrm>
            <a:off x="457200" y="1524000"/>
            <a:ext cx="8229600" cy="1524000"/>
          </a:xfrm>
          <a:prstGeom prst="rect">
            <a:avLst/>
          </a:prstGeom>
        </p:spPr>
        <p:txBody>
          <a:bodyPr tIns="0" bIns="0" anchor="b" anchorCtr="0"/>
          <a:lstStyle>
            <a:lvl1pPr algn="r">
              <a:lnSpc>
                <a:spcPts val="5400"/>
              </a:lnSpc>
              <a:defRPr sz="5400" cap="none" baseline="0">
                <a:solidFill>
                  <a:srgbClr val="D4FF5B"/>
                </a:solidFill>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US" dirty="0" smtClean="0"/>
              <a:t>Presentation Title</a:t>
            </a:r>
            <a:endParaRPr lang="en-US" dirty="0"/>
          </a:p>
        </p:txBody>
      </p:sp>
      <p:sp>
        <p:nvSpPr>
          <p:cNvPr id="7" name="Subtitle 16"/>
          <p:cNvSpPr>
            <a:spLocks noGrp="1"/>
          </p:cNvSpPr>
          <p:nvPr>
            <p:ph type="subTitle" idx="1" hasCustomPrompt="1"/>
          </p:nvPr>
        </p:nvSpPr>
        <p:spPr>
          <a:xfrm>
            <a:off x="457200" y="3240880"/>
            <a:ext cx="8229600" cy="569120"/>
          </a:xfrm>
          <a:prstGeom prst="rect">
            <a:avLst/>
          </a:prstGeom>
        </p:spPr>
        <p:txBody>
          <a:bodyPr lIns="90000" tIns="0" rIns="90000" bIns="0" anchor="ctr" anchorCtr="0"/>
          <a:lstStyle>
            <a:lvl1pPr marL="0" indent="0" algn="r">
              <a:buNone/>
              <a:defRPr sz="2800">
                <a:solidFill>
                  <a:srgbClr val="FAF8C8"/>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smtClean="0"/>
              <a:t>Presentation Subtitle</a:t>
            </a:r>
            <a:endParaRPr lang="en-US" dirty="0"/>
          </a:p>
        </p:txBody>
      </p:sp>
      <p:cxnSp>
        <p:nvCxnSpPr>
          <p:cNvPr id="11" name="Straight Connector 10"/>
          <p:cNvCxnSpPr/>
          <p:nvPr/>
        </p:nvCxnSpPr>
        <p:spPr>
          <a:xfrm>
            <a:off x="2667000" y="4114800"/>
            <a:ext cx="6248400" cy="0"/>
          </a:xfrm>
          <a:prstGeom prst="line">
            <a:avLst/>
          </a:prstGeom>
          <a:ln w="38100" cap="rnd">
            <a:solidFill>
              <a:schemeClr val="accent5">
                <a:lumMod val="20000"/>
                <a:lumOff val="80000"/>
                <a:alpha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Text Placeholder 13"/>
          <p:cNvSpPr>
            <a:spLocks noGrp="1"/>
          </p:cNvSpPr>
          <p:nvPr>
            <p:ph type="body" sz="quarter" idx="10" hasCustomPrompt="1"/>
          </p:nvPr>
        </p:nvSpPr>
        <p:spPr>
          <a:xfrm>
            <a:off x="457200" y="5224046"/>
            <a:ext cx="3352800" cy="533400"/>
          </a:xfrm>
          <a:prstGeom prst="rect">
            <a:avLst/>
          </a:prstGeom>
          <a:noFill/>
        </p:spPr>
        <p:txBody>
          <a:bodyPr wrap="square" rtlCol="0">
            <a:spAutoFit/>
          </a:bodyPr>
          <a:lstStyle>
            <a:lvl1pPr algn="l" rtl="0" fontAlgn="base">
              <a:spcBef>
                <a:spcPct val="0"/>
              </a:spcBef>
              <a:spcAft>
                <a:spcPct val="0"/>
              </a:spcAft>
              <a:buNone/>
              <a:defRPr lang="en-US" sz="2800" b="1" kern="1200" dirty="0" smtClean="0">
                <a:solidFill>
                  <a:srgbClr val="DEFF9B"/>
                </a:solidFill>
                <a:effectLst>
                  <a:outerShdw blurRad="38100" dist="38100" dir="2700000" algn="tl">
                    <a:srgbClr val="000000">
                      <a:alpha val="43137"/>
                    </a:srgbClr>
                  </a:outerShdw>
                </a:effectLst>
                <a:latin typeface="Corbel" pitchFamily="34" charset="0"/>
                <a:ea typeface="+mn-ea"/>
                <a:cs typeface="+mn-cs"/>
              </a:defRPr>
            </a:lvl1pPr>
          </a:lstStyle>
          <a:p>
            <a:pPr lvl="0"/>
            <a:r>
              <a:rPr lang="en-US" dirty="0" smtClean="0"/>
              <a:t>Author Name</a:t>
            </a:r>
            <a:endParaRPr lang="en-US" dirty="0"/>
          </a:p>
        </p:txBody>
      </p:sp>
      <p:sp>
        <p:nvSpPr>
          <p:cNvPr id="15" name="Text Placeholder 13"/>
          <p:cNvSpPr>
            <a:spLocks noGrp="1"/>
          </p:cNvSpPr>
          <p:nvPr>
            <p:ph type="body" sz="quarter" idx="11" hasCustomPrompt="1"/>
          </p:nvPr>
        </p:nvSpPr>
        <p:spPr>
          <a:xfrm>
            <a:off x="457200" y="5757446"/>
            <a:ext cx="2090957" cy="369332"/>
          </a:xfrm>
          <a:prstGeom prst="rect">
            <a:avLst/>
          </a:prstGeom>
          <a:noFill/>
        </p:spPr>
        <p:txBody>
          <a:bodyPr wrap="none" rtlCol="0">
            <a:spAutoFit/>
          </a:bodyPr>
          <a:lstStyle>
            <a:lvl1pPr algn="l" rtl="0" fontAlgn="base">
              <a:spcBef>
                <a:spcPct val="0"/>
              </a:spcBef>
              <a:spcAft>
                <a:spcPct val="0"/>
              </a:spcAft>
              <a:buNone/>
              <a:defRPr lang="en-US" sz="18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algn="l"/>
            <a:r>
              <a:rPr lang="en-US" sz="1800" b="1" dirty="0" smtClean="0">
                <a:solidFill>
                  <a:srgbClr val="0EFE58"/>
                </a:solidFill>
                <a:effectLst>
                  <a:outerShdw blurRad="38100" dist="38100" dir="2700000" algn="tl">
                    <a:srgbClr val="000000">
                      <a:alpha val="43137"/>
                    </a:srgbClr>
                  </a:outerShdw>
                </a:effectLst>
              </a:rPr>
              <a:t>Telerik Corporation</a:t>
            </a:r>
            <a:endParaRPr lang="en-US" sz="1800" b="1" dirty="0">
              <a:solidFill>
                <a:srgbClr val="0EFE58"/>
              </a:solidFill>
              <a:effectLst>
                <a:outerShdw blurRad="38100" dist="38100" dir="2700000" algn="tl">
                  <a:srgbClr val="000000">
                    <a:alpha val="43137"/>
                  </a:srgbClr>
                </a:outerShdw>
              </a:effectLst>
            </a:endParaRPr>
          </a:p>
        </p:txBody>
      </p:sp>
      <p:sp>
        <p:nvSpPr>
          <p:cNvPr id="16" name="Text Placeholder 13"/>
          <p:cNvSpPr>
            <a:spLocks noGrp="1"/>
          </p:cNvSpPr>
          <p:nvPr>
            <p:ph type="body" sz="quarter" idx="12" hasCustomPrompt="1"/>
          </p:nvPr>
        </p:nvSpPr>
        <p:spPr>
          <a:xfrm>
            <a:off x="457200" y="6062246"/>
            <a:ext cx="1707903" cy="338554"/>
          </a:xfrm>
          <a:prstGeom prst="rect">
            <a:avLst/>
          </a:prstGeom>
          <a:noFill/>
        </p:spPr>
        <p:txBody>
          <a:bodyPr wrap="square" rtlCol="0">
            <a:spAutoFit/>
          </a:bodyPr>
          <a:lstStyle>
            <a:lvl1pPr algn="l" rtl="0" fontAlgn="base">
              <a:spcBef>
                <a:spcPct val="0"/>
              </a:spcBef>
              <a:spcAft>
                <a:spcPct val="0"/>
              </a:spcAft>
              <a:buNone/>
              <a:defRPr lang="en-US" sz="16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algn="l"/>
            <a:r>
              <a:rPr lang="en-US" sz="1600" b="1" dirty="0" smtClean="0">
                <a:solidFill>
                  <a:schemeClr val="tx1">
                    <a:lumMod val="50000"/>
                  </a:schemeClr>
                </a:solidFill>
                <a:effectLst>
                  <a:outerShdw blurRad="38100" dist="38100" dir="2700000" algn="tl">
                    <a:srgbClr val="000000">
                      <a:alpha val="43137"/>
                    </a:srgbClr>
                  </a:outerShdw>
                </a:effectLst>
                <a:hlinkClick r:id="rId2"/>
              </a:rPr>
              <a:t>www.telerik.com</a:t>
            </a:r>
            <a:endParaRPr lang="en-US" sz="1600" b="1" dirty="0">
              <a:solidFill>
                <a:schemeClr val="tx1">
                  <a:lumMod val="50000"/>
                </a:schemeClr>
              </a:solidFill>
              <a:effectLst>
                <a:outerShdw blurRad="38100" dist="38100" dir="2700000" algn="tl">
                  <a:srgbClr val="000000">
                    <a:alpha val="43137"/>
                  </a:srgbClr>
                </a:outerShdw>
              </a:effectLst>
            </a:endParaRPr>
          </a:p>
        </p:txBody>
      </p:sp>
      <p:cxnSp>
        <p:nvCxnSpPr>
          <p:cNvPr id="8" name="Straight Connector 7"/>
          <p:cNvCxnSpPr/>
          <p:nvPr userDrawn="1"/>
        </p:nvCxnSpPr>
        <p:spPr>
          <a:xfrm>
            <a:off x="2667000" y="4114800"/>
            <a:ext cx="6248400" cy="0"/>
          </a:xfrm>
          <a:prstGeom prst="line">
            <a:avLst/>
          </a:prstGeom>
          <a:ln w="38100" cap="rnd">
            <a:solidFill>
              <a:schemeClr val="accent5">
                <a:lumMod val="20000"/>
                <a:lumOff val="80000"/>
                <a:alpha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28800" y="76200"/>
            <a:ext cx="7086600" cy="914400"/>
          </a:xfrm>
          <a:prstGeom prst="rect">
            <a:avLst/>
          </a:prstGeom>
        </p:spPr>
        <p:txBody>
          <a:bodyPr anchor="ctr" anchorCtr="0">
            <a:noAutofit/>
          </a:bodyPr>
          <a:lstStyle>
            <a:lvl1pPr algn="r" rtl="0" eaLnBrk="0" fontAlgn="base" hangingPunct="0">
              <a:lnSpc>
                <a:spcPts val="4000"/>
              </a:lnSpc>
              <a:spcBef>
                <a:spcPct val="0"/>
              </a:spcBef>
              <a:spcAft>
                <a:spcPct val="0"/>
              </a:spcAft>
              <a:defRPr lang="en-US" sz="4000" b="1" kern="1200" baseline="0" dirty="0">
                <a:ln w="500">
                  <a:noFill/>
                </a:ln>
                <a:solidFill>
                  <a:schemeClr val="tx2"/>
                </a:solidFill>
                <a:effectLst>
                  <a:outerShdw blurRad="38100" dist="38100" dir="2700000" algn="tl">
                    <a:srgbClr val="000000">
                      <a:alpha val="43137"/>
                    </a:srgbClr>
                  </a:outerShdw>
                  <a:reflection blurRad="12700" stA="20000" endPos="50000" dist="12700" dir="5400000" sy="-100000" algn="bl" rotWithShape="0"/>
                </a:effectLst>
                <a:latin typeface="+mj-lt"/>
                <a:ea typeface="+mj-ea"/>
                <a:cs typeface="+mj-cs"/>
              </a:defRPr>
            </a:lvl1pPr>
          </a:lstStyle>
          <a:p>
            <a:r>
              <a:rPr lang="en-US" dirty="0" smtClean="0"/>
              <a:t>Slide Title</a:t>
            </a:r>
            <a:endParaRPr lang="en-US" dirty="0"/>
          </a:p>
        </p:txBody>
      </p:sp>
      <p:sp>
        <p:nvSpPr>
          <p:cNvPr id="3" name="Content Placeholder 2"/>
          <p:cNvSpPr>
            <a:spLocks noGrp="1"/>
          </p:cNvSpPr>
          <p:nvPr>
            <p:ph idx="1" hasCustomPrompt="1"/>
          </p:nvPr>
        </p:nvSpPr>
        <p:spPr>
          <a:xfrm>
            <a:off x="228600" y="1066800"/>
            <a:ext cx="8686800" cy="5638800"/>
          </a:xfrm>
          <a:prstGeom prst="rect">
            <a:avLst/>
          </a:prstGeom>
        </p:spPr>
        <p:txBody>
          <a:bodyPr/>
          <a:lstStyle>
            <a:lvl1pPr marL="282575" indent="-282575">
              <a:lnSpc>
                <a:spcPts val="3800"/>
              </a:lnSpc>
              <a:spcBef>
                <a:spcPts val="600"/>
              </a:spcBef>
              <a:spcAft>
                <a:spcPts val="600"/>
              </a:spcAft>
              <a:buClr>
                <a:schemeClr val="accent5">
                  <a:lumMod val="40000"/>
                  <a:lumOff val="60000"/>
                </a:schemeClr>
              </a:buClr>
              <a:tabLst>
                <a:tab pos="282575" algn="l"/>
              </a:tabLst>
              <a:defRPr sz="3200">
                <a:solidFill>
                  <a:srgbClr val="EBFFD2"/>
                </a:solidFill>
              </a:defRPr>
            </a:lvl1pPr>
            <a:lvl2pPr>
              <a:lnSpc>
                <a:spcPts val="3800"/>
              </a:lnSpc>
              <a:spcBef>
                <a:spcPts val="600"/>
              </a:spcBef>
              <a:spcAft>
                <a:spcPts val="600"/>
              </a:spcAft>
              <a:buClr>
                <a:srgbClr val="8FD600"/>
              </a:buClr>
              <a:defRPr sz="3000">
                <a:solidFill>
                  <a:schemeClr val="tx1">
                    <a:lumMod val="40000"/>
                    <a:lumOff val="60000"/>
                  </a:schemeClr>
                </a:solidFill>
              </a:defRPr>
            </a:lvl2pPr>
            <a:lvl3pPr>
              <a:lnSpc>
                <a:spcPts val="3800"/>
              </a:lnSpc>
              <a:spcBef>
                <a:spcPts val="600"/>
              </a:spcBef>
              <a:spcAft>
                <a:spcPts val="600"/>
              </a:spcAft>
              <a:buClr>
                <a:srgbClr val="FFAD9F"/>
              </a:buClr>
              <a:defRPr sz="2800">
                <a:solidFill>
                  <a:srgbClr val="F5FFC2"/>
                </a:solidFill>
              </a:defRPr>
            </a:lvl3pPr>
            <a:lvl4pPr>
              <a:lnSpc>
                <a:spcPts val="3800"/>
              </a:lnSpc>
              <a:spcBef>
                <a:spcPts val="600"/>
              </a:spcBef>
              <a:spcAft>
                <a:spcPts val="600"/>
              </a:spcAft>
              <a:buClr>
                <a:srgbClr val="FACF82"/>
              </a:buClr>
              <a:defRPr sz="2600">
                <a:solidFill>
                  <a:schemeClr val="tx1">
                    <a:lumMod val="40000"/>
                    <a:lumOff val="60000"/>
                  </a:schemeClr>
                </a:solidFill>
              </a:defRPr>
            </a:lvl4pPr>
            <a:lvl5pPr>
              <a:lnSpc>
                <a:spcPts val="3800"/>
              </a:lnSpc>
              <a:spcBef>
                <a:spcPts val="600"/>
              </a:spcBef>
              <a:spcAft>
                <a:spcPts val="600"/>
              </a:spcAft>
              <a:defRPr sz="2400">
                <a:solidFill>
                  <a:schemeClr val="tx1">
                    <a:lumMod val="40000"/>
                    <a:lumOff val="60000"/>
                  </a:schemeClr>
                </a:solidFill>
              </a:defRPr>
            </a:lvl5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5"/>
          <p:cNvSpPr>
            <a:spLocks noGrp="1"/>
          </p:cNvSpPr>
          <p:nvPr>
            <p:ph type="sldNum" sz="quarter" idx="10"/>
          </p:nvPr>
        </p:nvSpPr>
        <p:spPr>
          <a:xfrm>
            <a:off x="8610600" y="6553200"/>
            <a:ext cx="457200" cy="228600"/>
          </a:xfrm>
          <a:prstGeom prst="rect">
            <a:avLst/>
          </a:prstGeom>
        </p:spPr>
        <p:txBody>
          <a:bodyPr anchor="ctr" anchorCtr="0"/>
          <a:lstStyle>
            <a:lvl1pPr algn="r">
              <a:defRPr sz="1100"/>
            </a:lvl1pPr>
          </a:lstStyle>
          <a:p>
            <a:pPr>
              <a:defRPr/>
            </a:pPr>
            <a:fld id="{58452FF4-89E3-4D1B-9927-2DBDC00E58D7}" type="slidenum">
              <a:rPr lang="en-US" smtClean="0"/>
              <a:pPr>
                <a:defRPr/>
              </a:pPr>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hasCustomPrompt="1"/>
          </p:nvPr>
        </p:nvSpPr>
        <p:spPr>
          <a:xfrm>
            <a:off x="609600" y="2743201"/>
            <a:ext cx="7924800" cy="685800"/>
          </a:xfrm>
          <a:prstGeom prst="rect">
            <a:avLst/>
          </a:prstGeom>
        </p:spPr>
        <p:txBody>
          <a:bodyPr tIns="0" bIns="0" anchor="ctr" anchorCtr="0"/>
          <a:lstStyle>
            <a:lvl1pPr algn="ctr">
              <a:lnSpc>
                <a:spcPts val="5000"/>
              </a:lnSpc>
              <a:defRPr sz="5000" cap="none" baseline="0">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US" dirty="0" smtClean="0"/>
              <a:t>Section Title</a:t>
            </a:r>
            <a:endParaRPr lang="en-US" dirty="0"/>
          </a:p>
        </p:txBody>
      </p:sp>
      <p:sp>
        <p:nvSpPr>
          <p:cNvPr id="17" name="Subtitle 16"/>
          <p:cNvSpPr>
            <a:spLocks noGrp="1"/>
          </p:cNvSpPr>
          <p:nvPr>
            <p:ph type="subTitle" idx="1" hasCustomPrompt="1"/>
          </p:nvPr>
        </p:nvSpPr>
        <p:spPr>
          <a:xfrm>
            <a:off x="609600" y="3469480"/>
            <a:ext cx="7924800" cy="569120"/>
          </a:xfrm>
          <a:prstGeom prst="rect">
            <a:avLst/>
          </a:prstGeom>
        </p:spPr>
        <p:txBody>
          <a:bodyPr lIns="0" tIns="0" rIns="0" bIns="0" anchor="ctr" anchorCtr="0"/>
          <a:lstStyle>
            <a:lvl1pPr marL="0" indent="0" algn="ctr" rtl="0" eaLnBrk="0" fontAlgn="base" hangingPunct="0">
              <a:spcBef>
                <a:spcPct val="20000"/>
              </a:spcBef>
              <a:spcAft>
                <a:spcPct val="0"/>
              </a:spcAft>
              <a:buClr>
                <a:schemeClr val="accent5">
                  <a:lumMod val="40000"/>
                  <a:lumOff val="60000"/>
                </a:schemeClr>
              </a:buClr>
              <a:buSzPct val="70000"/>
              <a:buFont typeface="Wingdings 2" pitchFamily="18" charset="2"/>
              <a:buNone/>
              <a:defRPr lang="en-US" sz="2800" b="1" kern="1200" baseline="0" dirty="0">
                <a:solidFill>
                  <a:srgbClr val="FAF7C8"/>
                </a:solidFill>
                <a:effectLst>
                  <a:outerShdw blurRad="38100" dist="38100" dir="2700000" algn="tl">
                    <a:srgbClr val="000000">
                      <a:alpha val="43137"/>
                    </a:srgbClr>
                  </a:outerShdw>
                </a:effectLst>
                <a:latin typeface="+mn-lt"/>
                <a:ea typeface="+mn-ea"/>
                <a:cs typeface="+mn-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smtClean="0"/>
              <a:t>Section Subtitle</a:t>
            </a:r>
            <a:endParaRPr 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ource Code Exampl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828800" y="76200"/>
            <a:ext cx="7086600" cy="914400"/>
          </a:xfrm>
          <a:prstGeom prst="rect">
            <a:avLst/>
          </a:prstGeom>
        </p:spPr>
        <p:txBody>
          <a:bodyPr anchor="ctr" anchorCtr="0">
            <a:noAutofit/>
          </a:bodyPr>
          <a:lstStyle>
            <a:lvl1pPr>
              <a:lnSpc>
                <a:spcPts val="4000"/>
              </a:lnSpc>
              <a:defRPr sz="4000">
                <a:effectLst>
                  <a:outerShdw blurRad="38100" dist="38100" dir="2700000" algn="tl">
                    <a:srgbClr val="000000">
                      <a:alpha val="43137"/>
                    </a:srgbClr>
                  </a:outerShdw>
                  <a:reflection blurRad="12700" stA="20000" endPos="50000" dist="12700" dir="5400000" sy="-100000" algn="bl" rotWithShape="0"/>
                </a:effectLst>
              </a:defRPr>
            </a:lvl1pPr>
          </a:lstStyle>
          <a:p>
            <a:r>
              <a:rPr lang="en-US" dirty="0" smtClean="0"/>
              <a:t>Slide Title</a:t>
            </a:r>
            <a:endParaRPr lang="en-US" dirty="0"/>
          </a:p>
        </p:txBody>
      </p:sp>
      <p:sp>
        <p:nvSpPr>
          <p:cNvPr id="4" name="Content Placeholder 2"/>
          <p:cNvSpPr>
            <a:spLocks noGrp="1"/>
          </p:cNvSpPr>
          <p:nvPr>
            <p:ph idx="1" hasCustomPrompt="1"/>
          </p:nvPr>
        </p:nvSpPr>
        <p:spPr>
          <a:xfrm>
            <a:off x="228600" y="1066800"/>
            <a:ext cx="8686800" cy="579646"/>
          </a:xfrm>
          <a:prstGeom prst="rect">
            <a:avLst/>
          </a:prstGeom>
        </p:spPr>
        <p:txBody>
          <a:bodyPr>
            <a:spAutoFit/>
          </a:bodyPr>
          <a:lstStyle>
            <a:lvl1pPr marL="319088" marR="0" indent="-319088" algn="l" defTabSz="914400" rtl="0" eaLnBrk="0" fontAlgn="base" latinLnBrk="0" hangingPunct="0">
              <a:lnSpc>
                <a:spcPct val="100000"/>
              </a:lnSpc>
              <a:spcBef>
                <a:spcPct val="20000"/>
              </a:spcBef>
              <a:spcAft>
                <a:spcPct val="0"/>
              </a:spcAft>
              <a:buClr>
                <a:srgbClr val="46A6BD">
                  <a:lumMod val="40000"/>
                  <a:lumOff val="60000"/>
                </a:srgbClr>
              </a:buClr>
              <a:buSzPct val="70000"/>
              <a:buFont typeface="Wingdings 2" pitchFamily="18" charset="2"/>
              <a:buChar char=""/>
              <a:tabLst/>
              <a:defRPr sz="3000" baseline="0">
                <a:solidFill>
                  <a:schemeClr val="tx1">
                    <a:lumMod val="40000"/>
                    <a:lumOff val="60000"/>
                  </a:schemeClr>
                </a:solidFill>
              </a:defRPr>
            </a:lvl1pPr>
            <a:lvl2pPr>
              <a:lnSpc>
                <a:spcPts val="3800"/>
              </a:lnSpc>
              <a:spcBef>
                <a:spcPts val="600"/>
              </a:spcBef>
              <a:spcAft>
                <a:spcPts val="600"/>
              </a:spcAft>
              <a:buClr>
                <a:srgbClr val="8FD600"/>
              </a:buClr>
              <a:defRPr sz="3000">
                <a:solidFill>
                  <a:schemeClr val="tx1">
                    <a:lumMod val="40000"/>
                    <a:lumOff val="60000"/>
                  </a:schemeClr>
                </a:solidFill>
              </a:defRPr>
            </a:lvl2pPr>
            <a:lvl3pPr>
              <a:lnSpc>
                <a:spcPts val="3800"/>
              </a:lnSpc>
              <a:spcBef>
                <a:spcPts val="600"/>
              </a:spcBef>
              <a:spcAft>
                <a:spcPts val="600"/>
              </a:spcAft>
              <a:buClr>
                <a:srgbClr val="FFAD9F"/>
              </a:buClr>
              <a:defRPr sz="2800">
                <a:solidFill>
                  <a:schemeClr val="tx1">
                    <a:lumMod val="40000"/>
                    <a:lumOff val="60000"/>
                  </a:schemeClr>
                </a:solidFill>
              </a:defRPr>
            </a:lvl3pPr>
            <a:lvl4pPr>
              <a:lnSpc>
                <a:spcPts val="3800"/>
              </a:lnSpc>
              <a:spcBef>
                <a:spcPts val="600"/>
              </a:spcBef>
              <a:spcAft>
                <a:spcPts val="600"/>
              </a:spcAft>
              <a:buClr>
                <a:srgbClr val="FACF82"/>
              </a:buClr>
              <a:defRPr sz="2600">
                <a:solidFill>
                  <a:schemeClr val="tx1">
                    <a:lumMod val="40000"/>
                    <a:lumOff val="60000"/>
                  </a:schemeClr>
                </a:solidFill>
              </a:defRPr>
            </a:lvl4pPr>
            <a:lvl5pPr>
              <a:lnSpc>
                <a:spcPts val="3800"/>
              </a:lnSpc>
              <a:spcBef>
                <a:spcPts val="600"/>
              </a:spcBef>
              <a:spcAft>
                <a:spcPts val="600"/>
              </a:spcAft>
              <a:defRPr sz="2400">
                <a:solidFill>
                  <a:schemeClr val="tx1">
                    <a:lumMod val="40000"/>
                    <a:lumOff val="60000"/>
                  </a:schemeClr>
                </a:solidFill>
              </a:defRPr>
            </a:lvl5pPr>
          </a:lstStyle>
          <a:p>
            <a:pPr marL="319088" marR="0" lvl="0" indent="-319088" algn="l" defTabSz="914400" rtl="0" eaLnBrk="0" fontAlgn="base" latinLnBrk="0" hangingPunct="0">
              <a:lnSpc>
                <a:spcPct val="100000"/>
              </a:lnSpc>
              <a:spcBef>
                <a:spcPct val="20000"/>
              </a:spcBef>
              <a:spcAft>
                <a:spcPct val="0"/>
              </a:spcAft>
              <a:buClr>
                <a:srgbClr val="46A6BD">
                  <a:lumMod val="40000"/>
                  <a:lumOff val="60000"/>
                </a:srgbClr>
              </a:buClr>
              <a:buSzPct val="70000"/>
              <a:buFont typeface="Wingdings 2" pitchFamily="18" charset="2"/>
              <a:buChar char=""/>
              <a:tabLst/>
              <a:defRPr/>
            </a:pPr>
            <a:r>
              <a:rPr kumimoji="0" lang="en-US" sz="3200" b="1" i="0" u="none" strike="noStrike" kern="1200" cap="none" spc="0" normalizeH="0" baseline="0" noProof="0" dirty="0" smtClean="0">
                <a:ln>
                  <a:noFill/>
                </a:ln>
                <a:solidFill>
                  <a:srgbClr val="CCFF66">
                    <a:lumMod val="20000"/>
                    <a:lumOff val="80000"/>
                  </a:srgbClr>
                </a:solidFill>
                <a:effectLst>
                  <a:outerShdw blurRad="38100" dist="38100" dir="2700000" algn="tl">
                    <a:srgbClr val="000000">
                      <a:alpha val="43137"/>
                    </a:srgbClr>
                  </a:outerShdw>
                </a:effectLst>
                <a:uLnTx/>
                <a:uFillTx/>
                <a:latin typeface="+mn-lt"/>
                <a:ea typeface="+mn-ea"/>
                <a:cs typeface="+mn-cs"/>
              </a:rPr>
              <a:t>First Level</a:t>
            </a:r>
          </a:p>
        </p:txBody>
      </p:sp>
      <p:sp>
        <p:nvSpPr>
          <p:cNvPr id="6" name="Text Placeholder 5"/>
          <p:cNvSpPr>
            <a:spLocks noGrp="1"/>
          </p:cNvSpPr>
          <p:nvPr>
            <p:ph type="body" sz="quarter" idx="10" hasCustomPrompt="1"/>
          </p:nvPr>
        </p:nvSpPr>
        <p:spPr>
          <a:xfrm>
            <a:off x="457200" y="1828800"/>
            <a:ext cx="8153400" cy="470898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lvl1pPr marL="0" indent="0" algn="l">
              <a:spcBef>
                <a:spcPts val="0"/>
              </a:spcBef>
              <a:buNone/>
              <a:defRPr lang="en-US" sz="2000" smtClean="0">
                <a:solidFill>
                  <a:srgbClr val="8CF4F2"/>
                </a:solidFill>
                <a:latin typeface="Consolas" pitchFamily="49" charset="0"/>
                <a:cs typeface="Consolas" pitchFamily="49" charset="0"/>
              </a:defRPr>
            </a:lvl1pPr>
          </a:lstStyle>
          <a:p>
            <a:pPr lvl="0"/>
            <a:r>
              <a:rPr lang="en-US" noProof="1" smtClean="0"/>
              <a:t>Source code box</a:t>
            </a:r>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p:txBody>
      </p:sp>
      <p:sp>
        <p:nvSpPr>
          <p:cNvPr id="8" name="Slide Number Placeholder 7"/>
          <p:cNvSpPr>
            <a:spLocks noGrp="1"/>
          </p:cNvSpPr>
          <p:nvPr>
            <p:ph type="sldNum" sz="quarter" idx="11"/>
          </p:nvPr>
        </p:nvSpPr>
        <p:spPr/>
        <p:txBody>
          <a:bodyPr/>
          <a:lstStyle/>
          <a:p>
            <a:pPr>
              <a:defRPr/>
            </a:pPr>
            <a:fld id="{58452FF4-89E3-4D1B-9927-2DBDC00E58D7}" type="slidenum">
              <a:rPr lang="en-US" smtClean="0"/>
              <a:pPr>
                <a:defRPr/>
              </a:pPr>
              <a:t>‹#›</a:t>
            </a:fld>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estions Slid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1828800" y="152400"/>
            <a:ext cx="7086600" cy="914400"/>
          </a:xfrm>
          <a:prstGeom prst="rect">
            <a:avLst/>
          </a:prstGeom>
        </p:spPr>
        <p:txBody>
          <a:bodyPr anchor="ctr" anchorCtr="0">
            <a:noAutofit/>
          </a:bodyPr>
          <a:lstStyle>
            <a:lvl1pPr algn="r" rtl="0" eaLnBrk="0" fontAlgn="base" hangingPunct="0">
              <a:lnSpc>
                <a:spcPts val="4000"/>
              </a:lnSpc>
              <a:spcBef>
                <a:spcPct val="0"/>
              </a:spcBef>
              <a:spcAft>
                <a:spcPct val="0"/>
              </a:spcAft>
              <a:defRPr lang="en-US" sz="4000" b="1" kern="1200" baseline="0" dirty="0">
                <a:ln w="500">
                  <a:noFill/>
                </a:ln>
                <a:solidFill>
                  <a:schemeClr val="tx2"/>
                </a:solidFill>
                <a:effectLst>
                  <a:outerShdw blurRad="38100" dist="38100" dir="2700000" algn="tl">
                    <a:srgbClr val="000000">
                      <a:alpha val="43137"/>
                    </a:srgbClr>
                  </a:outerShdw>
                  <a:reflection blurRad="12700" stA="20000" endPos="50000" dist="12700" dir="5400000" sy="-100000" algn="bl" rotWithShape="0"/>
                </a:effectLst>
                <a:latin typeface="+mj-lt"/>
                <a:ea typeface="+mj-ea"/>
                <a:cs typeface="+mj-cs"/>
              </a:defRPr>
            </a:lvl1pPr>
          </a:lstStyle>
          <a:p>
            <a:r>
              <a:rPr lang="en-US" dirty="0" smtClean="0"/>
              <a:t>Presentation Title</a:t>
            </a:r>
            <a:endParaRPr lang="en-US" dirty="0"/>
          </a:p>
        </p:txBody>
      </p:sp>
      <p:sp>
        <p:nvSpPr>
          <p:cNvPr id="10" name="TextBox 9"/>
          <p:cNvSpPr txBox="1"/>
          <p:nvPr/>
        </p:nvSpPr>
        <p:spPr>
          <a:xfrm>
            <a:off x="1295400" y="2438400"/>
            <a:ext cx="6400800" cy="2097345"/>
          </a:xfrm>
          <a:prstGeom prst="rect">
            <a:avLst/>
          </a:prstGeom>
        </p:spPr>
        <p:txBody>
          <a:bodyPr anchor="ctr" anchorCtr="0"/>
          <a:lstStyle/>
          <a:p>
            <a:pPr marL="319088" marR="0" lvl="0" indent="-319088" algn="ctr" defTabSz="914400" rtl="0" eaLnBrk="0" fontAlgn="base" latinLnBrk="0" hangingPunct="0">
              <a:lnSpc>
                <a:spcPct val="100000"/>
              </a:lnSpc>
              <a:spcBef>
                <a:spcPct val="20000"/>
              </a:spcBef>
              <a:spcAft>
                <a:spcPct val="0"/>
              </a:spcAft>
              <a:buClr>
                <a:schemeClr val="accent5">
                  <a:lumMod val="40000"/>
                  <a:lumOff val="60000"/>
                </a:schemeClr>
              </a:buClr>
              <a:buSzPct val="70000"/>
              <a:buFont typeface="Wingdings 2" pitchFamily="18" charset="2"/>
              <a:buNone/>
              <a:tabLst/>
              <a:defRPr/>
            </a:pPr>
            <a:r>
              <a:rPr lang="en-US" sz="8000" b="1" kern="1200" dirty="0" smtClean="0">
                <a:solidFill>
                  <a:srgbClr val="E8FFC8"/>
                </a:solidFill>
                <a:effectLst>
                  <a:outerShdw blurRad="38100" dist="38100" dir="2700000" algn="tl">
                    <a:srgbClr val="000000">
                      <a:alpha val="43137"/>
                    </a:srgbClr>
                  </a:outerShdw>
                </a:effectLst>
                <a:latin typeface="+mn-lt"/>
                <a:ea typeface="+mn-ea"/>
                <a:cs typeface="+mn-cs"/>
              </a:rPr>
              <a:t>Questions?</a:t>
            </a:r>
          </a:p>
        </p:txBody>
      </p:sp>
      <p:sp>
        <p:nvSpPr>
          <p:cNvPr id="4" name="TextBox 3"/>
          <p:cNvSpPr txBox="1"/>
          <p:nvPr userDrawn="1"/>
        </p:nvSpPr>
        <p:spPr>
          <a:xfrm>
            <a:off x="1295400" y="2438400"/>
            <a:ext cx="6400800" cy="2097345"/>
          </a:xfrm>
          <a:prstGeom prst="rect">
            <a:avLst/>
          </a:prstGeom>
        </p:spPr>
        <p:txBody>
          <a:bodyPr anchor="ctr" anchorCtr="0"/>
          <a:lstStyle/>
          <a:p>
            <a:pPr marL="319088" marR="0" lvl="0" indent="-319088" algn="ctr" defTabSz="914400" rtl="0" eaLnBrk="0" fontAlgn="base" latinLnBrk="0" hangingPunct="0">
              <a:lnSpc>
                <a:spcPct val="100000"/>
              </a:lnSpc>
              <a:spcBef>
                <a:spcPct val="20000"/>
              </a:spcBef>
              <a:spcAft>
                <a:spcPct val="0"/>
              </a:spcAft>
              <a:buClr>
                <a:schemeClr val="accent5">
                  <a:lumMod val="40000"/>
                  <a:lumOff val="60000"/>
                </a:schemeClr>
              </a:buClr>
              <a:buSzPct val="70000"/>
              <a:buFont typeface="Wingdings 2" pitchFamily="18" charset="2"/>
              <a:buNone/>
              <a:tabLst/>
              <a:defRPr/>
            </a:pPr>
            <a:r>
              <a:rPr lang="en-US" sz="8000" b="1" kern="1200" dirty="0" smtClean="0">
                <a:solidFill>
                  <a:srgbClr val="E8FFC8"/>
                </a:solidFill>
                <a:effectLst>
                  <a:outerShdw blurRad="38100" dist="38100" dir="2700000" algn="tl">
                    <a:srgbClr val="000000">
                      <a:alpha val="43137"/>
                    </a:srgbClr>
                  </a:outerShdw>
                </a:effectLst>
                <a:latin typeface="+mn-lt"/>
                <a:ea typeface="+mn-ea"/>
                <a:cs typeface="+mn-cs"/>
              </a:rPr>
              <a:t>Questions?</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Presentation Title Slide">
    <p:spTree>
      <p:nvGrpSpPr>
        <p:cNvPr id="1" name=""/>
        <p:cNvGrpSpPr/>
        <p:nvPr/>
      </p:nvGrpSpPr>
      <p:grpSpPr>
        <a:xfrm>
          <a:off x="0" y="0"/>
          <a:ext cx="0" cy="0"/>
          <a:chOff x="0" y="0"/>
          <a:chExt cx="0" cy="0"/>
        </a:xfrm>
      </p:grpSpPr>
      <p:sp>
        <p:nvSpPr>
          <p:cNvPr id="6" name="Title 8"/>
          <p:cNvSpPr>
            <a:spLocks noGrp="1"/>
          </p:cNvSpPr>
          <p:nvPr>
            <p:ph type="ctrTitle" hasCustomPrompt="1"/>
          </p:nvPr>
        </p:nvSpPr>
        <p:spPr>
          <a:xfrm>
            <a:off x="457200" y="1524000"/>
            <a:ext cx="8229600" cy="1524000"/>
          </a:xfrm>
          <a:prstGeom prst="rect">
            <a:avLst/>
          </a:prstGeom>
        </p:spPr>
        <p:txBody>
          <a:bodyPr tIns="0" bIns="0" anchor="b" anchorCtr="0"/>
          <a:lstStyle>
            <a:lvl1pPr algn="r">
              <a:lnSpc>
                <a:spcPts val="5400"/>
              </a:lnSpc>
              <a:defRPr sz="5400" cap="none" baseline="0">
                <a:solidFill>
                  <a:srgbClr val="D4FF5B"/>
                </a:solidFill>
                <a:effectLst>
                  <a:outerShdw blurRad="30000" dist="30000" dir="2700000" algn="tl" rotWithShape="0">
                    <a:schemeClr val="bg2">
                      <a:shade val="45000"/>
                      <a:satMod val="150000"/>
                      <a:alpha val="90000"/>
                    </a:schemeClr>
                  </a:outerShdw>
                  <a:reflection blurRad="12000" stA="25000" endPos="49000" dist="5000" dir="5400000" sy="-100000" algn="bl" rotWithShape="0"/>
                </a:effectLst>
              </a:defRPr>
            </a:lvl1pPr>
          </a:lstStyle>
          <a:p>
            <a:r>
              <a:rPr lang="en-US" dirty="0" smtClean="0"/>
              <a:t>Presentation Title</a:t>
            </a:r>
            <a:endParaRPr lang="en-US" dirty="0"/>
          </a:p>
        </p:txBody>
      </p:sp>
      <p:sp>
        <p:nvSpPr>
          <p:cNvPr id="7" name="Subtitle 16"/>
          <p:cNvSpPr>
            <a:spLocks noGrp="1"/>
          </p:cNvSpPr>
          <p:nvPr>
            <p:ph type="subTitle" idx="1" hasCustomPrompt="1"/>
          </p:nvPr>
        </p:nvSpPr>
        <p:spPr>
          <a:xfrm>
            <a:off x="457200" y="3240880"/>
            <a:ext cx="8229600" cy="569120"/>
          </a:xfrm>
          <a:prstGeom prst="rect">
            <a:avLst/>
          </a:prstGeom>
        </p:spPr>
        <p:txBody>
          <a:bodyPr lIns="0" tIns="0" rIns="0" bIns="0" anchor="ctr" anchorCtr="0"/>
          <a:lstStyle>
            <a:lvl1pPr marL="0" indent="0" algn="r">
              <a:buNone/>
              <a:defRPr sz="2800">
                <a:solidFill>
                  <a:srgbClr val="FAF8C8"/>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smtClean="0"/>
              <a:t>Presentation Subtitle</a:t>
            </a:r>
            <a:endParaRPr lang="en-US" dirty="0"/>
          </a:p>
        </p:txBody>
      </p:sp>
      <p:cxnSp>
        <p:nvCxnSpPr>
          <p:cNvPr id="11" name="Straight Connector 10"/>
          <p:cNvCxnSpPr/>
          <p:nvPr userDrawn="1"/>
        </p:nvCxnSpPr>
        <p:spPr>
          <a:xfrm>
            <a:off x="2667000" y="4114800"/>
            <a:ext cx="6248400" cy="0"/>
          </a:xfrm>
          <a:prstGeom prst="line">
            <a:avLst/>
          </a:prstGeom>
          <a:ln w="38100" cap="rnd">
            <a:solidFill>
              <a:schemeClr val="accent5">
                <a:lumMod val="20000"/>
                <a:lumOff val="80000"/>
                <a:alpha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Text Placeholder 13"/>
          <p:cNvSpPr>
            <a:spLocks noGrp="1"/>
          </p:cNvSpPr>
          <p:nvPr>
            <p:ph type="body" sz="quarter" idx="10" hasCustomPrompt="1"/>
          </p:nvPr>
        </p:nvSpPr>
        <p:spPr>
          <a:xfrm>
            <a:off x="457200" y="5224046"/>
            <a:ext cx="3352800" cy="533400"/>
          </a:xfrm>
          <a:prstGeom prst="rect">
            <a:avLst/>
          </a:prstGeom>
          <a:noFill/>
        </p:spPr>
        <p:txBody>
          <a:bodyPr wrap="square" rtlCol="0">
            <a:spAutoFit/>
          </a:bodyPr>
          <a:lstStyle>
            <a:lvl1pPr algn="l" rtl="0" fontAlgn="base">
              <a:spcBef>
                <a:spcPct val="0"/>
              </a:spcBef>
              <a:spcAft>
                <a:spcPct val="0"/>
              </a:spcAft>
              <a:buNone/>
              <a:defRPr lang="en-US" sz="2800" b="1" kern="1200" dirty="0" smtClean="0">
                <a:solidFill>
                  <a:srgbClr val="DEFF9B"/>
                </a:solidFill>
                <a:effectLst>
                  <a:outerShdw blurRad="38100" dist="38100" dir="2700000" algn="tl">
                    <a:srgbClr val="000000">
                      <a:alpha val="43137"/>
                    </a:srgbClr>
                  </a:outerShdw>
                </a:effectLst>
                <a:latin typeface="Corbel" pitchFamily="34" charset="0"/>
                <a:ea typeface="+mn-ea"/>
                <a:cs typeface="+mn-cs"/>
              </a:defRPr>
            </a:lvl1pPr>
          </a:lstStyle>
          <a:p>
            <a:pPr lvl="0"/>
            <a:r>
              <a:rPr lang="en-US" dirty="0" smtClean="0"/>
              <a:t>Author Name</a:t>
            </a:r>
            <a:endParaRPr lang="en-US" dirty="0"/>
          </a:p>
        </p:txBody>
      </p:sp>
      <p:sp>
        <p:nvSpPr>
          <p:cNvPr id="15" name="Text Placeholder 13"/>
          <p:cNvSpPr>
            <a:spLocks noGrp="1"/>
          </p:cNvSpPr>
          <p:nvPr>
            <p:ph type="body" sz="quarter" idx="11" hasCustomPrompt="1"/>
          </p:nvPr>
        </p:nvSpPr>
        <p:spPr>
          <a:xfrm>
            <a:off x="457200" y="5757446"/>
            <a:ext cx="2090957" cy="369332"/>
          </a:xfrm>
          <a:prstGeom prst="rect">
            <a:avLst/>
          </a:prstGeom>
          <a:noFill/>
        </p:spPr>
        <p:txBody>
          <a:bodyPr wrap="none" rtlCol="0">
            <a:spAutoFit/>
          </a:bodyPr>
          <a:lstStyle>
            <a:lvl1pPr algn="l" rtl="0" fontAlgn="base">
              <a:spcBef>
                <a:spcPct val="0"/>
              </a:spcBef>
              <a:spcAft>
                <a:spcPct val="0"/>
              </a:spcAft>
              <a:buNone/>
              <a:defRPr lang="en-US" sz="18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algn="l"/>
            <a:r>
              <a:rPr lang="en-US" sz="1800" b="1" dirty="0" smtClean="0">
                <a:solidFill>
                  <a:srgbClr val="0EFE58"/>
                </a:solidFill>
                <a:effectLst>
                  <a:outerShdw blurRad="38100" dist="38100" dir="2700000" algn="tl">
                    <a:srgbClr val="000000">
                      <a:alpha val="43137"/>
                    </a:srgbClr>
                  </a:outerShdw>
                </a:effectLst>
              </a:rPr>
              <a:t>Telerik Corporation</a:t>
            </a:r>
            <a:endParaRPr lang="en-US" sz="1800" b="1" dirty="0">
              <a:solidFill>
                <a:srgbClr val="0EFE58"/>
              </a:solidFill>
              <a:effectLst>
                <a:outerShdw blurRad="38100" dist="38100" dir="2700000" algn="tl">
                  <a:srgbClr val="000000">
                    <a:alpha val="43137"/>
                  </a:srgbClr>
                </a:outerShdw>
              </a:effectLst>
            </a:endParaRPr>
          </a:p>
        </p:txBody>
      </p:sp>
      <p:sp>
        <p:nvSpPr>
          <p:cNvPr id="16" name="Text Placeholder 13"/>
          <p:cNvSpPr>
            <a:spLocks noGrp="1"/>
          </p:cNvSpPr>
          <p:nvPr>
            <p:ph type="body" sz="quarter" idx="12" hasCustomPrompt="1"/>
          </p:nvPr>
        </p:nvSpPr>
        <p:spPr>
          <a:xfrm>
            <a:off x="457200" y="6062246"/>
            <a:ext cx="1707903" cy="338554"/>
          </a:xfrm>
          <a:prstGeom prst="rect">
            <a:avLst/>
          </a:prstGeom>
          <a:noFill/>
        </p:spPr>
        <p:txBody>
          <a:bodyPr wrap="square" rtlCol="0">
            <a:spAutoFit/>
          </a:bodyPr>
          <a:lstStyle>
            <a:lvl1pPr algn="l" rtl="0" fontAlgn="base">
              <a:spcBef>
                <a:spcPct val="0"/>
              </a:spcBef>
              <a:spcAft>
                <a:spcPct val="0"/>
              </a:spcAft>
              <a:buNone/>
              <a:defRPr lang="en-US" sz="16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algn="l"/>
            <a:r>
              <a:rPr lang="en-US" sz="1600" b="1" dirty="0" smtClean="0">
                <a:solidFill>
                  <a:schemeClr val="tx1">
                    <a:lumMod val="50000"/>
                  </a:schemeClr>
                </a:solidFill>
                <a:effectLst>
                  <a:outerShdw blurRad="38100" dist="38100" dir="2700000" algn="tl">
                    <a:srgbClr val="000000">
                      <a:alpha val="43137"/>
                    </a:srgbClr>
                  </a:outerShdw>
                </a:effectLst>
                <a:hlinkClick r:id="rId2"/>
              </a:rPr>
              <a:t>www.telerik.com</a:t>
            </a:r>
            <a:endParaRPr lang="en-US" sz="1600" b="1" dirty="0">
              <a:solidFill>
                <a:schemeClr val="tx1">
                  <a:lumMod val="50000"/>
                </a:schemeClr>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Source Code Exampl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828800" y="76200"/>
            <a:ext cx="7086600" cy="914400"/>
          </a:xfrm>
          <a:prstGeom prst="rect">
            <a:avLst/>
          </a:prstGeom>
        </p:spPr>
        <p:txBody>
          <a:bodyPr anchor="ctr" anchorCtr="0">
            <a:noAutofit/>
          </a:bodyPr>
          <a:lstStyle>
            <a:lvl1pPr>
              <a:lnSpc>
                <a:spcPts val="4000"/>
              </a:lnSpc>
              <a:defRPr sz="4000"/>
            </a:lvl1pPr>
          </a:lstStyle>
          <a:p>
            <a:r>
              <a:rPr lang="en-US" dirty="0" smtClean="0"/>
              <a:t>Slide Title</a:t>
            </a:r>
            <a:endParaRPr lang="en-US" dirty="0"/>
          </a:p>
        </p:txBody>
      </p:sp>
      <p:sp>
        <p:nvSpPr>
          <p:cNvPr id="4" name="Content Placeholder 2"/>
          <p:cNvSpPr>
            <a:spLocks noGrp="1"/>
          </p:cNvSpPr>
          <p:nvPr>
            <p:ph idx="1" hasCustomPrompt="1"/>
          </p:nvPr>
        </p:nvSpPr>
        <p:spPr>
          <a:xfrm>
            <a:off x="228600" y="1066800"/>
            <a:ext cx="8686800" cy="579646"/>
          </a:xfrm>
          <a:prstGeom prst="rect">
            <a:avLst/>
          </a:prstGeom>
        </p:spPr>
        <p:txBody>
          <a:bodyPr>
            <a:spAutoFit/>
          </a:bodyPr>
          <a:lstStyle>
            <a:lvl1pPr marL="282575" indent="-282575">
              <a:lnSpc>
                <a:spcPts val="3800"/>
              </a:lnSpc>
              <a:spcBef>
                <a:spcPts val="600"/>
              </a:spcBef>
              <a:spcAft>
                <a:spcPts val="600"/>
              </a:spcAft>
              <a:buClr>
                <a:schemeClr val="accent5">
                  <a:lumMod val="40000"/>
                  <a:lumOff val="60000"/>
                </a:schemeClr>
              </a:buClr>
              <a:buNone/>
              <a:tabLst>
                <a:tab pos="282575" algn="l"/>
              </a:tabLst>
              <a:defRPr sz="3000" baseline="0">
                <a:solidFill>
                  <a:schemeClr val="tx1">
                    <a:lumMod val="40000"/>
                    <a:lumOff val="60000"/>
                  </a:schemeClr>
                </a:solidFill>
              </a:defRPr>
            </a:lvl1pPr>
            <a:lvl2pPr>
              <a:lnSpc>
                <a:spcPts val="3800"/>
              </a:lnSpc>
              <a:spcBef>
                <a:spcPts val="600"/>
              </a:spcBef>
              <a:spcAft>
                <a:spcPts val="600"/>
              </a:spcAft>
              <a:buClr>
                <a:srgbClr val="8FD600"/>
              </a:buClr>
              <a:defRPr sz="3000">
                <a:solidFill>
                  <a:schemeClr val="tx1">
                    <a:lumMod val="40000"/>
                    <a:lumOff val="60000"/>
                  </a:schemeClr>
                </a:solidFill>
              </a:defRPr>
            </a:lvl2pPr>
            <a:lvl3pPr>
              <a:lnSpc>
                <a:spcPts val="3800"/>
              </a:lnSpc>
              <a:spcBef>
                <a:spcPts val="600"/>
              </a:spcBef>
              <a:spcAft>
                <a:spcPts val="600"/>
              </a:spcAft>
              <a:buClr>
                <a:srgbClr val="FFAD9F"/>
              </a:buClr>
              <a:defRPr sz="2800">
                <a:solidFill>
                  <a:schemeClr val="tx1">
                    <a:lumMod val="40000"/>
                    <a:lumOff val="60000"/>
                  </a:schemeClr>
                </a:solidFill>
              </a:defRPr>
            </a:lvl3pPr>
            <a:lvl4pPr>
              <a:lnSpc>
                <a:spcPts val="3800"/>
              </a:lnSpc>
              <a:spcBef>
                <a:spcPts val="600"/>
              </a:spcBef>
              <a:spcAft>
                <a:spcPts val="600"/>
              </a:spcAft>
              <a:buClr>
                <a:srgbClr val="FACF82"/>
              </a:buClr>
              <a:defRPr sz="2600">
                <a:solidFill>
                  <a:schemeClr val="tx1">
                    <a:lumMod val="40000"/>
                    <a:lumOff val="60000"/>
                  </a:schemeClr>
                </a:solidFill>
              </a:defRPr>
            </a:lvl4pPr>
            <a:lvl5pPr>
              <a:lnSpc>
                <a:spcPts val="3800"/>
              </a:lnSpc>
              <a:spcBef>
                <a:spcPts val="600"/>
              </a:spcBef>
              <a:spcAft>
                <a:spcPts val="600"/>
              </a:spcAft>
              <a:defRPr sz="2400">
                <a:solidFill>
                  <a:schemeClr val="tx1">
                    <a:lumMod val="40000"/>
                    <a:lumOff val="60000"/>
                  </a:schemeClr>
                </a:solidFill>
              </a:defRPr>
            </a:lvl5pPr>
          </a:lstStyle>
          <a:p>
            <a:pPr lvl="0"/>
            <a:r>
              <a:rPr lang="en-US" dirty="0" smtClean="0"/>
              <a:t>Example description</a:t>
            </a:r>
            <a:endParaRPr lang="en-US" dirty="0"/>
          </a:p>
        </p:txBody>
      </p:sp>
      <p:sp>
        <p:nvSpPr>
          <p:cNvPr id="6" name="Text Placeholder 5"/>
          <p:cNvSpPr>
            <a:spLocks noGrp="1"/>
          </p:cNvSpPr>
          <p:nvPr>
            <p:ph type="body" sz="quarter" idx="10" hasCustomPrompt="1"/>
          </p:nvPr>
        </p:nvSpPr>
        <p:spPr>
          <a:xfrm>
            <a:off x="342900" y="1828800"/>
            <a:ext cx="8382000" cy="452431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lvl1pPr marL="0" indent="0" algn="l">
              <a:spcBef>
                <a:spcPts val="0"/>
              </a:spcBef>
              <a:buNone/>
              <a:defRPr lang="en-US" sz="1800" smtClean="0">
                <a:solidFill>
                  <a:srgbClr val="8CF4F2"/>
                </a:solidFill>
                <a:latin typeface="Consolas" pitchFamily="49" charset="0"/>
                <a:cs typeface="Consolas" pitchFamily="49" charset="0"/>
              </a:defRPr>
            </a:lvl1pPr>
          </a:lstStyle>
          <a:p>
            <a:pPr lvl="0"/>
            <a:r>
              <a:rPr lang="en-US" noProof="1" smtClean="0"/>
              <a:t>Source code box</a:t>
            </a:r>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a:p>
            <a:pPr lvl="0"/>
            <a:endParaRPr lang="en-US" noProof="1" smtClean="0"/>
          </a:p>
        </p:txBody>
      </p:sp>
      <p:sp>
        <p:nvSpPr>
          <p:cNvPr id="8" name="Slide Number Placeholder 7"/>
          <p:cNvSpPr>
            <a:spLocks noGrp="1"/>
          </p:cNvSpPr>
          <p:nvPr>
            <p:ph type="sldNum" sz="quarter" idx="11"/>
          </p:nvPr>
        </p:nvSpPr>
        <p:spPr/>
        <p:txBody>
          <a:bodyPr/>
          <a:lstStyle/>
          <a:p>
            <a:pPr>
              <a:defRPr/>
            </a:pPr>
            <a:fld id="{58452FF4-89E3-4D1B-9927-2DBDC00E58D7}" type="slidenum">
              <a:rPr lang="en-US" smtClean="0"/>
              <a:pPr>
                <a:defRPr/>
              </a:pPr>
              <a:t>‹#›</a:t>
            </a:fld>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Questions Slid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1828800" y="152400"/>
            <a:ext cx="7086600" cy="914400"/>
          </a:xfrm>
          <a:prstGeom prst="rect">
            <a:avLst/>
          </a:prstGeom>
        </p:spPr>
        <p:txBody>
          <a:bodyPr anchor="ctr" anchorCtr="0">
            <a:noAutofit/>
          </a:bodyPr>
          <a:lstStyle>
            <a:lvl1pPr>
              <a:lnSpc>
                <a:spcPts val="4000"/>
              </a:lnSpc>
              <a:defRPr sz="4000"/>
            </a:lvl1pPr>
          </a:lstStyle>
          <a:p>
            <a:r>
              <a:rPr lang="en-US" dirty="0" smtClean="0"/>
              <a:t>Presentation Title</a:t>
            </a:r>
            <a:endParaRPr lang="en-US" dirty="0"/>
          </a:p>
        </p:txBody>
      </p:sp>
      <p:sp>
        <p:nvSpPr>
          <p:cNvPr id="10" name="TextBox 9"/>
          <p:cNvSpPr txBox="1"/>
          <p:nvPr userDrawn="1"/>
        </p:nvSpPr>
        <p:spPr>
          <a:xfrm>
            <a:off x="1295400" y="2438400"/>
            <a:ext cx="6400800" cy="2097345"/>
          </a:xfrm>
          <a:prstGeom prst="rect">
            <a:avLst/>
          </a:prstGeom>
        </p:spPr>
        <p:txBody>
          <a:bodyPr anchor="ctr" anchorCtr="0"/>
          <a:lstStyle/>
          <a:p>
            <a:pPr marL="319088" marR="0" lvl="0" indent="-319088" algn="ctr" defTabSz="914400" rtl="0" eaLnBrk="0" fontAlgn="base" latinLnBrk="0" hangingPunct="0">
              <a:lnSpc>
                <a:spcPct val="100000"/>
              </a:lnSpc>
              <a:spcBef>
                <a:spcPct val="20000"/>
              </a:spcBef>
              <a:spcAft>
                <a:spcPct val="0"/>
              </a:spcAft>
              <a:buClr>
                <a:schemeClr val="accent5">
                  <a:lumMod val="40000"/>
                  <a:lumOff val="60000"/>
                </a:schemeClr>
              </a:buClr>
              <a:buSzPct val="70000"/>
              <a:buFont typeface="Wingdings 2" pitchFamily="18" charset="2"/>
              <a:buNone/>
              <a:tabLst/>
              <a:defRPr/>
            </a:pPr>
            <a:r>
              <a:rPr lang="en-US" sz="8000" b="1" kern="1200" dirty="0" smtClean="0">
                <a:solidFill>
                  <a:srgbClr val="E8FFC8"/>
                </a:solidFill>
                <a:effectLst>
                  <a:outerShdw blurRad="38100" dist="38100" dir="2700000" algn="tl">
                    <a:srgbClr val="000000">
                      <a:alpha val="43137"/>
                    </a:srgbClr>
                  </a:outerShdw>
                </a:effectLst>
                <a:latin typeface="+mn-lt"/>
                <a:ea typeface="+mn-ea"/>
                <a:cs typeface="+mn-cs"/>
              </a:rPr>
              <a:t>Questions?</a:t>
            </a: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65000"/>
                <a:lumOff val="35000"/>
              </a:schemeClr>
            </a:gs>
            <a:gs pos="83000">
              <a:schemeClr val="bg1"/>
            </a:gs>
          </a:gsLst>
          <a:path path="circle">
            <a:fillToRect l="20000" t="30000" r="135000" b="100000"/>
          </a:path>
          <a:tileRect/>
        </a:gradFill>
        <a:effectLst/>
      </p:bgPr>
    </p:bg>
    <p:spTree>
      <p:nvGrpSpPr>
        <p:cNvPr id="1" name=""/>
        <p:cNvGrpSpPr/>
        <p:nvPr/>
      </p:nvGrpSpPr>
      <p:grpSpPr>
        <a:xfrm>
          <a:off x="0" y="0"/>
          <a:ext cx="0" cy="0"/>
          <a:chOff x="0" y="0"/>
          <a:chExt cx="0" cy="0"/>
        </a:xfrm>
      </p:grpSpPr>
      <p:sp>
        <p:nvSpPr>
          <p:cNvPr id="7" name="Flowchart: Document 6"/>
          <p:cNvSpPr/>
          <p:nvPr/>
        </p:nvSpPr>
        <p:spPr>
          <a:xfrm rot="10800000">
            <a:off x="1" y="411366"/>
            <a:ext cx="9144000" cy="5562705"/>
          </a:xfrm>
          <a:custGeom>
            <a:avLst/>
            <a:gdLst>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20252"/>
              <a:gd name="connsiteX1" fmla="*/ 21600 w 21600"/>
              <a:gd name="connsiteY1" fmla="*/ 0 h 20252"/>
              <a:gd name="connsiteX2" fmla="*/ 21600 w 21600"/>
              <a:gd name="connsiteY2" fmla="*/ 17322 h 20252"/>
              <a:gd name="connsiteX3" fmla="*/ 0 w 21600"/>
              <a:gd name="connsiteY3" fmla="*/ 20252 h 20252"/>
              <a:gd name="connsiteX4" fmla="*/ 0 w 21600"/>
              <a:gd name="connsiteY4" fmla="*/ 0 h 20252"/>
              <a:gd name="connsiteX0" fmla="*/ 0 w 21600"/>
              <a:gd name="connsiteY0" fmla="*/ 0 h 20252"/>
              <a:gd name="connsiteX1" fmla="*/ 21600 w 21600"/>
              <a:gd name="connsiteY1" fmla="*/ 0 h 20252"/>
              <a:gd name="connsiteX2" fmla="*/ 21600 w 21600"/>
              <a:gd name="connsiteY2" fmla="*/ 17322 h 20252"/>
              <a:gd name="connsiteX3" fmla="*/ 0 w 21600"/>
              <a:gd name="connsiteY3" fmla="*/ 20252 h 20252"/>
              <a:gd name="connsiteX4" fmla="*/ 0 w 21600"/>
              <a:gd name="connsiteY4" fmla="*/ 0 h 20252"/>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20252">
                <a:moveTo>
                  <a:pt x="0" y="0"/>
                </a:moveTo>
                <a:lnTo>
                  <a:pt x="21600" y="0"/>
                </a:lnTo>
                <a:lnTo>
                  <a:pt x="21600" y="17322"/>
                </a:lnTo>
                <a:cubicBezTo>
                  <a:pt x="10800" y="17322"/>
                  <a:pt x="10056" y="24231"/>
                  <a:pt x="0" y="20252"/>
                </a:cubicBezTo>
                <a:lnTo>
                  <a:pt x="0" y="0"/>
                </a:lnTo>
                <a:close/>
              </a:path>
            </a:pathLst>
          </a:custGeom>
          <a:gradFill>
            <a:gsLst>
              <a:gs pos="100000">
                <a:schemeClr val="bg1">
                  <a:lumMod val="85000"/>
                  <a:lumOff val="15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a:effectLst>
                <a:outerShdw blurRad="38100" dist="38100" dir="2700000" algn="tl">
                  <a:srgbClr val="000000">
                    <a:alpha val="43137"/>
                  </a:srgbClr>
                </a:outerShdw>
              </a:effectLst>
            </a:endParaRPr>
          </a:p>
        </p:txBody>
      </p:sp>
      <p:sp>
        <p:nvSpPr>
          <p:cNvPr id="8" name="Flowchart: Document 7"/>
          <p:cNvSpPr/>
          <p:nvPr/>
        </p:nvSpPr>
        <p:spPr>
          <a:xfrm rot="10800000">
            <a:off x="1" y="609600"/>
            <a:ext cx="9144000" cy="4480425"/>
          </a:xfrm>
          <a:custGeom>
            <a:avLst/>
            <a:gdLst>
              <a:gd name="connsiteX0" fmla="*/ 0 w 21600"/>
              <a:gd name="connsiteY0" fmla="*/ 0 h 18944"/>
              <a:gd name="connsiteX1" fmla="*/ 21600 w 21600"/>
              <a:gd name="connsiteY1" fmla="*/ 0 h 18944"/>
              <a:gd name="connsiteX2" fmla="*/ 21600 w 21600"/>
              <a:gd name="connsiteY2" fmla="*/ 17322 h 18944"/>
              <a:gd name="connsiteX3" fmla="*/ 0 w 21600"/>
              <a:gd name="connsiteY3" fmla="*/ 18944 h 18944"/>
              <a:gd name="connsiteX4" fmla="*/ 0 w 21600"/>
              <a:gd name="connsiteY4" fmla="*/ 0 h 18944"/>
              <a:gd name="connsiteX0" fmla="*/ 0 w 21600"/>
              <a:gd name="connsiteY0" fmla="*/ 0 h 18944"/>
              <a:gd name="connsiteX1" fmla="*/ 21600 w 21600"/>
              <a:gd name="connsiteY1" fmla="*/ 0 h 18944"/>
              <a:gd name="connsiteX2" fmla="*/ 21600 w 21600"/>
              <a:gd name="connsiteY2" fmla="*/ 17322 h 18944"/>
              <a:gd name="connsiteX3" fmla="*/ 0 w 21600"/>
              <a:gd name="connsiteY3" fmla="*/ 18944 h 18944"/>
              <a:gd name="connsiteX4" fmla="*/ 0 w 21600"/>
              <a:gd name="connsiteY4" fmla="*/ 0 h 18944"/>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691"/>
              <a:gd name="connsiteX1" fmla="*/ 21600 w 21600"/>
              <a:gd name="connsiteY1" fmla="*/ 0 h 19691"/>
              <a:gd name="connsiteX2" fmla="*/ 21600 w 21600"/>
              <a:gd name="connsiteY2" fmla="*/ 17322 h 19691"/>
              <a:gd name="connsiteX3" fmla="*/ 0 w 21600"/>
              <a:gd name="connsiteY3" fmla="*/ 19691 h 19691"/>
              <a:gd name="connsiteX4" fmla="*/ 0 w 21600"/>
              <a:gd name="connsiteY4" fmla="*/ 0 h 19691"/>
              <a:gd name="connsiteX0" fmla="*/ 0 w 21600"/>
              <a:gd name="connsiteY0" fmla="*/ 0 h 19691"/>
              <a:gd name="connsiteX1" fmla="*/ 21600 w 21600"/>
              <a:gd name="connsiteY1" fmla="*/ 0 h 19691"/>
              <a:gd name="connsiteX2" fmla="*/ 21600 w 21600"/>
              <a:gd name="connsiteY2" fmla="*/ 17322 h 19691"/>
              <a:gd name="connsiteX3" fmla="*/ 0 w 21600"/>
              <a:gd name="connsiteY3" fmla="*/ 19691 h 19691"/>
              <a:gd name="connsiteX4" fmla="*/ 0 w 21600"/>
              <a:gd name="connsiteY4" fmla="*/ 0 h 19691"/>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20032">
                <a:moveTo>
                  <a:pt x="0" y="0"/>
                </a:moveTo>
                <a:lnTo>
                  <a:pt x="21600" y="0"/>
                </a:lnTo>
                <a:lnTo>
                  <a:pt x="21600" y="17322"/>
                </a:lnTo>
                <a:cubicBezTo>
                  <a:pt x="10800" y="17322"/>
                  <a:pt x="8684" y="24776"/>
                  <a:pt x="0" y="20032"/>
                </a:cubicBezTo>
                <a:lnTo>
                  <a:pt x="0" y="0"/>
                </a:lnTo>
                <a:close/>
              </a:path>
            </a:pathLst>
          </a:custGeom>
          <a:gradFill>
            <a:gsLst>
              <a:gs pos="100000">
                <a:schemeClr val="bg1">
                  <a:lumMod val="65000"/>
                  <a:lumOff val="35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a:effectLst>
                <a:outerShdw blurRad="38100" dist="38100" dir="2700000" algn="tl">
                  <a:srgbClr val="000000">
                    <a:alpha val="43137"/>
                  </a:srgbClr>
                </a:outerShdw>
              </a:effectLst>
            </a:endParaRPr>
          </a:p>
        </p:txBody>
      </p:sp>
      <p:pic>
        <p:nvPicPr>
          <p:cNvPr id="1034" name="Picture 10" descr="telerik_logo_new-(white).png"/>
          <p:cNvPicPr>
            <a:picLocks noChangeAspect="1"/>
          </p:cNvPicPr>
          <p:nvPr/>
        </p:nvPicPr>
        <p:blipFill>
          <a:blip r:embed="rId11" cstate="print">
            <a:lum bright="-20000"/>
            <a:extLst>
              <a:ext uri="{28A0092B-C50C-407E-A947-70E740481C1C}">
                <a14:useLocalDpi xmlns="" xmlns:a14="http://schemas.microsoft.com/office/drawing/2010/main" val="0"/>
              </a:ext>
            </a:extLst>
          </a:blip>
          <a:srcRect/>
          <a:stretch>
            <a:fillRect/>
          </a:stretch>
        </p:blipFill>
        <p:spPr bwMode="auto">
          <a:xfrm>
            <a:off x="152400" y="304800"/>
            <a:ext cx="1600200" cy="389382"/>
          </a:xfrm>
          <a:prstGeom prst="rect">
            <a:avLst/>
          </a:prstGeom>
          <a:noFill/>
          <a:ln w="9525">
            <a:noFill/>
            <a:miter lim="800000"/>
            <a:headEnd/>
            <a:tailEnd/>
          </a:ln>
        </p:spPr>
      </p:pic>
      <p:sp>
        <p:nvSpPr>
          <p:cNvPr id="17" name="Slide Number Placeholder 5"/>
          <p:cNvSpPr>
            <a:spLocks noGrp="1"/>
          </p:cNvSpPr>
          <p:nvPr>
            <p:ph type="sldNum" sz="quarter" idx="4"/>
          </p:nvPr>
        </p:nvSpPr>
        <p:spPr>
          <a:xfrm>
            <a:off x="8610600" y="6553200"/>
            <a:ext cx="457200" cy="228600"/>
          </a:xfrm>
          <a:prstGeom prst="rect">
            <a:avLst/>
          </a:prstGeom>
        </p:spPr>
        <p:txBody>
          <a:bodyPr anchor="ctr" anchorCtr="0"/>
          <a:lstStyle>
            <a:lvl1pPr algn="r">
              <a:defRPr sz="1100"/>
            </a:lvl1pPr>
          </a:lstStyle>
          <a:p>
            <a:pPr>
              <a:defRPr/>
            </a:pPr>
            <a:fld id="{58452FF4-89E3-4D1B-9927-2DBDC00E58D7}" type="slidenum">
              <a:rPr lang="en-US" smtClean="0"/>
              <a:pPr>
                <a:defRPr/>
              </a:pPr>
              <a:t>‹#›</a:t>
            </a:fld>
            <a:endParaRPr lang="en-US" dirty="0"/>
          </a:p>
        </p:txBody>
      </p:sp>
      <p:sp>
        <p:nvSpPr>
          <p:cNvPr id="6" name="Flowchart: Document 6"/>
          <p:cNvSpPr/>
          <p:nvPr userDrawn="1"/>
        </p:nvSpPr>
        <p:spPr>
          <a:xfrm rot="10800000">
            <a:off x="1" y="411366"/>
            <a:ext cx="9144000" cy="5562705"/>
          </a:xfrm>
          <a:custGeom>
            <a:avLst/>
            <a:gdLst>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20252"/>
              <a:gd name="connsiteX1" fmla="*/ 21600 w 21600"/>
              <a:gd name="connsiteY1" fmla="*/ 0 h 20252"/>
              <a:gd name="connsiteX2" fmla="*/ 21600 w 21600"/>
              <a:gd name="connsiteY2" fmla="*/ 17322 h 20252"/>
              <a:gd name="connsiteX3" fmla="*/ 0 w 21600"/>
              <a:gd name="connsiteY3" fmla="*/ 20252 h 20252"/>
              <a:gd name="connsiteX4" fmla="*/ 0 w 21600"/>
              <a:gd name="connsiteY4" fmla="*/ 0 h 20252"/>
              <a:gd name="connsiteX0" fmla="*/ 0 w 21600"/>
              <a:gd name="connsiteY0" fmla="*/ 0 h 20252"/>
              <a:gd name="connsiteX1" fmla="*/ 21600 w 21600"/>
              <a:gd name="connsiteY1" fmla="*/ 0 h 20252"/>
              <a:gd name="connsiteX2" fmla="*/ 21600 w 21600"/>
              <a:gd name="connsiteY2" fmla="*/ 17322 h 20252"/>
              <a:gd name="connsiteX3" fmla="*/ 0 w 21600"/>
              <a:gd name="connsiteY3" fmla="*/ 20252 h 20252"/>
              <a:gd name="connsiteX4" fmla="*/ 0 w 21600"/>
              <a:gd name="connsiteY4" fmla="*/ 0 h 20252"/>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20252">
                <a:moveTo>
                  <a:pt x="0" y="0"/>
                </a:moveTo>
                <a:lnTo>
                  <a:pt x="21600" y="0"/>
                </a:lnTo>
                <a:lnTo>
                  <a:pt x="21600" y="17322"/>
                </a:lnTo>
                <a:cubicBezTo>
                  <a:pt x="10800" y="17322"/>
                  <a:pt x="10056" y="24231"/>
                  <a:pt x="0" y="20252"/>
                </a:cubicBezTo>
                <a:lnTo>
                  <a:pt x="0" y="0"/>
                </a:lnTo>
                <a:close/>
              </a:path>
            </a:pathLst>
          </a:custGeom>
          <a:gradFill>
            <a:gsLst>
              <a:gs pos="100000">
                <a:schemeClr val="bg1">
                  <a:lumMod val="85000"/>
                  <a:lumOff val="15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a:effectLst>
                <a:outerShdw blurRad="38100" dist="38100" dir="2700000" algn="tl">
                  <a:srgbClr val="000000">
                    <a:alpha val="43137"/>
                  </a:srgbClr>
                </a:outerShdw>
              </a:effectLst>
            </a:endParaRPr>
          </a:p>
        </p:txBody>
      </p:sp>
      <p:sp>
        <p:nvSpPr>
          <p:cNvPr id="9" name="Flowchart: Document 7"/>
          <p:cNvSpPr/>
          <p:nvPr userDrawn="1"/>
        </p:nvSpPr>
        <p:spPr>
          <a:xfrm rot="10800000">
            <a:off x="1" y="609600"/>
            <a:ext cx="9144000" cy="4480425"/>
          </a:xfrm>
          <a:custGeom>
            <a:avLst/>
            <a:gdLst>
              <a:gd name="connsiteX0" fmla="*/ 0 w 21600"/>
              <a:gd name="connsiteY0" fmla="*/ 0 h 18944"/>
              <a:gd name="connsiteX1" fmla="*/ 21600 w 21600"/>
              <a:gd name="connsiteY1" fmla="*/ 0 h 18944"/>
              <a:gd name="connsiteX2" fmla="*/ 21600 w 21600"/>
              <a:gd name="connsiteY2" fmla="*/ 17322 h 18944"/>
              <a:gd name="connsiteX3" fmla="*/ 0 w 21600"/>
              <a:gd name="connsiteY3" fmla="*/ 18944 h 18944"/>
              <a:gd name="connsiteX4" fmla="*/ 0 w 21600"/>
              <a:gd name="connsiteY4" fmla="*/ 0 h 18944"/>
              <a:gd name="connsiteX0" fmla="*/ 0 w 21600"/>
              <a:gd name="connsiteY0" fmla="*/ 0 h 18944"/>
              <a:gd name="connsiteX1" fmla="*/ 21600 w 21600"/>
              <a:gd name="connsiteY1" fmla="*/ 0 h 18944"/>
              <a:gd name="connsiteX2" fmla="*/ 21600 w 21600"/>
              <a:gd name="connsiteY2" fmla="*/ 17322 h 18944"/>
              <a:gd name="connsiteX3" fmla="*/ 0 w 21600"/>
              <a:gd name="connsiteY3" fmla="*/ 18944 h 18944"/>
              <a:gd name="connsiteX4" fmla="*/ 0 w 21600"/>
              <a:gd name="connsiteY4" fmla="*/ 0 h 18944"/>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691"/>
              <a:gd name="connsiteX1" fmla="*/ 21600 w 21600"/>
              <a:gd name="connsiteY1" fmla="*/ 0 h 19691"/>
              <a:gd name="connsiteX2" fmla="*/ 21600 w 21600"/>
              <a:gd name="connsiteY2" fmla="*/ 17322 h 19691"/>
              <a:gd name="connsiteX3" fmla="*/ 0 w 21600"/>
              <a:gd name="connsiteY3" fmla="*/ 19691 h 19691"/>
              <a:gd name="connsiteX4" fmla="*/ 0 w 21600"/>
              <a:gd name="connsiteY4" fmla="*/ 0 h 19691"/>
              <a:gd name="connsiteX0" fmla="*/ 0 w 21600"/>
              <a:gd name="connsiteY0" fmla="*/ 0 h 19691"/>
              <a:gd name="connsiteX1" fmla="*/ 21600 w 21600"/>
              <a:gd name="connsiteY1" fmla="*/ 0 h 19691"/>
              <a:gd name="connsiteX2" fmla="*/ 21600 w 21600"/>
              <a:gd name="connsiteY2" fmla="*/ 17322 h 19691"/>
              <a:gd name="connsiteX3" fmla="*/ 0 w 21600"/>
              <a:gd name="connsiteY3" fmla="*/ 19691 h 19691"/>
              <a:gd name="connsiteX4" fmla="*/ 0 w 21600"/>
              <a:gd name="connsiteY4" fmla="*/ 0 h 19691"/>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20032">
                <a:moveTo>
                  <a:pt x="0" y="0"/>
                </a:moveTo>
                <a:lnTo>
                  <a:pt x="21600" y="0"/>
                </a:lnTo>
                <a:lnTo>
                  <a:pt x="21600" y="17322"/>
                </a:lnTo>
                <a:cubicBezTo>
                  <a:pt x="10800" y="17322"/>
                  <a:pt x="8684" y="24776"/>
                  <a:pt x="0" y="20032"/>
                </a:cubicBezTo>
                <a:lnTo>
                  <a:pt x="0" y="0"/>
                </a:lnTo>
                <a:close/>
              </a:path>
            </a:pathLst>
          </a:custGeom>
          <a:gradFill>
            <a:gsLst>
              <a:gs pos="100000">
                <a:schemeClr val="bg1">
                  <a:lumMod val="65000"/>
                  <a:lumOff val="35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a:effectLst>
                <a:outerShdw blurRad="38100" dist="38100" dir="2700000" algn="tl">
                  <a:srgbClr val="000000">
                    <a:alpha val="43137"/>
                  </a:srgbClr>
                </a:outerShdw>
              </a:effectLst>
            </a:endParaRPr>
          </a:p>
        </p:txBody>
      </p:sp>
      <p:pic>
        <p:nvPicPr>
          <p:cNvPr id="10" name="Picture 10" descr="telerik_logo_new-(white).png"/>
          <p:cNvPicPr>
            <a:picLocks noChangeAspect="1"/>
          </p:cNvPicPr>
          <p:nvPr userDrawn="1"/>
        </p:nvPicPr>
        <p:blipFill>
          <a:blip r:embed="rId11" cstate="print">
            <a:lum bright="-20000"/>
            <a:extLst>
              <a:ext uri="{28A0092B-C50C-407E-A947-70E740481C1C}">
                <a14:useLocalDpi xmlns="" xmlns:a14="http://schemas.microsoft.com/office/drawing/2010/main" val="0"/>
              </a:ext>
            </a:extLst>
          </a:blip>
          <a:srcRect/>
          <a:stretch>
            <a:fillRect/>
          </a:stretch>
        </p:blipFill>
        <p:spPr bwMode="auto">
          <a:xfrm>
            <a:off x="152400" y="304800"/>
            <a:ext cx="1600200" cy="389382"/>
          </a:xfrm>
          <a:prstGeom prst="rect">
            <a:avLst/>
          </a:prstGeom>
          <a:noFill/>
          <a:ln w="9525">
            <a:noFill/>
            <a:miter lim="800000"/>
            <a:headEnd/>
            <a:tailEnd/>
          </a:ln>
        </p:spPr>
      </p:pic>
    </p:spTree>
  </p:cSld>
  <p:clrMap bg1="dk1" tx1="lt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01" r:id="rId7"/>
    <p:sldLayoutId id="2147483703" r:id="rId8"/>
    <p:sldLayoutId id="2147483702" r:id="rId9"/>
  </p:sldLayoutIdLst>
  <p:timing>
    <p:tnLst>
      <p:par>
        <p:cTn id="1" dur="indefinite" restart="never" nodeType="tmRoot"/>
      </p:par>
    </p:tnLst>
  </p:timing>
  <p:hf hdr="0" ftr="0" dt="0"/>
  <p:txStyles>
    <p:titleStyle>
      <a:lvl1pPr algn="r" rtl="0" eaLnBrk="1" fontAlgn="base" hangingPunct="1">
        <a:lnSpc>
          <a:spcPts val="4400"/>
        </a:lnSpc>
        <a:spcBef>
          <a:spcPct val="0"/>
        </a:spcBef>
        <a:spcAft>
          <a:spcPct val="0"/>
        </a:spcAft>
        <a:defRPr sz="4400" b="1" kern="1200" baseline="0">
          <a:ln w="500">
            <a:noFill/>
          </a:ln>
          <a:solidFill>
            <a:schemeClr val="tx2"/>
          </a:solidFill>
          <a:effectLst>
            <a:outerShdw blurRad="38100" dist="38100" dir="2700000" algn="tl">
              <a:srgbClr val="000000">
                <a:alpha val="43137"/>
              </a:srgbClr>
            </a:outerShdw>
            <a:reflection blurRad="6350" stA="55000" endA="300" endPos="45500" dir="5400000" sy="-100000" algn="bl" rotWithShape="0"/>
          </a:effectLst>
          <a:latin typeface="+mj-lt"/>
          <a:ea typeface="+mj-ea"/>
          <a:cs typeface="+mj-cs"/>
        </a:defRPr>
      </a:lvl1pPr>
      <a:lvl2pPr algn="r" rtl="0" eaLnBrk="1" fontAlgn="base" hangingPunct="1">
        <a:spcBef>
          <a:spcPct val="0"/>
        </a:spcBef>
        <a:spcAft>
          <a:spcPct val="0"/>
        </a:spcAft>
        <a:defRPr sz="3000" b="1">
          <a:solidFill>
            <a:schemeClr val="tx2"/>
          </a:solidFill>
          <a:latin typeface="Corbel" pitchFamily="34" charset="0"/>
        </a:defRPr>
      </a:lvl2pPr>
      <a:lvl3pPr algn="r" rtl="0" eaLnBrk="1" fontAlgn="base" hangingPunct="1">
        <a:spcBef>
          <a:spcPct val="0"/>
        </a:spcBef>
        <a:spcAft>
          <a:spcPct val="0"/>
        </a:spcAft>
        <a:defRPr sz="3000" b="1">
          <a:solidFill>
            <a:schemeClr val="tx2"/>
          </a:solidFill>
          <a:latin typeface="Corbel" pitchFamily="34" charset="0"/>
        </a:defRPr>
      </a:lvl3pPr>
      <a:lvl4pPr algn="r" rtl="0" eaLnBrk="1" fontAlgn="base" hangingPunct="1">
        <a:spcBef>
          <a:spcPct val="0"/>
        </a:spcBef>
        <a:spcAft>
          <a:spcPct val="0"/>
        </a:spcAft>
        <a:defRPr sz="3000" b="1">
          <a:solidFill>
            <a:schemeClr val="tx2"/>
          </a:solidFill>
          <a:latin typeface="Corbel" pitchFamily="34" charset="0"/>
        </a:defRPr>
      </a:lvl4pPr>
      <a:lvl5pPr algn="r" rtl="0" eaLnBrk="1" fontAlgn="base" hangingPunct="1">
        <a:spcBef>
          <a:spcPct val="0"/>
        </a:spcBef>
        <a:spcAft>
          <a:spcPct val="0"/>
        </a:spcAft>
        <a:defRPr sz="3000" b="1">
          <a:solidFill>
            <a:schemeClr val="tx2"/>
          </a:solidFill>
          <a:latin typeface="Corbel" pitchFamily="34" charset="0"/>
        </a:defRPr>
      </a:lvl5pPr>
      <a:lvl6pPr marL="457200" algn="r" rtl="0" eaLnBrk="1" fontAlgn="base" hangingPunct="1">
        <a:spcBef>
          <a:spcPct val="0"/>
        </a:spcBef>
        <a:spcAft>
          <a:spcPct val="0"/>
        </a:spcAft>
        <a:defRPr sz="3000" b="1">
          <a:solidFill>
            <a:schemeClr val="tx2"/>
          </a:solidFill>
          <a:latin typeface="Corbel" pitchFamily="34" charset="0"/>
        </a:defRPr>
      </a:lvl6pPr>
      <a:lvl7pPr marL="914400" algn="r" rtl="0" eaLnBrk="1" fontAlgn="base" hangingPunct="1">
        <a:spcBef>
          <a:spcPct val="0"/>
        </a:spcBef>
        <a:spcAft>
          <a:spcPct val="0"/>
        </a:spcAft>
        <a:defRPr sz="3000" b="1">
          <a:solidFill>
            <a:schemeClr val="tx2"/>
          </a:solidFill>
          <a:latin typeface="Corbel" pitchFamily="34" charset="0"/>
        </a:defRPr>
      </a:lvl7pPr>
      <a:lvl8pPr marL="1371600" algn="r" rtl="0" eaLnBrk="1" fontAlgn="base" hangingPunct="1">
        <a:spcBef>
          <a:spcPct val="0"/>
        </a:spcBef>
        <a:spcAft>
          <a:spcPct val="0"/>
        </a:spcAft>
        <a:defRPr sz="3000" b="1">
          <a:solidFill>
            <a:schemeClr val="tx2"/>
          </a:solidFill>
          <a:latin typeface="Corbel" pitchFamily="34" charset="0"/>
        </a:defRPr>
      </a:lvl8pPr>
      <a:lvl9pPr marL="1828800" algn="r" rtl="0" eaLnBrk="1" fontAlgn="base" hangingPunct="1">
        <a:spcBef>
          <a:spcPct val="0"/>
        </a:spcBef>
        <a:spcAft>
          <a:spcPct val="0"/>
        </a:spcAft>
        <a:defRPr sz="3000" b="1">
          <a:solidFill>
            <a:schemeClr val="tx2"/>
          </a:solidFill>
          <a:latin typeface="Corbel" pitchFamily="34" charset="0"/>
        </a:defRPr>
      </a:lvl9pPr>
    </p:titleStyle>
    <p:bodyStyle>
      <a:lvl1pPr marL="319088" indent="-319088" algn="l" rtl="0" eaLnBrk="1" fontAlgn="base" hangingPunct="1">
        <a:spcBef>
          <a:spcPct val="20000"/>
        </a:spcBef>
        <a:spcAft>
          <a:spcPct val="0"/>
        </a:spcAft>
        <a:buClr>
          <a:schemeClr val="accent5">
            <a:lumMod val="40000"/>
            <a:lumOff val="60000"/>
          </a:schemeClr>
        </a:buClr>
        <a:buSzPct val="70000"/>
        <a:buFont typeface="Wingdings 2" pitchFamily="18" charset="2"/>
        <a:buChar char=""/>
        <a:defRPr sz="32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1pPr>
      <a:lvl2pPr marL="630238" indent="-273050" algn="l" rtl="0" eaLnBrk="1" fontAlgn="base" hangingPunct="1">
        <a:spcBef>
          <a:spcPct val="20000"/>
        </a:spcBef>
        <a:spcAft>
          <a:spcPct val="0"/>
        </a:spcAft>
        <a:buClr>
          <a:schemeClr val="accent2">
            <a:lumMod val="60000"/>
            <a:lumOff val="40000"/>
          </a:schemeClr>
        </a:buClr>
        <a:buFont typeface="Wingdings 2" pitchFamily="18" charset="2"/>
        <a:buChar char=""/>
        <a:defRPr sz="30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2pPr>
      <a:lvl3pPr marL="922338" indent="-273050" algn="l" rtl="0" eaLnBrk="1" fontAlgn="base" hangingPunct="1">
        <a:spcBef>
          <a:spcPct val="20000"/>
        </a:spcBef>
        <a:spcAft>
          <a:spcPct val="0"/>
        </a:spcAft>
        <a:buClr>
          <a:schemeClr val="tx1">
            <a:lumMod val="50000"/>
          </a:schemeClr>
        </a:buClr>
        <a:buFont typeface="Wingdings 2" pitchFamily="18" charset="2"/>
        <a:buChar char=""/>
        <a:defRPr sz="28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3pPr>
      <a:lvl4pPr marL="1187450" indent="-228600" algn="l" rtl="0" eaLnBrk="1" fontAlgn="base" hangingPunct="1">
        <a:spcBef>
          <a:spcPct val="20000"/>
        </a:spcBef>
        <a:spcAft>
          <a:spcPct val="0"/>
        </a:spcAft>
        <a:buClr>
          <a:srgbClr val="F8BD52"/>
        </a:buClr>
        <a:buFont typeface="Wingdings 2" pitchFamily="18" charset="2"/>
        <a:buChar char=""/>
        <a:defRPr sz="26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4pPr>
      <a:lvl5pPr marL="1425575" indent="-228600" algn="l" rtl="0" eaLnBrk="1" fontAlgn="base" hangingPunct="1">
        <a:spcBef>
          <a:spcPct val="20000"/>
        </a:spcBef>
        <a:spcAft>
          <a:spcPct val="0"/>
        </a:spcAft>
        <a:buClr>
          <a:srgbClr val="46A6BD"/>
        </a:buClr>
        <a:buFont typeface="Wingdings 2" pitchFamily="18" charset="2"/>
        <a:buChar char=""/>
        <a:defRPr sz="2400" b="1" kern="1200">
          <a:solidFill>
            <a:schemeClr val="tx1">
              <a:lumMod val="20000"/>
              <a:lumOff val="80000"/>
            </a:schemeClr>
          </a:solidFill>
          <a:effectLst>
            <a:outerShdw blurRad="38100" dist="38100" dir="2700000" algn="tl">
              <a:srgbClr val="000000">
                <a:alpha val="43137"/>
              </a:srgbClr>
            </a:outerShdw>
          </a:effectLst>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2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4.png"/><Relationship Id="rId7"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35.png"/><Relationship Id="rId9" Type="http://schemas.openxmlformats.org/officeDocument/2006/relationships/image" Target="../media/image13.wmf"/></Relationships>
</file>

<file path=ppt/slides/_rels/slide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7392" y="1524000"/>
            <a:ext cx="8229600" cy="1524000"/>
          </a:xfrm>
        </p:spPr>
        <p:txBody>
          <a:bodyPr/>
          <a:lstStyle/>
          <a:p>
            <a:r>
              <a:rPr lang="en-US" dirty="0" smtClean="0"/>
              <a:t>.NET Framework Overview</a:t>
            </a:r>
            <a:endParaRPr lang="en-US" dirty="0"/>
          </a:p>
        </p:txBody>
      </p:sp>
      <p:sp>
        <p:nvSpPr>
          <p:cNvPr id="3" name="Subtitle 2"/>
          <p:cNvSpPr>
            <a:spLocks noGrp="1"/>
          </p:cNvSpPr>
          <p:nvPr>
            <p:ph type="subTitle" idx="1"/>
          </p:nvPr>
        </p:nvSpPr>
        <p:spPr>
          <a:xfrm>
            <a:off x="417008" y="3240880"/>
            <a:ext cx="8229600" cy="569120"/>
          </a:xfrm>
        </p:spPr>
        <p:txBody>
          <a:bodyPr/>
          <a:lstStyle/>
          <a:p>
            <a:r>
              <a:rPr lang="en-US" dirty="0" smtClean="0"/>
              <a:t>.NET Framework, CLR, MSIL, Assemblies, CTS, etc.</a:t>
            </a:r>
            <a:endParaRPr lang="en-US" dirty="0"/>
          </a:p>
        </p:txBody>
      </p:sp>
      <p:pic>
        <p:nvPicPr>
          <p:cNvPr id="106498" name="Picture 2" descr="http://www.enpalermo.com/images/stories/abstracto3.jpg"/>
          <p:cNvPicPr>
            <a:picLocks noChangeAspect="1" noChangeArrowheads="1"/>
          </p:cNvPicPr>
          <p:nvPr/>
        </p:nvPicPr>
        <p:blipFill>
          <a:blip r:embed="rId2" cstate="print">
            <a:lum contrast="20000"/>
            <a:extLst>
              <a:ext uri="{28A0092B-C50C-407E-A947-70E740481C1C}">
                <a14:useLocalDpi xmlns="" xmlns:a14="http://schemas.microsoft.com/office/drawing/2010/main" val="0"/>
              </a:ext>
            </a:extLst>
          </a:blip>
          <a:srcRect/>
          <a:stretch>
            <a:fillRect/>
          </a:stretch>
        </p:blipFill>
        <p:spPr bwMode="auto">
          <a:xfrm>
            <a:off x="4150808" y="4572001"/>
            <a:ext cx="4495800" cy="1828800"/>
          </a:xfrm>
          <a:prstGeom prst="roundRect">
            <a:avLst>
              <a:gd name="adj" fmla="val 7443"/>
            </a:avLst>
          </a:prstGeom>
          <a:noFill/>
          <a:ln w="3175">
            <a:solidFill>
              <a:schemeClr val="accent5">
                <a:lumMod val="40000"/>
                <a:lumOff val="60000"/>
                <a:alpha val="50000"/>
              </a:schemeClr>
            </a:solidFill>
          </a:ln>
        </p:spPr>
      </p:pic>
      <p:pic>
        <p:nvPicPr>
          <p:cNvPr id="106500" name="Picture 4" descr="http://blogs.msdn.com/blogfiles/swiss_dpe_team/WindowsLiveWriter/BetaPhasevonVisua.NETFramework4verlngert_5079/.NET_Logo_6.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l="-3656" t="-14872" r="-4961" b="-13678"/>
          <a:stretch>
            <a:fillRect/>
          </a:stretch>
        </p:blipFill>
        <p:spPr bwMode="auto">
          <a:xfrm rot="253288">
            <a:off x="1942119" y="377057"/>
            <a:ext cx="3969638" cy="1154803"/>
          </a:xfrm>
          <a:prstGeom prst="roundRect">
            <a:avLst>
              <a:gd name="adj" fmla="val 7553"/>
            </a:avLst>
          </a:prstGeom>
          <a:solidFill>
            <a:srgbClr val="FFFFFF"/>
          </a:solidFill>
        </p:spPr>
      </p:pic>
      <p:sp>
        <p:nvSpPr>
          <p:cNvPr id="7" name="TextBox 6"/>
          <p:cNvSpPr txBox="1"/>
          <p:nvPr/>
        </p:nvSpPr>
        <p:spPr>
          <a:xfrm rot="21123636">
            <a:off x="4407463" y="5007523"/>
            <a:ext cx="4014240" cy="707886"/>
          </a:xfrm>
          <a:prstGeom prst="rect">
            <a:avLst/>
          </a:prstGeom>
          <a:noFill/>
          <a:scene3d>
            <a:camera prst="orthographicFront"/>
            <a:lightRig rig="glow" dir="t"/>
          </a:scene3d>
          <a:sp3d prstMaterial="clear"/>
        </p:spPr>
        <p:txBody>
          <a:bodyPr wrap="none" rtlCol="0">
            <a:spAutoFit/>
          </a:bodyPr>
          <a:lstStyle/>
          <a:p>
            <a:r>
              <a:rPr lang="en-US" sz="40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mj-lt"/>
              </a:rPr>
              <a:t>.NET Framework</a:t>
            </a:r>
            <a:endParaRPr lang="en-US" sz="40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mj-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9266" name="Rectangle 2"/>
          <p:cNvSpPr>
            <a:spLocks noGrp="1" noChangeArrowheads="1"/>
          </p:cNvSpPr>
          <p:nvPr>
            <p:ph type="title"/>
          </p:nvPr>
        </p:nvSpPr>
        <p:spPr/>
        <p:txBody>
          <a:bodyPr/>
          <a:lstStyle/>
          <a:p>
            <a:r>
              <a:rPr lang="en-US" dirty="0" smtClean="0"/>
              <a:t>Table of Contents</a:t>
            </a:r>
            <a:endParaRPr lang="bg-BG" dirty="0"/>
          </a:p>
        </p:txBody>
      </p:sp>
      <p:sp>
        <p:nvSpPr>
          <p:cNvPr id="1419267" name="Rectangle 3"/>
          <p:cNvSpPr>
            <a:spLocks noGrp="1" noChangeArrowheads="1"/>
          </p:cNvSpPr>
          <p:nvPr>
            <p:ph idx="1"/>
          </p:nvPr>
        </p:nvSpPr>
        <p:spPr>
          <a:xfrm>
            <a:off x="228600" y="914400"/>
            <a:ext cx="8686800" cy="5715000"/>
          </a:xfrm>
        </p:spPr>
        <p:txBody>
          <a:bodyPr/>
          <a:lstStyle/>
          <a:p>
            <a:pPr marL="542925" indent="-542925">
              <a:lnSpc>
                <a:spcPct val="100000"/>
              </a:lnSpc>
              <a:buFontTx/>
              <a:buAutoNum type="arabicPeriod"/>
            </a:pPr>
            <a:r>
              <a:rPr lang="en-US" dirty="0"/>
              <a:t>What is</a:t>
            </a:r>
            <a:r>
              <a:rPr lang="bg-BG" dirty="0"/>
              <a:t> </a:t>
            </a:r>
            <a:r>
              <a:rPr lang="en-US" dirty="0"/>
              <a:t>.NET</a:t>
            </a:r>
            <a:r>
              <a:rPr lang="bg-BG" dirty="0"/>
              <a:t>?</a:t>
            </a:r>
          </a:p>
          <a:p>
            <a:pPr marL="984250" lvl="1" indent="-261938">
              <a:lnSpc>
                <a:spcPct val="100000"/>
              </a:lnSpc>
            </a:pPr>
            <a:r>
              <a:rPr lang="en-US" dirty="0"/>
              <a:t>Microsoft .NET platform architecture</a:t>
            </a:r>
          </a:p>
          <a:p>
            <a:pPr marL="542925" indent="-542925">
              <a:lnSpc>
                <a:spcPct val="100000"/>
              </a:lnSpc>
              <a:buFontTx/>
              <a:buAutoNum type="arabicPeriod"/>
            </a:pPr>
            <a:r>
              <a:rPr lang="en-US" dirty="0"/>
              <a:t>What is</a:t>
            </a:r>
            <a:r>
              <a:rPr lang="bg-BG" dirty="0"/>
              <a:t> </a:t>
            </a:r>
            <a:r>
              <a:rPr lang="en-US" dirty="0"/>
              <a:t>.NET</a:t>
            </a:r>
            <a:r>
              <a:rPr lang="bg-BG" dirty="0"/>
              <a:t> </a:t>
            </a:r>
            <a:r>
              <a:rPr lang="en-US" dirty="0"/>
              <a:t>Framework</a:t>
            </a:r>
            <a:r>
              <a:rPr lang="bg-BG" dirty="0"/>
              <a:t>?</a:t>
            </a:r>
          </a:p>
          <a:p>
            <a:pPr marL="984250" lvl="1" indent="-261938">
              <a:lnSpc>
                <a:spcPct val="100000"/>
              </a:lnSpc>
            </a:pPr>
            <a:r>
              <a:rPr lang="en-US" dirty="0"/>
              <a:t>.NET Framework Architecture</a:t>
            </a:r>
          </a:p>
          <a:p>
            <a:pPr marL="542925" indent="-542925">
              <a:lnSpc>
                <a:spcPct val="100000"/>
              </a:lnSpc>
              <a:buFontTx/>
              <a:buAutoNum type="arabicPeriod"/>
            </a:pPr>
            <a:r>
              <a:rPr lang="en-US" dirty="0"/>
              <a:t>Common Language Runtime (CLR)</a:t>
            </a:r>
          </a:p>
          <a:p>
            <a:pPr marL="542925" indent="-542925">
              <a:lnSpc>
                <a:spcPct val="100000"/>
              </a:lnSpc>
              <a:buFontTx/>
              <a:buAutoNum type="arabicPeriod"/>
            </a:pPr>
            <a:r>
              <a:rPr lang="en-US" dirty="0"/>
              <a:t>Managed Code</a:t>
            </a:r>
          </a:p>
          <a:p>
            <a:pPr marL="542925" indent="-542925">
              <a:lnSpc>
                <a:spcPct val="100000"/>
              </a:lnSpc>
              <a:buFontTx/>
              <a:buAutoNum type="arabicPeriod"/>
            </a:pPr>
            <a:r>
              <a:rPr lang="en-US" dirty="0"/>
              <a:t>Intermediate Language</a:t>
            </a:r>
            <a:r>
              <a:rPr lang="bg-BG" dirty="0"/>
              <a:t> </a:t>
            </a:r>
            <a:r>
              <a:rPr lang="en-US" dirty="0"/>
              <a:t>MSIL</a:t>
            </a:r>
          </a:p>
          <a:p>
            <a:pPr marL="542925" indent="-542925">
              <a:lnSpc>
                <a:spcPct val="100000"/>
              </a:lnSpc>
              <a:buFontTx/>
              <a:buAutoNum type="arabicPeriod"/>
            </a:pPr>
            <a:r>
              <a:rPr lang="en-US" dirty="0"/>
              <a:t>Assemblies and </a:t>
            </a:r>
            <a:r>
              <a:rPr lang="en-US" dirty="0" smtClean="0"/>
              <a:t>Metadata</a:t>
            </a:r>
          </a:p>
          <a:p>
            <a:pPr marL="542925" indent="-542925">
              <a:lnSpc>
                <a:spcPct val="100000"/>
              </a:lnSpc>
              <a:buFontTx/>
              <a:buAutoNum type="arabicPeriod"/>
            </a:pPr>
            <a:r>
              <a:rPr lang="en-US" dirty="0" smtClean="0"/>
              <a:t>.NET Applications</a:t>
            </a:r>
            <a:endParaRPr lang="en-US" dirty="0"/>
          </a:p>
        </p:txBody>
      </p:sp>
      <p:pic>
        <p:nvPicPr>
          <p:cNvPr id="1026" name="Picture 2" descr="C:\Trash\dotnet-logo.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762750" y="4572000"/>
            <a:ext cx="1847850" cy="1828800"/>
          </a:xfrm>
          <a:prstGeom prst="roundRect">
            <a:avLst>
              <a:gd name="adj" fmla="val 7876"/>
            </a:avLst>
          </a:prstGeom>
          <a:noFill/>
        </p:spPr>
      </p:pic>
      <p:pic>
        <p:nvPicPr>
          <p:cNvPr id="1027" name="Picture 3" descr="C:\Trash\books3.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7504992" y="1219200"/>
            <a:ext cx="1303048" cy="1752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2</a:t>
            </a:fld>
            <a:endParaRPr 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1314" name="Rectangle 2"/>
          <p:cNvSpPr>
            <a:spLocks noGrp="1" noChangeArrowheads="1"/>
          </p:cNvSpPr>
          <p:nvPr>
            <p:ph type="title"/>
          </p:nvPr>
        </p:nvSpPr>
        <p:spPr/>
        <p:txBody>
          <a:bodyPr/>
          <a:lstStyle/>
          <a:p>
            <a:r>
              <a:rPr lang="en-US" dirty="0" smtClean="0"/>
              <a:t>Table of Contents</a:t>
            </a:r>
            <a:r>
              <a:rPr lang="bg-BG" dirty="0" smtClean="0"/>
              <a:t> </a:t>
            </a:r>
            <a:r>
              <a:rPr lang="bg-BG" dirty="0"/>
              <a:t>(2)</a:t>
            </a:r>
          </a:p>
        </p:txBody>
      </p:sp>
      <p:sp>
        <p:nvSpPr>
          <p:cNvPr id="1421315" name="Rectangle 3"/>
          <p:cNvSpPr>
            <a:spLocks noGrp="1" noChangeArrowheads="1"/>
          </p:cNvSpPr>
          <p:nvPr>
            <p:ph idx="1"/>
          </p:nvPr>
        </p:nvSpPr>
        <p:spPr/>
        <p:txBody>
          <a:bodyPr/>
          <a:lstStyle/>
          <a:p>
            <a:pPr marL="542925" indent="-542925">
              <a:lnSpc>
                <a:spcPct val="100000"/>
              </a:lnSpc>
              <a:buFont typeface="+mj-lt"/>
              <a:buAutoNum type="arabicPeriod" startAt="8"/>
            </a:pPr>
            <a:r>
              <a:rPr lang="en-US" dirty="0" smtClean="0"/>
              <a:t>Common </a:t>
            </a:r>
            <a:r>
              <a:rPr lang="en-US" dirty="0"/>
              <a:t>Language Infrastructure (CLI)</a:t>
            </a:r>
            <a:r>
              <a:rPr lang="bg-BG" dirty="0"/>
              <a:t> </a:t>
            </a:r>
            <a:r>
              <a:rPr lang="en-US" dirty="0"/>
              <a:t>and integration of different languages</a:t>
            </a:r>
            <a:endParaRPr lang="bg-BG" dirty="0"/>
          </a:p>
          <a:p>
            <a:pPr marL="1255713" lvl="1" indent="-360363">
              <a:lnSpc>
                <a:spcPct val="100000"/>
              </a:lnSpc>
            </a:pPr>
            <a:r>
              <a:rPr lang="en-US" dirty="0"/>
              <a:t>Common Language Specification (CLS)</a:t>
            </a:r>
          </a:p>
          <a:p>
            <a:pPr marL="1255713" lvl="1" indent="-360363">
              <a:lnSpc>
                <a:spcPct val="100000"/>
              </a:lnSpc>
            </a:pPr>
            <a:r>
              <a:rPr lang="en-US" dirty="0"/>
              <a:t>Common Type System (CTS)</a:t>
            </a:r>
          </a:p>
          <a:p>
            <a:pPr marL="542925" indent="-542925">
              <a:lnSpc>
                <a:spcPct val="100000"/>
              </a:lnSpc>
              <a:buFontTx/>
              <a:buAutoNum type="arabicPeriod" startAt="8"/>
            </a:pPr>
            <a:r>
              <a:rPr lang="en-US" dirty="0"/>
              <a:t>Framework Class Library</a:t>
            </a:r>
          </a:p>
          <a:p>
            <a:pPr marL="542925" indent="-542925">
              <a:lnSpc>
                <a:spcPct val="100000"/>
              </a:lnSpc>
              <a:buFontTx/>
              <a:buAutoNum type="arabicPeriod" startAt="8"/>
            </a:pPr>
            <a:r>
              <a:rPr lang="en-US" dirty="0"/>
              <a:t>Integrated Development Environment</a:t>
            </a:r>
            <a:r>
              <a:rPr lang="bg-BG" dirty="0"/>
              <a:t> </a:t>
            </a:r>
            <a:r>
              <a:rPr lang="en-US" dirty="0"/>
              <a:t>Visual Studio</a:t>
            </a:r>
          </a:p>
        </p:txBody>
      </p:sp>
      <p:pic>
        <p:nvPicPr>
          <p:cNvPr id="104450" name="Picture 2" descr="http://image.guardian.co.uk/sys-images/Arts/Arts_/Pictures/2007/12/14/books460.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096000" y="4892040"/>
            <a:ext cx="2514600" cy="1508760"/>
          </a:xfrm>
          <a:prstGeom prst="roundRect">
            <a:avLst>
              <a:gd name="adj" fmla="val 6011"/>
            </a:avLst>
          </a:prstGeom>
          <a:noFill/>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3</a:t>
            </a:fld>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22" name="Rectangle 2"/>
          <p:cNvSpPr>
            <a:spLocks noGrp="1" noChangeArrowheads="1"/>
          </p:cNvSpPr>
          <p:nvPr>
            <p:ph type="ctrTitle"/>
          </p:nvPr>
        </p:nvSpPr>
        <p:spPr>
          <a:xfrm>
            <a:off x="1330325" y="4175920"/>
            <a:ext cx="6480175" cy="736600"/>
          </a:xfrm>
        </p:spPr>
        <p:txBody>
          <a:bodyPr/>
          <a:lstStyle/>
          <a:p>
            <a:pPr>
              <a:lnSpc>
                <a:spcPct val="110000"/>
              </a:lnSpc>
            </a:pPr>
            <a:r>
              <a:rPr lang="en-US" dirty="0"/>
              <a:t>.NET Framework</a:t>
            </a:r>
            <a:endParaRPr lang="bg-BG" dirty="0"/>
          </a:p>
        </p:txBody>
      </p:sp>
      <p:sp>
        <p:nvSpPr>
          <p:cNvPr id="3" name="Subtitle 5"/>
          <p:cNvSpPr>
            <a:spLocks noGrp="1"/>
          </p:cNvSpPr>
          <p:nvPr>
            <p:ph type="subTitle" idx="1"/>
          </p:nvPr>
        </p:nvSpPr>
        <p:spPr>
          <a:xfrm>
            <a:off x="2438400" y="5064920"/>
            <a:ext cx="4267200" cy="954880"/>
          </a:xfrm>
        </p:spPr>
        <p:txBody>
          <a:bodyPr/>
          <a:lstStyle/>
          <a:p>
            <a:r>
              <a:rPr lang="en-US" dirty="0" smtClean="0"/>
              <a:t>Microsoft's Platform for Application Development</a:t>
            </a:r>
            <a:endParaRPr lang="en-US" dirty="0"/>
          </a:p>
        </p:txBody>
      </p:sp>
      <p:pic>
        <p:nvPicPr>
          <p:cNvPr id="102401" name="Picture 1" descr="C:\Trash\ms.net-logo-blue.jpg"/>
          <p:cNvPicPr>
            <a:picLocks noChangeAspect="1" noChangeArrowheads="1"/>
          </p:cNvPicPr>
          <p:nvPr/>
        </p:nvPicPr>
        <p:blipFill>
          <a:blip r:embed="rId3" cstate="print">
            <a:lum bright="10000" contrast="30000"/>
            <a:extLst>
              <a:ext uri="{28A0092B-C50C-407E-A947-70E740481C1C}">
                <a14:useLocalDpi xmlns="" xmlns:a14="http://schemas.microsoft.com/office/drawing/2010/main" val="0"/>
              </a:ext>
            </a:extLst>
          </a:blip>
          <a:srcRect/>
          <a:stretch>
            <a:fillRect/>
          </a:stretch>
        </p:blipFill>
        <p:spPr bwMode="auto">
          <a:xfrm>
            <a:off x="1905002" y="1175247"/>
            <a:ext cx="5333998" cy="2597644"/>
          </a:xfrm>
          <a:prstGeom prst="roundRect">
            <a:avLst>
              <a:gd name="adj" fmla="val 7821"/>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5410" name="Rectangle 2"/>
          <p:cNvSpPr>
            <a:spLocks noGrp="1" noChangeArrowheads="1"/>
          </p:cNvSpPr>
          <p:nvPr>
            <p:ph type="title"/>
          </p:nvPr>
        </p:nvSpPr>
        <p:spPr/>
        <p:txBody>
          <a:bodyPr/>
          <a:lstStyle/>
          <a:p>
            <a:r>
              <a:rPr lang="en-US" dirty="0"/>
              <a:t>What is </a:t>
            </a:r>
            <a:r>
              <a:rPr lang="en-US" dirty="0" smtClean="0"/>
              <a:t>the .NET </a:t>
            </a:r>
            <a:r>
              <a:rPr lang="en-US" dirty="0"/>
              <a:t>Platform</a:t>
            </a:r>
            <a:r>
              <a:rPr lang="bg-BG" dirty="0"/>
              <a:t>?</a:t>
            </a:r>
          </a:p>
        </p:txBody>
      </p:sp>
      <p:sp>
        <p:nvSpPr>
          <p:cNvPr id="1425411" name="Rectangle 3"/>
          <p:cNvSpPr>
            <a:spLocks noGrp="1" noChangeArrowheads="1"/>
          </p:cNvSpPr>
          <p:nvPr>
            <p:ph idx="1"/>
          </p:nvPr>
        </p:nvSpPr>
        <p:spPr/>
        <p:txBody>
          <a:bodyPr/>
          <a:lstStyle/>
          <a:p>
            <a:pPr>
              <a:lnSpc>
                <a:spcPct val="100000"/>
              </a:lnSpc>
            </a:pPr>
            <a:r>
              <a:rPr lang="en-US" dirty="0" smtClean="0"/>
              <a:t>The .NET platform</a:t>
            </a:r>
          </a:p>
          <a:p>
            <a:pPr lvl="1">
              <a:lnSpc>
                <a:spcPct val="100000"/>
              </a:lnSpc>
            </a:pPr>
            <a:r>
              <a:rPr lang="en-US" dirty="0" smtClean="0"/>
              <a:t>Microsoft's platform for software development</a:t>
            </a:r>
            <a:endParaRPr lang="bg-BG" dirty="0" smtClean="0"/>
          </a:p>
          <a:p>
            <a:pPr lvl="1">
              <a:lnSpc>
                <a:spcPct val="100000"/>
              </a:lnSpc>
            </a:pPr>
            <a:r>
              <a:rPr lang="en-US" dirty="0" smtClean="0"/>
              <a:t>Unified technology for development of almost any kind of applications</a:t>
            </a:r>
            <a:endParaRPr lang="bg-BG" dirty="0"/>
          </a:p>
          <a:p>
            <a:pPr lvl="2">
              <a:lnSpc>
                <a:spcPct val="100000"/>
              </a:lnSpc>
            </a:pPr>
            <a:r>
              <a:rPr lang="en-US" dirty="0" smtClean="0"/>
              <a:t>GUI / Web / mobile / server / cloud / etc</a:t>
            </a:r>
            <a:r>
              <a:rPr lang="en-US" dirty="0" smtClean="0"/>
              <a:t>.</a:t>
            </a:r>
            <a:endParaRPr lang="bg-BG" dirty="0"/>
          </a:p>
        </p:txBody>
      </p:sp>
      <p:pic>
        <p:nvPicPr>
          <p:cNvPr id="100353" name="Picture 1" descr="C:\Trash\dotnet-logo.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477000" y="4269557"/>
            <a:ext cx="2076450" cy="2055043"/>
          </a:xfrm>
          <a:prstGeom prst="roundRect">
            <a:avLst>
              <a:gd name="adj" fmla="val 5129"/>
            </a:avLst>
          </a:prstGeom>
          <a:noFill/>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5</a:t>
            </a:fld>
            <a:endParaRPr lang="en-US"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7458" name="Rectangle 2"/>
          <p:cNvSpPr>
            <a:spLocks noGrp="1" noChangeArrowheads="1"/>
          </p:cNvSpPr>
          <p:nvPr>
            <p:ph type="title"/>
          </p:nvPr>
        </p:nvSpPr>
        <p:spPr/>
        <p:txBody>
          <a:bodyPr/>
          <a:lstStyle/>
          <a:p>
            <a:r>
              <a:rPr lang="en-US" dirty="0"/>
              <a:t>What is</a:t>
            </a:r>
            <a:r>
              <a:rPr lang="bg-BG" dirty="0"/>
              <a:t> </a:t>
            </a:r>
            <a:r>
              <a:rPr lang="en-US" dirty="0"/>
              <a:t>.NET Framework?</a:t>
            </a:r>
            <a:endParaRPr lang="bg-BG" dirty="0"/>
          </a:p>
        </p:txBody>
      </p:sp>
      <p:sp>
        <p:nvSpPr>
          <p:cNvPr id="1427459" name="Rectangle 3"/>
          <p:cNvSpPr>
            <a:spLocks noGrp="1" noChangeArrowheads="1"/>
          </p:cNvSpPr>
          <p:nvPr>
            <p:ph idx="1"/>
          </p:nvPr>
        </p:nvSpPr>
        <p:spPr/>
        <p:txBody>
          <a:bodyPr/>
          <a:lstStyle/>
          <a:p>
            <a:pPr>
              <a:lnSpc>
                <a:spcPct val="100000"/>
              </a:lnSpc>
            </a:pPr>
            <a:r>
              <a:rPr lang="en-US" dirty="0" smtClean="0"/>
              <a:t>.NET Framework</a:t>
            </a:r>
          </a:p>
          <a:p>
            <a:pPr lvl="1">
              <a:lnSpc>
                <a:spcPct val="100000"/>
              </a:lnSpc>
            </a:pPr>
            <a:r>
              <a:rPr lang="en-US" dirty="0" smtClean="0"/>
              <a:t>An </a:t>
            </a:r>
            <a:r>
              <a:rPr lang="en-US" dirty="0"/>
              <a:t>environment for developing and executing</a:t>
            </a:r>
            <a:r>
              <a:rPr lang="bg-BG" dirty="0"/>
              <a:t> </a:t>
            </a:r>
            <a:r>
              <a:rPr lang="en-US" dirty="0"/>
              <a:t>.NET</a:t>
            </a:r>
            <a:r>
              <a:rPr lang="bg-BG" dirty="0"/>
              <a:t> </a:t>
            </a:r>
            <a:r>
              <a:rPr lang="en-US" dirty="0" smtClean="0"/>
              <a:t>applications</a:t>
            </a:r>
            <a:endParaRPr lang="bg-BG" dirty="0"/>
          </a:p>
          <a:p>
            <a:pPr lvl="1">
              <a:lnSpc>
                <a:spcPct val="100000"/>
              </a:lnSpc>
            </a:pPr>
            <a:r>
              <a:rPr lang="en-US" dirty="0" smtClean="0"/>
              <a:t>Unified programming </a:t>
            </a:r>
            <a:r>
              <a:rPr lang="en-US" dirty="0"/>
              <a:t>model</a:t>
            </a:r>
            <a:r>
              <a:rPr lang="bg-BG" dirty="0"/>
              <a:t>, </a:t>
            </a:r>
            <a:r>
              <a:rPr lang="en-US" dirty="0" smtClean="0"/>
              <a:t>set of languages, class libraries</a:t>
            </a:r>
            <a:r>
              <a:rPr lang="bg-BG" dirty="0" smtClean="0"/>
              <a:t>,</a:t>
            </a:r>
            <a:r>
              <a:rPr lang="en-US" dirty="0" smtClean="0"/>
              <a:t> infrastructure, components and tools for application development</a:t>
            </a:r>
            <a:endParaRPr lang="en-US" sz="3100" dirty="0"/>
          </a:p>
          <a:p>
            <a:pPr lvl="1">
              <a:lnSpc>
                <a:spcPct val="100000"/>
              </a:lnSpc>
            </a:pPr>
            <a:r>
              <a:rPr lang="en-US" dirty="0" smtClean="0"/>
              <a:t>Environment for controlled </a:t>
            </a:r>
            <a:r>
              <a:rPr lang="en-US" dirty="0"/>
              <a:t>execution of managed </a:t>
            </a:r>
            <a:r>
              <a:rPr lang="en-US" dirty="0" smtClean="0"/>
              <a:t>code</a:t>
            </a:r>
            <a:endParaRPr lang="en-US" dirty="0" smtClean="0"/>
          </a:p>
        </p:txBody>
      </p:sp>
      <p:pic>
        <p:nvPicPr>
          <p:cNvPr id="98306" name="Picture 2" descr="http://gabrielrodriguez.net/wp-content/uploads/2009/01/microsoft-net-logo-white-300x192.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857999" y="5334000"/>
            <a:ext cx="1905001" cy="1219200"/>
          </a:xfrm>
          <a:prstGeom prst="rect">
            <a:avLst/>
          </a:prstGeom>
          <a:noFill/>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6</a:t>
            </a:fld>
            <a:endParaRPr lang="en-US"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506" name="Rectangle 2"/>
          <p:cNvSpPr>
            <a:spLocks noGrp="1" noChangeArrowheads="1"/>
          </p:cNvSpPr>
          <p:nvPr>
            <p:ph type="title"/>
          </p:nvPr>
        </p:nvSpPr>
        <p:spPr/>
        <p:txBody>
          <a:bodyPr/>
          <a:lstStyle/>
          <a:p>
            <a:r>
              <a:rPr lang="bg-BG" dirty="0"/>
              <a:t>.</a:t>
            </a:r>
            <a:r>
              <a:rPr lang="en-US" dirty="0"/>
              <a:t>NET Framework Components</a:t>
            </a:r>
            <a:endParaRPr lang="bg-BG" dirty="0"/>
          </a:p>
        </p:txBody>
      </p:sp>
      <p:sp>
        <p:nvSpPr>
          <p:cNvPr id="1429507" name="Rectangle 3"/>
          <p:cNvSpPr>
            <a:spLocks noGrp="1" noChangeArrowheads="1"/>
          </p:cNvSpPr>
          <p:nvPr>
            <p:ph idx="1"/>
          </p:nvPr>
        </p:nvSpPr>
        <p:spPr>
          <a:xfrm>
            <a:off x="152400" y="914400"/>
            <a:ext cx="8796338" cy="5754689"/>
          </a:xfrm>
        </p:spPr>
        <p:txBody>
          <a:bodyPr/>
          <a:lstStyle/>
          <a:p>
            <a:pPr>
              <a:lnSpc>
                <a:spcPct val="100000"/>
              </a:lnSpc>
            </a:pPr>
            <a:r>
              <a:rPr lang="en-US" dirty="0">
                <a:solidFill>
                  <a:schemeClr val="accent5">
                    <a:lumMod val="20000"/>
                    <a:lumOff val="80000"/>
                  </a:schemeClr>
                </a:solidFill>
              </a:rPr>
              <a:t>Common Language Runtime</a:t>
            </a:r>
            <a:r>
              <a:rPr lang="en-US" dirty="0"/>
              <a:t> (CLR)</a:t>
            </a:r>
          </a:p>
          <a:p>
            <a:pPr lvl="1">
              <a:lnSpc>
                <a:spcPct val="100000"/>
              </a:lnSpc>
            </a:pPr>
            <a:r>
              <a:rPr lang="en-US" dirty="0"/>
              <a:t>Environment for controlled execution</a:t>
            </a:r>
            <a:r>
              <a:rPr lang="bg-BG" dirty="0"/>
              <a:t> </a:t>
            </a:r>
            <a:r>
              <a:rPr lang="en-US" dirty="0"/>
              <a:t>of programmed code</a:t>
            </a:r>
            <a:r>
              <a:rPr lang="bg-BG" dirty="0"/>
              <a:t> –</a:t>
            </a:r>
            <a:r>
              <a:rPr lang="en-US" dirty="0"/>
              <a:t> like </a:t>
            </a:r>
            <a:r>
              <a:rPr lang="en-US" dirty="0" smtClean="0"/>
              <a:t>a virtual </a:t>
            </a:r>
            <a:r>
              <a:rPr lang="en-US" dirty="0"/>
              <a:t>machine</a:t>
            </a:r>
            <a:endParaRPr lang="bg-BG" dirty="0"/>
          </a:p>
          <a:p>
            <a:pPr lvl="1">
              <a:lnSpc>
                <a:spcPct val="100000"/>
              </a:lnSpc>
            </a:pPr>
            <a:r>
              <a:rPr lang="en-US" dirty="0"/>
              <a:t>Executes</a:t>
            </a:r>
            <a:r>
              <a:rPr lang="bg-BG" dirty="0"/>
              <a:t> </a:t>
            </a:r>
            <a:r>
              <a:rPr lang="en-US" dirty="0"/>
              <a:t>.NET</a:t>
            </a:r>
            <a:r>
              <a:rPr lang="bg-BG" dirty="0"/>
              <a:t> </a:t>
            </a:r>
            <a:r>
              <a:rPr lang="en-US" dirty="0"/>
              <a:t>applications</a:t>
            </a:r>
          </a:p>
          <a:p>
            <a:pPr>
              <a:lnSpc>
                <a:spcPct val="100000"/>
              </a:lnSpc>
            </a:pPr>
            <a:r>
              <a:rPr lang="en-US" dirty="0">
                <a:solidFill>
                  <a:schemeClr val="accent5">
                    <a:lumMod val="20000"/>
                    <a:lumOff val="80000"/>
                  </a:schemeClr>
                </a:solidFill>
              </a:rPr>
              <a:t>Framework Class Library</a:t>
            </a:r>
            <a:r>
              <a:rPr lang="en-US" dirty="0"/>
              <a:t> (FCL)</a:t>
            </a:r>
            <a:endParaRPr lang="bg-BG" dirty="0"/>
          </a:p>
          <a:p>
            <a:pPr lvl="1">
              <a:lnSpc>
                <a:spcPct val="100000"/>
              </a:lnSpc>
            </a:pPr>
            <a:r>
              <a:rPr lang="en-US" dirty="0"/>
              <a:t>Standard</a:t>
            </a:r>
            <a:r>
              <a:rPr lang="bg-BG" dirty="0"/>
              <a:t> </a:t>
            </a:r>
            <a:r>
              <a:rPr lang="en-US" dirty="0"/>
              <a:t>class library </a:t>
            </a:r>
            <a:r>
              <a:rPr lang="en-US" dirty="0" smtClean="0"/>
              <a:t>for .NET development</a:t>
            </a:r>
            <a:endParaRPr lang="bg-BG" dirty="0"/>
          </a:p>
          <a:p>
            <a:pPr lvl="1">
              <a:lnSpc>
                <a:spcPct val="100000"/>
              </a:lnSpc>
            </a:pPr>
            <a:r>
              <a:rPr lang="en-US" dirty="0"/>
              <a:t>Delivers basic functionality for developing</a:t>
            </a:r>
            <a:r>
              <a:rPr lang="bg-BG" dirty="0"/>
              <a:t>:</a:t>
            </a:r>
            <a:r>
              <a:rPr lang="en-US" dirty="0"/>
              <a:t> </a:t>
            </a:r>
            <a:r>
              <a:rPr lang="en-US" dirty="0" smtClean="0"/>
              <a:t>XML, ADO.NET</a:t>
            </a:r>
            <a:r>
              <a:rPr lang="en-US" dirty="0"/>
              <a:t>, </a:t>
            </a:r>
            <a:r>
              <a:rPr lang="en-US" dirty="0" smtClean="0"/>
              <a:t>LINQ, ASP.NET</a:t>
            </a:r>
            <a:r>
              <a:rPr lang="en-US" dirty="0"/>
              <a:t>, </a:t>
            </a:r>
            <a:r>
              <a:rPr lang="en-US" dirty="0" smtClean="0"/>
              <a:t>WPF, WCF, WWF, Silverlight, Web services, Windows </a:t>
            </a:r>
            <a:r>
              <a:rPr lang="en-US" dirty="0"/>
              <a:t>Forms, </a:t>
            </a:r>
            <a:r>
              <a:rPr lang="bg-BG" dirty="0"/>
              <a:t>..</a:t>
            </a:r>
            <a:r>
              <a:rPr lang="en-US" dirty="0" smtClean="0"/>
              <a:t>.</a:t>
            </a:r>
          </a:p>
          <a:p>
            <a:pPr>
              <a:lnSpc>
                <a:spcPct val="100000"/>
              </a:lnSpc>
            </a:pPr>
            <a:r>
              <a:rPr lang="en-US" dirty="0" smtClean="0"/>
              <a:t>SDK, compilers and tools</a:t>
            </a:r>
            <a:endParaRPr lang="en-US"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7</a:t>
            </a:fld>
            <a:endParaRPr 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1556" name="Rectangle 4"/>
          <p:cNvSpPr>
            <a:spLocks noGrp="1" noChangeArrowheads="1"/>
          </p:cNvSpPr>
          <p:nvPr>
            <p:ph type="title"/>
          </p:nvPr>
        </p:nvSpPr>
        <p:spPr>
          <a:xfrm>
            <a:off x="1981200" y="80962"/>
            <a:ext cx="6983413" cy="909638"/>
          </a:xfrm>
          <a:noFill/>
          <a:ln/>
        </p:spPr>
        <p:txBody>
          <a:bodyPr/>
          <a:lstStyle/>
          <a:p>
            <a:r>
              <a:rPr lang="en-US" dirty="0"/>
              <a:t>.NET Framework Architecture</a:t>
            </a:r>
            <a:endParaRPr lang="bg-BG" dirty="0">
              <a:solidFill>
                <a:schemeClr val="accent1"/>
              </a:solidFill>
              <a:effectLst>
                <a:outerShdw blurRad="38100" dist="38100" dir="2700000" algn="tl">
                  <a:srgbClr val="000000"/>
                </a:outerShdw>
              </a:effectLst>
            </a:endParaRPr>
          </a:p>
        </p:txBody>
      </p:sp>
      <p:sp>
        <p:nvSpPr>
          <p:cNvPr id="1431554" name="Rectangle 2"/>
          <p:cNvSpPr>
            <a:spLocks noGrp="1" noChangeArrowheads="1"/>
          </p:cNvSpPr>
          <p:nvPr>
            <p:ph idx="1"/>
          </p:nvPr>
        </p:nvSpPr>
        <p:spPr>
          <a:xfrm>
            <a:off x="839788" y="1219200"/>
            <a:ext cx="7618412" cy="4225925"/>
          </a:xfrm>
        </p:spPr>
        <p:txBody>
          <a:bodyPr/>
          <a:lstStyle/>
          <a:p>
            <a:pPr lvl="1">
              <a:lnSpc>
                <a:spcPct val="100000"/>
              </a:lnSpc>
            </a:pPr>
            <a:r>
              <a:rPr lang="en-US" dirty="0" smtClean="0"/>
              <a:t>The OS</a:t>
            </a:r>
            <a:r>
              <a:rPr lang="bg-BG" dirty="0" smtClean="0"/>
              <a:t> </a:t>
            </a:r>
            <a:r>
              <a:rPr lang="en-US" dirty="0" smtClean="0"/>
              <a:t>manages the</a:t>
            </a:r>
            <a:r>
              <a:rPr lang="bg-BG" dirty="0" smtClean="0"/>
              <a:t> </a:t>
            </a:r>
            <a:r>
              <a:rPr lang="en-US" dirty="0"/>
              <a:t>resources</a:t>
            </a:r>
            <a:r>
              <a:rPr lang="bg-BG" dirty="0"/>
              <a:t>, </a:t>
            </a:r>
            <a:r>
              <a:rPr lang="en-US" dirty="0" smtClean="0"/>
              <a:t>the processes </a:t>
            </a:r>
            <a:r>
              <a:rPr lang="en-US" dirty="0"/>
              <a:t>and the users of the machine</a:t>
            </a:r>
          </a:p>
          <a:p>
            <a:pPr lvl="1">
              <a:lnSpc>
                <a:spcPct val="100000"/>
              </a:lnSpc>
            </a:pPr>
            <a:r>
              <a:rPr lang="en-US" dirty="0"/>
              <a:t>Provides to the applications some services (threads</a:t>
            </a:r>
            <a:r>
              <a:rPr lang="bg-BG" dirty="0"/>
              <a:t>, </a:t>
            </a:r>
            <a:r>
              <a:rPr lang="en-US" dirty="0" smtClean="0"/>
              <a:t>I/O, GDI+, DirectX, COM, COM</a:t>
            </a:r>
            <a:r>
              <a:rPr lang="en-US" dirty="0"/>
              <a:t>+, MSMQ, IIS, </a:t>
            </a:r>
            <a:r>
              <a:rPr lang="en-US" dirty="0" smtClean="0"/>
              <a:t>WMI, …)</a:t>
            </a:r>
            <a:endParaRPr lang="bg-BG" dirty="0"/>
          </a:p>
          <a:p>
            <a:pPr lvl="1">
              <a:lnSpc>
                <a:spcPct val="100000"/>
              </a:lnSpc>
            </a:pPr>
            <a:r>
              <a:rPr lang="en-US" dirty="0"/>
              <a:t>CLR is a separate process </a:t>
            </a:r>
            <a:r>
              <a:rPr lang="en-US" dirty="0" smtClean="0"/>
              <a:t>in the </a:t>
            </a:r>
            <a:r>
              <a:rPr lang="en-US" dirty="0"/>
              <a:t>OS</a:t>
            </a:r>
            <a:endParaRPr lang="bg-BG" dirty="0"/>
          </a:p>
        </p:txBody>
      </p:sp>
      <p:sp>
        <p:nvSpPr>
          <p:cNvPr id="1431555" name="Rectangle 3"/>
          <p:cNvSpPr>
            <a:spLocks noChangeArrowheads="1"/>
          </p:cNvSpPr>
          <p:nvPr/>
        </p:nvSpPr>
        <p:spPr bwMode="auto">
          <a:xfrm>
            <a:off x="628650" y="5832475"/>
            <a:ext cx="7594600" cy="568325"/>
          </a:xfrm>
          <a:prstGeom prst="rect">
            <a:avLst/>
          </a:prstGeom>
          <a:solidFill>
            <a:srgbClr val="808080"/>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08080"/>
            </a:extrusionClr>
          </a:sp3d>
        </p:spPr>
        <p:txBody>
          <a:bodyPr wrap="none" anchor="ctr">
            <a:flatTx/>
          </a:bodyPr>
          <a:lstStyle/>
          <a:p>
            <a:pPr algn="ctr">
              <a:lnSpc>
                <a:spcPct val="100000"/>
              </a:lnSpc>
            </a:pPr>
            <a:r>
              <a:rPr kumimoji="0" lang="en-US" sz="2400" b="1" dirty="0">
                <a:solidFill>
                  <a:schemeClr val="tx1">
                    <a:lumMod val="60000"/>
                    <a:lumOff val="40000"/>
                  </a:schemeClr>
                </a:solidFill>
                <a:effectLst>
                  <a:outerShdw blurRad="38100" dist="38100" dir="2700000" algn="tl">
                    <a:srgbClr val="000000">
                      <a:alpha val="43137"/>
                    </a:srgbClr>
                  </a:outerShdw>
                </a:effectLst>
              </a:rPr>
              <a:t>Operating </a:t>
            </a:r>
            <a:r>
              <a:rPr kumimoji="0" lang="en-US" sz="2400" b="1" dirty="0" smtClean="0">
                <a:solidFill>
                  <a:schemeClr val="tx1">
                    <a:lumMod val="60000"/>
                    <a:lumOff val="40000"/>
                  </a:schemeClr>
                </a:solidFill>
                <a:effectLst>
                  <a:outerShdw blurRad="38100" dist="38100" dir="2700000" algn="tl">
                    <a:srgbClr val="000000">
                      <a:alpha val="43137"/>
                    </a:srgbClr>
                  </a:outerShdw>
                </a:effectLst>
              </a:rPr>
              <a:t>System (OS)</a:t>
            </a:r>
            <a:endParaRPr kumimoji="0" lang="en-US" sz="2400" b="1" dirty="0">
              <a:solidFill>
                <a:schemeClr val="tx1">
                  <a:lumMod val="60000"/>
                  <a:lumOff val="40000"/>
                </a:schemeClr>
              </a:solidFill>
              <a:effectLst>
                <a:outerShdw blurRad="38100" dist="38100" dir="2700000" algn="tl">
                  <a:srgbClr val="000000">
                    <a:alpha val="43137"/>
                  </a:srgbClr>
                </a:outerShdw>
              </a:effectLst>
            </a:endParaRPr>
          </a:p>
        </p:txBody>
      </p:sp>
      <p:pic>
        <p:nvPicPr>
          <p:cNvPr id="94210" name="Picture 2" descr="http://www.teach-ict.com/ecdl/module_1/workbook7/miniweb/images/opsystem.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619151" y="4309494"/>
            <a:ext cx="1068498" cy="1089868"/>
          </a:xfrm>
          <a:prstGeom prst="roundRect">
            <a:avLst>
              <a:gd name="adj" fmla="val 5128"/>
            </a:avLst>
          </a:prstGeom>
          <a:noFill/>
        </p:spPr>
      </p:pic>
      <p:pic>
        <p:nvPicPr>
          <p:cNvPr id="1026" name="Picture 2" descr="http://www.rsc-sw-scotland.ac.uk/images/windows_7_vienna_logo-1.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28650" y="4503145"/>
            <a:ext cx="1549464" cy="923926"/>
          </a:xfrm>
          <a:prstGeom prst="roundRect">
            <a:avLst>
              <a:gd name="adj" fmla="val 5128"/>
            </a:avLst>
          </a:prstGeom>
          <a:noFill/>
          <a:ln>
            <a:solidFill>
              <a:schemeClr val="accent5">
                <a:lumMod val="50000"/>
              </a:schemeClr>
            </a:solidFill>
          </a:ln>
          <a:extLst>
            <a:ext uri="{909E8E84-426E-40DD-AFC4-6F175D3DCCD1}">
              <a14:hiddenFill xmlns="" xmlns:a14="http://schemas.microsoft.com/office/drawing/2010/main">
                <a:solidFill>
                  <a:srgbClr val="FFFFFF"/>
                </a:solidFill>
              </a14:hiddenFill>
            </a:ext>
          </a:extLst>
        </p:spPr>
      </p:pic>
      <p:pic>
        <p:nvPicPr>
          <p:cNvPr id="7" name="Picture 28" descr="http://static.arstechnica.net/windows_embedded_small.png"/>
          <p:cNvPicPr>
            <a:picLocks noChangeAspect="1" noChangeArrowheads="1"/>
          </p:cNvPicPr>
          <p:nvPr/>
        </p:nvPicPr>
        <p:blipFill rotWithShape="1">
          <a:blip r:embed="rId5" cstate="print">
            <a:extLst>
              <a:ext uri="{28A0092B-C50C-407E-A947-70E740481C1C}">
                <a14:useLocalDpi xmlns="" xmlns:a14="http://schemas.microsoft.com/office/drawing/2010/main" val="0"/>
              </a:ext>
            </a:extLst>
          </a:blip>
          <a:srcRect/>
          <a:stretch/>
        </p:blipFill>
        <p:spPr bwMode="auto">
          <a:xfrm rot="280204">
            <a:off x="2766029" y="4690726"/>
            <a:ext cx="1827391" cy="635299"/>
          </a:xfrm>
          <a:prstGeom prst="roundRect">
            <a:avLst>
              <a:gd name="adj" fmla="val 4983"/>
            </a:avLst>
          </a:prstGeom>
          <a:ln>
            <a:solidFill>
              <a:schemeClr val="accent6">
                <a:lumMod val="75000"/>
              </a:schemeClr>
            </a:solid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Lst>
        </p:spPr>
      </p:pic>
      <p:pic>
        <p:nvPicPr>
          <p:cNvPr id="2" name="Picture 2" descr="http://osxdaily.com/images/macosx.jpg"/>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rot="21335649">
            <a:off x="5529113" y="4504417"/>
            <a:ext cx="903384" cy="854988"/>
          </a:xfrm>
          <a:prstGeom prst="roundRect">
            <a:avLst>
              <a:gd name="adj" fmla="val 4983"/>
            </a:avLst>
          </a:prstGeom>
          <a:ln>
            <a:solidFill>
              <a:schemeClr val="accent6">
                <a:lumMod val="75000"/>
              </a:schemeClr>
            </a:solid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Lst>
        </p:spPr>
      </p:pic>
      <p:sp>
        <p:nvSpPr>
          <p:cNvPr id="9"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8</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431555"/>
                                        </p:tgtEl>
                                        <p:attrNameLst>
                                          <p:attrName>style.visibility</p:attrName>
                                        </p:attrNameLst>
                                      </p:cBhvr>
                                      <p:to>
                                        <p:strVal val="visible"/>
                                      </p:to>
                                    </p:set>
                                    <p:anim calcmode="lin" valueType="num">
                                      <p:cBhvr additive="base">
                                        <p:cTn id="7" dur="500" fill="hold"/>
                                        <p:tgtEl>
                                          <p:spTgt spid="1431555"/>
                                        </p:tgtEl>
                                        <p:attrNameLst>
                                          <p:attrName>ppt_x</p:attrName>
                                        </p:attrNameLst>
                                      </p:cBhvr>
                                      <p:tavLst>
                                        <p:tav tm="0">
                                          <p:val>
                                            <p:strVal val="#ppt_x"/>
                                          </p:val>
                                        </p:tav>
                                        <p:tav tm="100000">
                                          <p:val>
                                            <p:strVal val="#ppt_x"/>
                                          </p:val>
                                        </p:tav>
                                      </p:tavLst>
                                    </p:anim>
                                    <p:anim calcmode="lin" valueType="num">
                                      <p:cBhvr additive="base">
                                        <p:cTn id="8" dur="500" fill="hold"/>
                                        <p:tgtEl>
                                          <p:spTgt spid="143155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431554">
                                            <p:txEl>
                                              <p:pRg st="0" end="0"/>
                                            </p:txEl>
                                          </p:spTgt>
                                        </p:tgtEl>
                                        <p:attrNameLst>
                                          <p:attrName>style.visibility</p:attrName>
                                        </p:attrNameLst>
                                      </p:cBhvr>
                                      <p:to>
                                        <p:strVal val="visible"/>
                                      </p:to>
                                    </p:set>
                                    <p:animEffect transition="in" filter="fade">
                                      <p:cBhvr>
                                        <p:cTn id="12" dur="500"/>
                                        <p:tgtEl>
                                          <p:spTgt spid="1431554">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31554">
                                            <p:txEl>
                                              <p:pRg st="1" end="1"/>
                                            </p:txEl>
                                          </p:spTgt>
                                        </p:tgtEl>
                                        <p:attrNameLst>
                                          <p:attrName>style.visibility</p:attrName>
                                        </p:attrNameLst>
                                      </p:cBhvr>
                                      <p:to>
                                        <p:strVal val="visible"/>
                                      </p:to>
                                    </p:set>
                                    <p:animEffect transition="in" filter="fade">
                                      <p:cBhvr>
                                        <p:cTn id="15" dur="500"/>
                                        <p:tgtEl>
                                          <p:spTgt spid="1431554">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31554">
                                            <p:txEl>
                                              <p:pRg st="2" end="2"/>
                                            </p:txEl>
                                          </p:spTgt>
                                        </p:tgtEl>
                                        <p:attrNameLst>
                                          <p:attrName>style.visibility</p:attrName>
                                        </p:attrNameLst>
                                      </p:cBhvr>
                                      <p:to>
                                        <p:strVal val="visible"/>
                                      </p:to>
                                    </p:set>
                                    <p:animEffect transition="in" filter="fade">
                                      <p:cBhvr>
                                        <p:cTn id="18" dur="500"/>
                                        <p:tgtEl>
                                          <p:spTgt spid="14315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1554" grpId="0" build="p"/>
      <p:bldP spid="14315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02" name="Rectangle 2"/>
          <p:cNvSpPr>
            <a:spLocks noChangeArrowheads="1"/>
          </p:cNvSpPr>
          <p:nvPr/>
        </p:nvSpPr>
        <p:spPr bwMode="auto">
          <a:xfrm>
            <a:off x="635000" y="5832475"/>
            <a:ext cx="7594600" cy="568325"/>
          </a:xfrm>
          <a:prstGeom prst="rect">
            <a:avLst/>
          </a:prstGeom>
          <a:solidFill>
            <a:srgbClr val="808080"/>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08080"/>
            </a:extrusionClr>
          </a:sp3d>
        </p:spPr>
        <p:txBody>
          <a:bodyPr wrap="none" anchor="ctr">
            <a:flatTx/>
          </a:bodyPr>
          <a:lstStyle/>
          <a:p>
            <a:pPr algn="ctr">
              <a:lnSpc>
                <a:spcPct val="100000"/>
              </a:lnSpc>
            </a:pPr>
            <a:r>
              <a:rPr lang="en-US" sz="2400" b="1" dirty="0">
                <a:solidFill>
                  <a:schemeClr val="tx1">
                    <a:lumMod val="60000"/>
                    <a:lumOff val="40000"/>
                  </a:schemeClr>
                </a:solidFill>
                <a:effectLst>
                  <a:outerShdw blurRad="38100" dist="38100" dir="2700000" algn="tl">
                    <a:srgbClr val="000000">
                      <a:alpha val="43137"/>
                    </a:srgbClr>
                  </a:outerShdw>
                </a:effectLst>
              </a:rPr>
              <a:t>Operating </a:t>
            </a:r>
            <a:r>
              <a:rPr lang="en-US" sz="2400" b="1" dirty="0" smtClean="0">
                <a:solidFill>
                  <a:schemeClr val="tx1">
                    <a:lumMod val="60000"/>
                    <a:lumOff val="40000"/>
                  </a:schemeClr>
                </a:solidFill>
                <a:effectLst>
                  <a:outerShdw blurRad="38100" dist="38100" dir="2700000" algn="tl">
                    <a:srgbClr val="000000">
                      <a:alpha val="43137"/>
                    </a:srgbClr>
                  </a:outerShdw>
                </a:effectLst>
              </a:rPr>
              <a:t>System (OS)</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433603" name="Rectangle 3"/>
          <p:cNvSpPr>
            <a:spLocks noChangeArrowheads="1"/>
          </p:cNvSpPr>
          <p:nvPr/>
        </p:nvSpPr>
        <p:spPr bwMode="auto">
          <a:xfrm>
            <a:off x="635000" y="5200650"/>
            <a:ext cx="7594600" cy="568325"/>
          </a:xfrm>
          <a:prstGeom prst="rect">
            <a:avLst/>
          </a:prstGeom>
          <a:solidFill>
            <a:schemeClr val="hlink"/>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hlink"/>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Common Language </a:t>
            </a:r>
            <a:r>
              <a:rPr lang="en-US" sz="2400" b="1" dirty="0" smtClean="0">
                <a:solidFill>
                  <a:schemeClr val="tx1">
                    <a:lumMod val="60000"/>
                    <a:lumOff val="40000"/>
                  </a:schemeClr>
                </a:solidFill>
                <a:effectLst>
                  <a:outerShdw blurRad="38100" dist="38100" dir="2700000" algn="tl">
                    <a:srgbClr val="000000">
                      <a:alpha val="43137"/>
                    </a:srgbClr>
                  </a:outerShdw>
                </a:effectLst>
              </a:rPr>
              <a:t>Runtime (CLR)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433604" name="Rectangle 4"/>
          <p:cNvSpPr>
            <a:spLocks noChangeArrowheads="1"/>
          </p:cNvSpPr>
          <p:nvPr/>
        </p:nvSpPr>
        <p:spPr bwMode="auto">
          <a:xfrm>
            <a:off x="762000" y="1484313"/>
            <a:ext cx="6659563" cy="2617787"/>
          </a:xfrm>
          <a:prstGeom prst="rect">
            <a:avLst/>
          </a:prstGeom>
          <a:noFill/>
          <a:ln w="9525">
            <a:noFill/>
            <a:miter lim="800000"/>
            <a:headEnd/>
            <a:tailEnd/>
          </a:ln>
          <a:effectLst/>
        </p:spPr>
        <p:txBody>
          <a:bodyPr/>
          <a:lstStyle/>
          <a:p>
            <a:pPr marL="630238" lvl="1" indent="-273050" eaLnBrk="0" hangingPunct="0">
              <a:spcBef>
                <a:spcPts val="600"/>
              </a:spcBef>
              <a:spcAft>
                <a:spcPts val="600"/>
              </a:spcAft>
              <a:buClr>
                <a:srgbClr val="8FD600"/>
              </a:buClr>
              <a:buFont typeface="Wingdings 2" pitchFamily="18" charset="2"/>
              <a:buChar char=""/>
            </a:pPr>
            <a:r>
              <a:rPr lang="en-US" sz="3000" b="1" dirty="0">
                <a:solidFill>
                  <a:schemeClr val="tx1">
                    <a:lumMod val="40000"/>
                    <a:lumOff val="60000"/>
                  </a:schemeClr>
                </a:solidFill>
                <a:effectLst>
                  <a:outerShdw blurRad="38100" dist="38100" dir="2700000" algn="tl">
                    <a:srgbClr val="000000">
                      <a:alpha val="43137"/>
                    </a:srgbClr>
                  </a:outerShdw>
                </a:effectLst>
                <a:latin typeface="+mn-lt"/>
              </a:rPr>
              <a:t>CLR manages</a:t>
            </a:r>
            <a:r>
              <a:rPr lang="bg-BG" sz="3000" b="1" dirty="0">
                <a:solidFill>
                  <a:schemeClr val="tx1">
                    <a:lumMod val="40000"/>
                    <a:lumOff val="60000"/>
                  </a:schemeClr>
                </a:solidFill>
                <a:effectLst>
                  <a:outerShdw blurRad="38100" dist="38100" dir="2700000" algn="tl">
                    <a:srgbClr val="000000">
                      <a:alpha val="43137"/>
                    </a:srgbClr>
                  </a:outerShdw>
                </a:effectLst>
                <a:latin typeface="+mn-lt"/>
              </a:rPr>
              <a:t> </a:t>
            </a:r>
            <a:r>
              <a:rPr lang="en-US" sz="3000" b="1" dirty="0">
                <a:solidFill>
                  <a:schemeClr val="tx1">
                    <a:lumMod val="40000"/>
                    <a:lumOff val="60000"/>
                  </a:schemeClr>
                </a:solidFill>
                <a:effectLst>
                  <a:outerShdw blurRad="38100" dist="38100" dir="2700000" algn="tl">
                    <a:srgbClr val="000000">
                      <a:alpha val="43137"/>
                    </a:srgbClr>
                  </a:outerShdw>
                </a:effectLst>
                <a:latin typeface="+mn-lt"/>
              </a:rPr>
              <a:t>the </a:t>
            </a:r>
            <a:r>
              <a:rPr lang="en-US" sz="3000" b="1" dirty="0" smtClean="0">
                <a:solidFill>
                  <a:schemeClr val="tx1">
                    <a:lumMod val="40000"/>
                    <a:lumOff val="60000"/>
                  </a:schemeClr>
                </a:solidFill>
                <a:effectLst>
                  <a:outerShdw blurRad="38100" dist="38100" dir="2700000" algn="tl">
                    <a:srgbClr val="000000">
                      <a:alpha val="43137"/>
                    </a:srgbClr>
                  </a:outerShdw>
                </a:effectLst>
                <a:latin typeface="+mn-lt"/>
              </a:rPr>
              <a:t>execution of the.NET code</a:t>
            </a:r>
            <a:endParaRPr lang="en-US" sz="3000" b="1" dirty="0">
              <a:solidFill>
                <a:schemeClr val="tx1">
                  <a:lumMod val="40000"/>
                  <a:lumOff val="60000"/>
                </a:schemeClr>
              </a:solidFill>
              <a:effectLst>
                <a:outerShdw blurRad="38100" dist="38100" dir="2700000" algn="tl">
                  <a:srgbClr val="000000">
                    <a:alpha val="43137"/>
                  </a:srgbClr>
                </a:outerShdw>
              </a:effectLst>
              <a:latin typeface="+mn-lt"/>
            </a:endParaRPr>
          </a:p>
          <a:p>
            <a:pPr marL="630238" lvl="1" indent="-273050" eaLnBrk="0" hangingPunct="0">
              <a:spcBef>
                <a:spcPts val="600"/>
              </a:spcBef>
              <a:spcAft>
                <a:spcPts val="600"/>
              </a:spcAft>
              <a:buClr>
                <a:srgbClr val="8FD600"/>
              </a:buClr>
              <a:buFont typeface="Wingdings 2" pitchFamily="18" charset="2"/>
              <a:buChar char=""/>
            </a:pPr>
            <a:r>
              <a:rPr lang="en-US" sz="3000" b="1" dirty="0">
                <a:solidFill>
                  <a:schemeClr val="tx1">
                    <a:lumMod val="40000"/>
                    <a:lumOff val="60000"/>
                  </a:schemeClr>
                </a:solidFill>
                <a:effectLst>
                  <a:outerShdw blurRad="38100" dist="38100" dir="2700000" algn="tl">
                    <a:srgbClr val="000000">
                      <a:alpha val="43137"/>
                    </a:srgbClr>
                  </a:outerShdw>
                </a:effectLst>
                <a:latin typeface="+mn-lt"/>
              </a:rPr>
              <a:t>Manages the memory</a:t>
            </a:r>
            <a:r>
              <a:rPr lang="bg-BG" sz="3000" b="1" dirty="0">
                <a:solidFill>
                  <a:schemeClr val="tx1">
                    <a:lumMod val="40000"/>
                    <a:lumOff val="60000"/>
                  </a:schemeClr>
                </a:solidFill>
                <a:effectLst>
                  <a:outerShdw blurRad="38100" dist="38100" dir="2700000" algn="tl">
                    <a:srgbClr val="000000">
                      <a:alpha val="43137"/>
                    </a:srgbClr>
                  </a:outerShdw>
                </a:effectLst>
                <a:latin typeface="+mn-lt"/>
              </a:rPr>
              <a:t>, </a:t>
            </a:r>
            <a:r>
              <a:rPr lang="en-US" sz="3000" b="1" dirty="0">
                <a:solidFill>
                  <a:schemeClr val="tx1">
                    <a:lumMod val="40000"/>
                    <a:lumOff val="60000"/>
                  </a:schemeClr>
                </a:solidFill>
                <a:effectLst>
                  <a:outerShdw blurRad="38100" dist="38100" dir="2700000" algn="tl">
                    <a:srgbClr val="000000">
                      <a:alpha val="43137"/>
                    </a:srgbClr>
                  </a:outerShdw>
                </a:effectLst>
                <a:latin typeface="+mn-lt"/>
              </a:rPr>
              <a:t>concurrency</a:t>
            </a:r>
            <a:r>
              <a:rPr lang="bg-BG" sz="3000" b="1" dirty="0">
                <a:solidFill>
                  <a:schemeClr val="tx1">
                    <a:lumMod val="40000"/>
                    <a:lumOff val="60000"/>
                  </a:schemeClr>
                </a:solidFill>
                <a:effectLst>
                  <a:outerShdw blurRad="38100" dist="38100" dir="2700000" algn="tl">
                    <a:srgbClr val="000000">
                      <a:alpha val="43137"/>
                    </a:srgbClr>
                  </a:outerShdw>
                </a:effectLst>
                <a:latin typeface="+mn-lt"/>
              </a:rPr>
              <a:t>, </a:t>
            </a:r>
            <a:r>
              <a:rPr lang="en-US" sz="3000" b="1" dirty="0">
                <a:solidFill>
                  <a:schemeClr val="tx1">
                    <a:lumMod val="40000"/>
                    <a:lumOff val="60000"/>
                  </a:schemeClr>
                </a:solidFill>
                <a:effectLst>
                  <a:outerShdw blurRad="38100" dist="38100" dir="2700000" algn="tl">
                    <a:srgbClr val="000000">
                      <a:alpha val="43137"/>
                    </a:srgbClr>
                  </a:outerShdw>
                </a:effectLst>
                <a:latin typeface="+mn-lt"/>
              </a:rPr>
              <a:t>security</a:t>
            </a:r>
            <a:r>
              <a:rPr lang="bg-BG" sz="3000" b="1" dirty="0">
                <a:solidFill>
                  <a:schemeClr val="tx1">
                    <a:lumMod val="40000"/>
                    <a:lumOff val="60000"/>
                  </a:schemeClr>
                </a:solidFill>
                <a:effectLst>
                  <a:outerShdw blurRad="38100" dist="38100" dir="2700000" algn="tl">
                    <a:srgbClr val="000000">
                      <a:alpha val="43137"/>
                    </a:srgbClr>
                  </a:outerShdw>
                </a:effectLst>
                <a:latin typeface="+mn-lt"/>
              </a:rPr>
              <a:t>, ...</a:t>
            </a:r>
            <a:endParaRPr lang="en-US" sz="3000" b="1" dirty="0">
              <a:solidFill>
                <a:schemeClr val="tx1">
                  <a:lumMod val="40000"/>
                  <a:lumOff val="60000"/>
                </a:schemeClr>
              </a:solidFill>
              <a:effectLst>
                <a:outerShdw blurRad="38100" dist="38100" dir="2700000" algn="tl">
                  <a:srgbClr val="000000">
                    <a:alpha val="43137"/>
                  </a:srgbClr>
                </a:outerShdw>
              </a:effectLst>
              <a:latin typeface="+mn-lt"/>
            </a:endParaRPr>
          </a:p>
        </p:txBody>
      </p:sp>
      <p:sp>
        <p:nvSpPr>
          <p:cNvPr id="1433605" name="Rectangle 5"/>
          <p:cNvSpPr>
            <a:spLocks noGrp="1" noChangeArrowheads="1"/>
          </p:cNvSpPr>
          <p:nvPr>
            <p:ph type="title"/>
          </p:nvPr>
        </p:nvSpPr>
        <p:spPr>
          <a:xfrm>
            <a:off x="1905000" y="80962"/>
            <a:ext cx="7059613" cy="909638"/>
          </a:xfrm>
          <a:noFill/>
          <a:ln/>
        </p:spPr>
        <p:txBody>
          <a:bodyPr/>
          <a:lstStyle/>
          <a:p>
            <a:r>
              <a:rPr lang="en-US" sz="3800" dirty="0"/>
              <a:t>.NET Framework Architecture </a:t>
            </a:r>
            <a:r>
              <a:rPr lang="bg-BG" sz="3800" dirty="0"/>
              <a:t>(2)</a:t>
            </a:r>
          </a:p>
        </p:txBody>
      </p:sp>
      <p:sp>
        <p:nvSpPr>
          <p:cNvPr id="6" name="Cloud 5"/>
          <p:cNvSpPr/>
          <p:nvPr/>
        </p:nvSpPr>
        <p:spPr>
          <a:xfrm>
            <a:off x="6858000" y="3851731"/>
            <a:ext cx="1752600" cy="796469"/>
          </a:xfrm>
          <a:prstGeom prst="cloud">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algn="ctr" eaLnBrk="0" hangingPunct="0">
              <a:spcBef>
                <a:spcPts val="0"/>
              </a:spcBef>
              <a:buClr>
                <a:schemeClr val="accent5">
                  <a:lumMod val="40000"/>
                  <a:lumOff val="60000"/>
                </a:schemeClr>
              </a:buClr>
              <a:buSzPct val="70000"/>
            </a:pPr>
            <a:r>
              <a:rPr lang="en-US" sz="28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CLR</a:t>
            </a:r>
            <a:endParaRPr lang="en-US" sz="2800" b="1" noProof="1">
              <a:solidFill>
                <a:srgbClr val="8CF4F2"/>
              </a:solidFill>
              <a:effectLst>
                <a:outerShdw blurRad="38100" dist="38100" dir="2700000" algn="tl">
                  <a:srgbClr val="000000">
                    <a:alpha val="43137"/>
                  </a:srgbClr>
                </a:outerShdw>
              </a:effectLst>
              <a:latin typeface="Consolas" pitchFamily="49" charset="0"/>
              <a:cs typeface="Consolas" pitchFamily="49" charset="0"/>
            </a:endParaRPr>
          </a:p>
        </p:txBody>
      </p:sp>
      <p:pic>
        <p:nvPicPr>
          <p:cNvPr id="7" name="Picture 24" descr="BD18212_"/>
          <p:cNvPicPr>
            <a:picLocks noChangeAspect="1" noChangeArrowheads="1"/>
          </p:cNvPicPr>
          <p:nvPr/>
        </p:nvPicPr>
        <p:blipFill>
          <a:blip r:embed="rId3" cstate="print">
            <a:lum bright="10000" contrast="30000"/>
            <a:extLst>
              <a:ext uri="{28A0092B-C50C-407E-A947-70E740481C1C}">
                <a14:useLocalDpi xmlns="" xmlns:a14="http://schemas.microsoft.com/office/drawing/2010/main" val="0"/>
              </a:ext>
            </a:extLst>
          </a:blip>
          <a:srcRect/>
          <a:stretch>
            <a:fillRect/>
          </a:stretch>
        </p:blipFill>
        <p:spPr bwMode="auto">
          <a:xfrm>
            <a:off x="7924800" y="3581400"/>
            <a:ext cx="820737" cy="698500"/>
          </a:xfrm>
          <a:prstGeom prst="rect">
            <a:avLst/>
          </a:prstGeom>
          <a:noFill/>
          <a:ln w="9525">
            <a:noFill/>
            <a:miter lim="800000"/>
            <a:headEnd/>
            <a:tailEnd/>
          </a:ln>
          <a:effectLst/>
        </p:spPr>
      </p:pic>
      <p:sp>
        <p:nvSpPr>
          <p:cNvPr id="8"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9</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433603"/>
                                        </p:tgtEl>
                                        <p:attrNameLst>
                                          <p:attrName>style.visibility</p:attrName>
                                        </p:attrNameLst>
                                      </p:cBhvr>
                                      <p:to>
                                        <p:strVal val="visible"/>
                                      </p:to>
                                    </p:set>
                                    <p:anim calcmode="lin" valueType="num">
                                      <p:cBhvr additive="base">
                                        <p:cTn id="7" dur="500" fill="hold"/>
                                        <p:tgtEl>
                                          <p:spTgt spid="1433603"/>
                                        </p:tgtEl>
                                        <p:attrNameLst>
                                          <p:attrName>ppt_x</p:attrName>
                                        </p:attrNameLst>
                                      </p:cBhvr>
                                      <p:tavLst>
                                        <p:tav tm="0">
                                          <p:val>
                                            <p:strVal val="#ppt_x"/>
                                          </p:val>
                                        </p:tav>
                                        <p:tav tm="100000">
                                          <p:val>
                                            <p:strVal val="#ppt_x"/>
                                          </p:val>
                                        </p:tav>
                                      </p:tavLst>
                                    </p:anim>
                                    <p:anim calcmode="lin" valueType="num">
                                      <p:cBhvr additive="base">
                                        <p:cTn id="8" dur="500" fill="hold"/>
                                        <p:tgtEl>
                                          <p:spTgt spid="143360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433604">
                                            <p:txEl>
                                              <p:pRg st="0" end="0"/>
                                            </p:txEl>
                                          </p:spTgt>
                                        </p:tgtEl>
                                        <p:attrNameLst>
                                          <p:attrName>style.visibility</p:attrName>
                                        </p:attrNameLst>
                                      </p:cBhvr>
                                      <p:to>
                                        <p:strVal val="visible"/>
                                      </p:to>
                                    </p:set>
                                    <p:animEffect transition="in" filter="fade">
                                      <p:cBhvr>
                                        <p:cTn id="12" dur="500"/>
                                        <p:tgtEl>
                                          <p:spTgt spid="1433604">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33604">
                                            <p:txEl>
                                              <p:pRg st="1" end="1"/>
                                            </p:txEl>
                                          </p:spTgt>
                                        </p:tgtEl>
                                        <p:attrNameLst>
                                          <p:attrName>style.visibility</p:attrName>
                                        </p:attrNameLst>
                                      </p:cBhvr>
                                      <p:to>
                                        <p:strVal val="visible"/>
                                      </p:to>
                                    </p:set>
                                    <p:animEffect transition="in" filter="fade">
                                      <p:cBhvr>
                                        <p:cTn id="15" dur="500"/>
                                        <p:tgtEl>
                                          <p:spTgt spid="143360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03" grpId="0" animBg="1"/>
      <p:bldP spid="143360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650" name="Rectangle 2"/>
          <p:cNvSpPr>
            <a:spLocks noChangeArrowheads="1"/>
          </p:cNvSpPr>
          <p:nvPr/>
        </p:nvSpPr>
        <p:spPr bwMode="auto">
          <a:xfrm>
            <a:off x="635000" y="5832475"/>
            <a:ext cx="7594600" cy="568325"/>
          </a:xfrm>
          <a:prstGeom prst="rect">
            <a:avLst/>
          </a:prstGeom>
          <a:solidFill>
            <a:srgbClr val="808080"/>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08080"/>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Operating </a:t>
            </a:r>
            <a:r>
              <a:rPr lang="en-US" sz="2400" b="1" dirty="0" smtClean="0">
                <a:solidFill>
                  <a:schemeClr val="tx1">
                    <a:lumMod val="60000"/>
                    <a:lumOff val="40000"/>
                  </a:schemeClr>
                </a:solidFill>
                <a:effectLst>
                  <a:outerShdw blurRad="38100" dist="38100" dir="2700000" algn="tl">
                    <a:srgbClr val="000000">
                      <a:alpha val="43137"/>
                    </a:srgbClr>
                  </a:outerShdw>
                </a:effectLst>
              </a:rPr>
              <a:t>System (OS)</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435651" name="Rectangle 3"/>
          <p:cNvSpPr>
            <a:spLocks noChangeArrowheads="1"/>
          </p:cNvSpPr>
          <p:nvPr/>
        </p:nvSpPr>
        <p:spPr bwMode="auto">
          <a:xfrm>
            <a:off x="635000" y="5200650"/>
            <a:ext cx="7594600" cy="568325"/>
          </a:xfrm>
          <a:prstGeom prst="rect">
            <a:avLst/>
          </a:prstGeom>
          <a:solidFill>
            <a:schemeClr val="hlink"/>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hlink"/>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Common Language </a:t>
            </a:r>
            <a:r>
              <a:rPr lang="en-US" sz="2400" b="1" dirty="0" smtClean="0">
                <a:solidFill>
                  <a:schemeClr val="tx1">
                    <a:lumMod val="60000"/>
                    <a:lumOff val="40000"/>
                  </a:schemeClr>
                </a:solidFill>
                <a:effectLst>
                  <a:outerShdw blurRad="38100" dist="38100" dir="2700000" algn="tl">
                    <a:srgbClr val="000000">
                      <a:alpha val="43137"/>
                    </a:srgbClr>
                  </a:outerShdw>
                </a:effectLst>
              </a:rPr>
              <a:t>Runtime (CLR)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435652" name="Rectangle 4"/>
          <p:cNvSpPr>
            <a:spLocks noChangeArrowheads="1"/>
          </p:cNvSpPr>
          <p:nvPr/>
        </p:nvSpPr>
        <p:spPr bwMode="auto">
          <a:xfrm>
            <a:off x="635000" y="4632325"/>
            <a:ext cx="7594600" cy="504825"/>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sp3d>
        </p:spPr>
        <p:txBody>
          <a:bodyPr wrap="none" anchor="ctr">
            <a:flatTx/>
          </a:bodyPr>
          <a:lstStyle/>
          <a:p>
            <a:pPr algn="ctr">
              <a:lnSpc>
                <a:spcPct val="100000"/>
              </a:lnSpc>
            </a:pPr>
            <a:r>
              <a:rPr lang="en-US" sz="2400" b="1" dirty="0">
                <a:solidFill>
                  <a:schemeClr val="tx1">
                    <a:lumMod val="60000"/>
                    <a:lumOff val="40000"/>
                  </a:schemeClr>
                </a:solidFill>
                <a:effectLst>
                  <a:outerShdw blurRad="38100" dist="38100" dir="2700000" algn="tl">
                    <a:srgbClr val="000000">
                      <a:alpha val="43137"/>
                    </a:srgbClr>
                  </a:outerShdw>
                </a:effectLst>
              </a:rPr>
              <a:t>Base Class </a:t>
            </a:r>
            <a:r>
              <a:rPr lang="en-US" sz="2400" b="1" dirty="0" smtClean="0">
                <a:solidFill>
                  <a:schemeClr val="tx1">
                    <a:lumMod val="60000"/>
                    <a:lumOff val="40000"/>
                  </a:schemeClr>
                </a:solidFill>
                <a:effectLst>
                  <a:outerShdw blurRad="38100" dist="38100" dir="2700000" algn="tl">
                    <a:srgbClr val="000000">
                      <a:alpha val="43137"/>
                    </a:srgbClr>
                  </a:outerShdw>
                </a:effectLst>
              </a:rPr>
              <a:t>Library (BCL)</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9" name="Rectangle 5"/>
          <p:cNvSpPr>
            <a:spLocks noGrp="1" noChangeArrowheads="1"/>
          </p:cNvSpPr>
          <p:nvPr>
            <p:ph type="title"/>
          </p:nvPr>
        </p:nvSpPr>
        <p:spPr>
          <a:xfrm>
            <a:off x="1905000" y="80962"/>
            <a:ext cx="7059613" cy="909638"/>
          </a:xfrm>
          <a:noFill/>
          <a:ln/>
        </p:spPr>
        <p:txBody>
          <a:bodyPr/>
          <a:lstStyle/>
          <a:p>
            <a:r>
              <a:rPr lang="en-US" sz="3800" dirty="0"/>
              <a:t>.NET Framework Architecture </a:t>
            </a:r>
            <a:r>
              <a:rPr lang="bg-BG" sz="3800" dirty="0" smtClean="0"/>
              <a:t>(</a:t>
            </a:r>
            <a:r>
              <a:rPr lang="en-US" sz="3800" dirty="0" smtClean="0"/>
              <a:t>3</a:t>
            </a:r>
            <a:r>
              <a:rPr lang="bg-BG" sz="3800" dirty="0" smtClean="0"/>
              <a:t>)</a:t>
            </a:r>
            <a:endParaRPr lang="bg-BG" sz="3800" dirty="0"/>
          </a:p>
        </p:txBody>
      </p:sp>
      <p:sp>
        <p:nvSpPr>
          <p:cNvPr id="1435653" name="Rectangle 5"/>
          <p:cNvSpPr>
            <a:spLocks noGrp="1" noChangeArrowheads="1"/>
          </p:cNvSpPr>
          <p:nvPr>
            <p:ph idx="1"/>
          </p:nvPr>
        </p:nvSpPr>
        <p:spPr>
          <a:xfrm>
            <a:off x="758825" y="1343025"/>
            <a:ext cx="6757988" cy="2805113"/>
          </a:xfrm>
        </p:spPr>
        <p:txBody>
          <a:bodyPr/>
          <a:lstStyle/>
          <a:p>
            <a:pPr marL="622300" lvl="1" indent="-260350">
              <a:lnSpc>
                <a:spcPct val="100000"/>
              </a:lnSpc>
            </a:pPr>
            <a:r>
              <a:rPr lang="en-US" dirty="0"/>
              <a:t>Rich object-oriented library with fundamental classes</a:t>
            </a:r>
            <a:r>
              <a:rPr lang="bg-BG" dirty="0"/>
              <a:t> </a:t>
            </a:r>
            <a:endParaRPr lang="en-US" dirty="0"/>
          </a:p>
          <a:p>
            <a:pPr marL="622300" lvl="1" indent="-260350">
              <a:lnSpc>
                <a:spcPct val="100000"/>
              </a:lnSpc>
            </a:pPr>
            <a:r>
              <a:rPr lang="en-US" dirty="0" smtClean="0"/>
              <a:t>Input-output, collections</a:t>
            </a:r>
            <a:r>
              <a:rPr lang="en-US" dirty="0"/>
              <a:t>, </a:t>
            </a:r>
            <a:r>
              <a:rPr lang="en-US" dirty="0" smtClean="0"/>
              <a:t>text </a:t>
            </a:r>
            <a:r>
              <a:rPr lang="en-US" dirty="0"/>
              <a:t>processing, networking,</a:t>
            </a:r>
            <a:r>
              <a:rPr lang="bg-BG" dirty="0"/>
              <a:t> </a:t>
            </a:r>
            <a:r>
              <a:rPr lang="en-US" dirty="0" smtClean="0"/>
              <a:t>security</a:t>
            </a:r>
            <a:r>
              <a:rPr lang="bg-BG" dirty="0"/>
              <a:t>, </a:t>
            </a:r>
            <a:r>
              <a:rPr lang="en-US" dirty="0" smtClean="0"/>
              <a:t>multi-threading</a:t>
            </a:r>
            <a:r>
              <a:rPr lang="bg-BG" dirty="0"/>
              <a:t>, </a:t>
            </a:r>
            <a:r>
              <a:rPr lang="en-US" dirty="0"/>
              <a:t>…</a:t>
            </a:r>
          </a:p>
        </p:txBody>
      </p:sp>
      <p:sp>
        <p:nvSpPr>
          <p:cNvPr id="7"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10</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435652"/>
                                        </p:tgtEl>
                                        <p:attrNameLst>
                                          <p:attrName>style.visibility</p:attrName>
                                        </p:attrNameLst>
                                      </p:cBhvr>
                                      <p:to>
                                        <p:strVal val="visible"/>
                                      </p:to>
                                    </p:set>
                                    <p:anim calcmode="lin" valueType="num">
                                      <p:cBhvr additive="base">
                                        <p:cTn id="7" dur="500" fill="hold"/>
                                        <p:tgtEl>
                                          <p:spTgt spid="1435652"/>
                                        </p:tgtEl>
                                        <p:attrNameLst>
                                          <p:attrName>ppt_x</p:attrName>
                                        </p:attrNameLst>
                                      </p:cBhvr>
                                      <p:tavLst>
                                        <p:tav tm="0">
                                          <p:val>
                                            <p:strVal val="#ppt_x"/>
                                          </p:val>
                                        </p:tav>
                                        <p:tav tm="100000">
                                          <p:val>
                                            <p:strVal val="#ppt_x"/>
                                          </p:val>
                                        </p:tav>
                                      </p:tavLst>
                                    </p:anim>
                                    <p:anim calcmode="lin" valueType="num">
                                      <p:cBhvr additive="base">
                                        <p:cTn id="8" dur="500" fill="hold"/>
                                        <p:tgtEl>
                                          <p:spTgt spid="143565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435653">
                                            <p:txEl>
                                              <p:pRg st="0" end="0"/>
                                            </p:txEl>
                                          </p:spTgt>
                                        </p:tgtEl>
                                        <p:attrNameLst>
                                          <p:attrName>style.visibility</p:attrName>
                                        </p:attrNameLst>
                                      </p:cBhvr>
                                      <p:to>
                                        <p:strVal val="visible"/>
                                      </p:to>
                                    </p:set>
                                    <p:animEffect transition="in" filter="fade">
                                      <p:cBhvr>
                                        <p:cTn id="12" dur="500"/>
                                        <p:tgtEl>
                                          <p:spTgt spid="143565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35653">
                                            <p:txEl>
                                              <p:pRg st="1" end="1"/>
                                            </p:txEl>
                                          </p:spTgt>
                                        </p:tgtEl>
                                        <p:attrNameLst>
                                          <p:attrName>style.visibility</p:attrName>
                                        </p:attrNameLst>
                                      </p:cBhvr>
                                      <p:to>
                                        <p:strVal val="visible"/>
                                      </p:to>
                                    </p:set>
                                    <p:animEffect transition="in" filter="fade">
                                      <p:cBhvr>
                                        <p:cTn id="15" dur="500"/>
                                        <p:tgtEl>
                                          <p:spTgt spid="143565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652" grpId="0" animBg="1"/>
      <p:bldP spid="143565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7698" name="Rectangle 2"/>
          <p:cNvSpPr>
            <a:spLocks noChangeArrowheads="1"/>
          </p:cNvSpPr>
          <p:nvPr/>
        </p:nvSpPr>
        <p:spPr bwMode="auto">
          <a:xfrm>
            <a:off x="635000" y="5832475"/>
            <a:ext cx="7594600" cy="568325"/>
          </a:xfrm>
          <a:prstGeom prst="rect">
            <a:avLst/>
          </a:prstGeom>
          <a:solidFill>
            <a:srgbClr val="808080"/>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08080"/>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Operating </a:t>
            </a:r>
            <a:r>
              <a:rPr lang="en-US" sz="2400" b="1" dirty="0" smtClean="0">
                <a:solidFill>
                  <a:schemeClr val="tx1">
                    <a:lumMod val="60000"/>
                    <a:lumOff val="40000"/>
                  </a:schemeClr>
                </a:solidFill>
                <a:effectLst>
                  <a:outerShdw blurRad="38100" dist="38100" dir="2700000" algn="tl">
                    <a:srgbClr val="000000">
                      <a:alpha val="43137"/>
                    </a:srgbClr>
                  </a:outerShdw>
                </a:effectLst>
              </a:rPr>
              <a:t>System (OS)</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437699" name="Rectangle 3"/>
          <p:cNvSpPr>
            <a:spLocks noChangeArrowheads="1"/>
          </p:cNvSpPr>
          <p:nvPr/>
        </p:nvSpPr>
        <p:spPr bwMode="auto">
          <a:xfrm>
            <a:off x="635000" y="5200650"/>
            <a:ext cx="7594600" cy="568325"/>
          </a:xfrm>
          <a:prstGeom prst="rect">
            <a:avLst/>
          </a:prstGeom>
          <a:solidFill>
            <a:schemeClr val="hlink"/>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hlink"/>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Common Language </a:t>
            </a:r>
            <a:r>
              <a:rPr lang="en-US" sz="2400" b="1" dirty="0" smtClean="0">
                <a:solidFill>
                  <a:schemeClr val="tx1">
                    <a:lumMod val="60000"/>
                    <a:lumOff val="40000"/>
                  </a:schemeClr>
                </a:solidFill>
                <a:effectLst>
                  <a:outerShdw blurRad="38100" dist="38100" dir="2700000" algn="tl">
                    <a:srgbClr val="000000">
                      <a:alpha val="43137"/>
                    </a:srgbClr>
                  </a:outerShdw>
                </a:effectLst>
              </a:rPr>
              <a:t>Runtime (CLR)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437700" name="Rectangle 4"/>
          <p:cNvSpPr>
            <a:spLocks noChangeArrowheads="1"/>
          </p:cNvSpPr>
          <p:nvPr/>
        </p:nvSpPr>
        <p:spPr bwMode="auto">
          <a:xfrm>
            <a:off x="635000" y="4632325"/>
            <a:ext cx="7594600" cy="504825"/>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Base Class </a:t>
            </a:r>
            <a:r>
              <a:rPr lang="en-US" sz="2400" b="1" dirty="0" smtClean="0">
                <a:solidFill>
                  <a:schemeClr val="tx1">
                    <a:lumMod val="60000"/>
                    <a:lumOff val="40000"/>
                  </a:schemeClr>
                </a:solidFill>
                <a:effectLst>
                  <a:outerShdw blurRad="38100" dist="38100" dir="2700000" algn="tl">
                    <a:srgbClr val="000000">
                      <a:alpha val="43137"/>
                    </a:srgbClr>
                  </a:outerShdw>
                </a:effectLst>
              </a:rPr>
              <a:t>Library (BCL)</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437701" name="Rectangle 5"/>
          <p:cNvSpPr>
            <a:spLocks noChangeArrowheads="1"/>
          </p:cNvSpPr>
          <p:nvPr/>
        </p:nvSpPr>
        <p:spPr bwMode="auto">
          <a:xfrm>
            <a:off x="635000" y="4064000"/>
            <a:ext cx="7594600" cy="504825"/>
          </a:xfrm>
          <a:prstGeom prst="rect">
            <a:avLst/>
          </a:prstGeom>
          <a:solidFill>
            <a:schemeClr val="accent6">
              <a:lumMod val="40000"/>
              <a:lumOff val="60000"/>
            </a:schemeClr>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6">
                <a:lumMod val="60000"/>
                <a:lumOff val="40000"/>
              </a:schemeClr>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ADO.NET, LINQ </a:t>
            </a:r>
            <a:r>
              <a:rPr lang="en-US" sz="2400" b="1" dirty="0">
                <a:solidFill>
                  <a:schemeClr val="tx1">
                    <a:lumMod val="60000"/>
                    <a:lumOff val="40000"/>
                  </a:schemeClr>
                </a:solidFill>
                <a:effectLst>
                  <a:outerShdw blurRad="38100" dist="38100" dir="2700000" algn="tl">
                    <a:srgbClr val="000000">
                      <a:alpha val="43137"/>
                    </a:srgbClr>
                  </a:outerShdw>
                </a:effectLst>
              </a:rPr>
              <a:t>and </a:t>
            </a:r>
            <a:r>
              <a:rPr lang="en-US" sz="2400" b="1" dirty="0" smtClean="0">
                <a:solidFill>
                  <a:schemeClr val="tx1">
                    <a:lumMod val="60000"/>
                    <a:lumOff val="40000"/>
                  </a:schemeClr>
                </a:solidFill>
                <a:effectLst>
                  <a:outerShdw blurRad="38100" dist="38100" dir="2700000" algn="tl">
                    <a:srgbClr val="000000">
                      <a:alpha val="43137"/>
                    </a:srgbClr>
                  </a:outerShdw>
                </a:effectLst>
              </a:rPr>
              <a:t>XML (Data Tier)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9" name="Rectangle 5"/>
          <p:cNvSpPr>
            <a:spLocks noGrp="1" noChangeArrowheads="1"/>
          </p:cNvSpPr>
          <p:nvPr>
            <p:ph type="title"/>
          </p:nvPr>
        </p:nvSpPr>
        <p:spPr>
          <a:xfrm>
            <a:off x="1905000" y="80962"/>
            <a:ext cx="7059613" cy="909638"/>
          </a:xfrm>
          <a:noFill/>
          <a:ln/>
        </p:spPr>
        <p:txBody>
          <a:bodyPr/>
          <a:lstStyle/>
          <a:p>
            <a:r>
              <a:rPr lang="en-US" sz="3800" dirty="0"/>
              <a:t>.NET Framework Architecture </a:t>
            </a:r>
            <a:r>
              <a:rPr lang="bg-BG" sz="3800" dirty="0" smtClean="0"/>
              <a:t>(</a:t>
            </a:r>
            <a:r>
              <a:rPr lang="en-US" sz="3800" dirty="0" smtClean="0"/>
              <a:t>4</a:t>
            </a:r>
            <a:r>
              <a:rPr lang="bg-BG" sz="3800" dirty="0" smtClean="0"/>
              <a:t>)</a:t>
            </a:r>
            <a:endParaRPr lang="bg-BG" sz="3800" dirty="0"/>
          </a:p>
        </p:txBody>
      </p:sp>
      <p:sp>
        <p:nvSpPr>
          <p:cNvPr id="10" name="Rectangle 5"/>
          <p:cNvSpPr txBox="1">
            <a:spLocks noChangeArrowheads="1"/>
          </p:cNvSpPr>
          <p:nvPr/>
        </p:nvSpPr>
        <p:spPr>
          <a:xfrm>
            <a:off x="758825" y="1219200"/>
            <a:ext cx="6757988" cy="2514600"/>
          </a:xfrm>
          <a:prstGeom prst="rect">
            <a:avLst/>
          </a:prstGeom>
        </p:spPr>
        <p:txBody>
          <a:bodyPr/>
          <a:lstStyle/>
          <a:p>
            <a:pPr marL="622300" lvl="1" indent="-260350" eaLnBrk="0" hangingPunct="0">
              <a:spcBef>
                <a:spcPts val="600"/>
              </a:spcBef>
              <a:spcAft>
                <a:spcPts val="600"/>
              </a:spcAft>
              <a:buClr>
                <a:srgbClr val="8FD600"/>
              </a:buClr>
              <a:buFont typeface="Wingdings 2" pitchFamily="18" charset="2"/>
              <a:buChar char=""/>
            </a:pPr>
            <a:r>
              <a:rPr lang="en-US" sz="3000" b="1" dirty="0" smtClean="0">
                <a:solidFill>
                  <a:schemeClr val="tx1">
                    <a:lumMod val="40000"/>
                    <a:lumOff val="60000"/>
                  </a:schemeClr>
                </a:solidFill>
                <a:effectLst>
                  <a:outerShdw blurRad="38100" dist="38100" dir="2700000" algn="tl">
                    <a:srgbClr val="000000">
                      <a:alpha val="43137"/>
                    </a:srgbClr>
                  </a:outerShdw>
                </a:effectLst>
                <a:latin typeface="+mn-lt"/>
              </a:rPr>
              <a:t>Database access</a:t>
            </a:r>
          </a:p>
          <a:p>
            <a:pPr marL="622300" lvl="1" indent="-260350" eaLnBrk="0" hangingPunct="0">
              <a:spcBef>
                <a:spcPts val="600"/>
              </a:spcBef>
              <a:spcAft>
                <a:spcPts val="600"/>
              </a:spcAft>
              <a:buClr>
                <a:srgbClr val="8FD600"/>
              </a:buClr>
              <a:buFont typeface="Wingdings 2" pitchFamily="18" charset="2"/>
              <a:buChar char=""/>
            </a:pPr>
            <a:r>
              <a:rPr lang="en-US" sz="3000" b="1" dirty="0" smtClean="0">
                <a:solidFill>
                  <a:schemeClr val="tx1">
                    <a:lumMod val="40000"/>
                    <a:lumOff val="60000"/>
                  </a:schemeClr>
                </a:solidFill>
                <a:effectLst>
                  <a:outerShdw blurRad="38100" dist="38100" dir="2700000" algn="tl">
                    <a:srgbClr val="000000">
                      <a:alpha val="43137"/>
                    </a:srgbClr>
                  </a:outerShdw>
                </a:effectLst>
                <a:latin typeface="+mn-lt"/>
              </a:rPr>
              <a:t>ADO.NET, LINQ, LINQ-to-SQL and Entity Framework</a:t>
            </a:r>
          </a:p>
          <a:p>
            <a:pPr marL="622300" lvl="1" indent="-260350" eaLnBrk="0" hangingPunct="0">
              <a:spcBef>
                <a:spcPts val="600"/>
              </a:spcBef>
              <a:spcAft>
                <a:spcPts val="600"/>
              </a:spcAft>
              <a:buClr>
                <a:srgbClr val="8FD600"/>
              </a:buClr>
              <a:buFont typeface="Wingdings 2" pitchFamily="18" charset="2"/>
              <a:buChar char=""/>
            </a:pPr>
            <a:r>
              <a:rPr lang="en-US" sz="3000" b="1" dirty="0" smtClean="0">
                <a:solidFill>
                  <a:schemeClr val="tx1">
                    <a:lumMod val="40000"/>
                    <a:lumOff val="60000"/>
                  </a:schemeClr>
                </a:solidFill>
                <a:effectLst>
                  <a:outerShdw blurRad="38100" dist="38100" dir="2700000" algn="tl">
                    <a:srgbClr val="000000">
                      <a:alpha val="43137"/>
                    </a:srgbClr>
                  </a:outerShdw>
                </a:effectLst>
                <a:latin typeface="+mn-lt"/>
              </a:rPr>
              <a:t>Strong XML support</a:t>
            </a:r>
            <a:endParaRPr kumimoji="0" lang="en-US" sz="3000" b="1" i="0" u="none" strike="noStrike" kern="1200" cap="none" spc="0" normalizeH="0" baseline="0" noProof="0" dirty="0">
              <a:ln>
                <a:noFill/>
              </a:ln>
              <a:solidFill>
                <a:schemeClr val="tx1">
                  <a:lumMod val="40000"/>
                  <a:lumOff val="60000"/>
                </a:schemeClr>
              </a:solidFill>
              <a:effectLst>
                <a:outerShdw blurRad="38100" dist="38100" dir="2700000" algn="tl">
                  <a:srgbClr val="000000">
                    <a:alpha val="43137"/>
                  </a:srgbClr>
                </a:outerShdw>
              </a:effectLst>
              <a:uLnTx/>
              <a:uFillTx/>
              <a:latin typeface="+mn-lt"/>
              <a:ea typeface="+mn-ea"/>
              <a:cs typeface="+mn-cs"/>
            </a:endParaRPr>
          </a:p>
        </p:txBody>
      </p:sp>
      <p:pic>
        <p:nvPicPr>
          <p:cNvPr id="88066" name="Picture 2" descr="http://www.checkitout.co.uk/images/database_design.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096000" y="2514600"/>
            <a:ext cx="2444750" cy="11334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11</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437701"/>
                                        </p:tgtEl>
                                        <p:attrNameLst>
                                          <p:attrName>style.visibility</p:attrName>
                                        </p:attrNameLst>
                                      </p:cBhvr>
                                      <p:to>
                                        <p:strVal val="visible"/>
                                      </p:to>
                                    </p:set>
                                    <p:anim calcmode="lin" valueType="num">
                                      <p:cBhvr additive="base">
                                        <p:cTn id="7" dur="500" fill="hold"/>
                                        <p:tgtEl>
                                          <p:spTgt spid="1437701"/>
                                        </p:tgtEl>
                                        <p:attrNameLst>
                                          <p:attrName>ppt_x</p:attrName>
                                        </p:attrNameLst>
                                      </p:cBhvr>
                                      <p:tavLst>
                                        <p:tav tm="0">
                                          <p:val>
                                            <p:strVal val="#ppt_x"/>
                                          </p:val>
                                        </p:tav>
                                        <p:tav tm="100000">
                                          <p:val>
                                            <p:strVal val="#ppt_x"/>
                                          </p:val>
                                        </p:tav>
                                      </p:tavLst>
                                    </p:anim>
                                    <p:anim calcmode="lin" valueType="num">
                                      <p:cBhvr additive="base">
                                        <p:cTn id="8" dur="500" fill="hold"/>
                                        <p:tgtEl>
                                          <p:spTgt spid="1437701"/>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fade">
                                      <p:cBhvr>
                                        <p:cTn id="15" dur="500"/>
                                        <p:tgtEl>
                                          <p:spTgt spid="10">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7701" grpId="0" animBg="1"/>
      <p:bldP spid="10"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p:cNvSpPr>
            <a:spLocks noChangeArrowheads="1"/>
          </p:cNvSpPr>
          <p:nvPr/>
        </p:nvSpPr>
        <p:spPr bwMode="auto">
          <a:xfrm>
            <a:off x="624392" y="5832475"/>
            <a:ext cx="7594600" cy="568325"/>
          </a:xfrm>
          <a:prstGeom prst="rect">
            <a:avLst/>
          </a:prstGeom>
          <a:solidFill>
            <a:srgbClr val="808080"/>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08080"/>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Operating </a:t>
            </a:r>
            <a:r>
              <a:rPr lang="en-US" sz="2400" b="1" dirty="0" smtClean="0">
                <a:solidFill>
                  <a:schemeClr val="tx1">
                    <a:lumMod val="60000"/>
                    <a:lumOff val="40000"/>
                  </a:schemeClr>
                </a:solidFill>
                <a:effectLst>
                  <a:outerShdw blurRad="38100" dist="38100" dir="2700000" algn="tl">
                    <a:srgbClr val="000000">
                      <a:alpha val="43137"/>
                    </a:srgbClr>
                  </a:outerShdw>
                </a:effectLst>
              </a:rPr>
              <a:t>System (OS)</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5" name="Rectangle 3"/>
          <p:cNvSpPr>
            <a:spLocks noChangeArrowheads="1"/>
          </p:cNvSpPr>
          <p:nvPr/>
        </p:nvSpPr>
        <p:spPr bwMode="auto">
          <a:xfrm>
            <a:off x="624392" y="5200650"/>
            <a:ext cx="7594600" cy="568325"/>
          </a:xfrm>
          <a:prstGeom prst="rect">
            <a:avLst/>
          </a:prstGeom>
          <a:solidFill>
            <a:schemeClr val="hlink"/>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hlink"/>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Common Language </a:t>
            </a:r>
            <a:r>
              <a:rPr lang="en-US" sz="2400" b="1" dirty="0" smtClean="0">
                <a:solidFill>
                  <a:schemeClr val="tx1">
                    <a:lumMod val="60000"/>
                    <a:lumOff val="40000"/>
                  </a:schemeClr>
                </a:solidFill>
                <a:effectLst>
                  <a:outerShdw blurRad="38100" dist="38100" dir="2700000" algn="tl">
                    <a:srgbClr val="000000">
                      <a:alpha val="43137"/>
                    </a:srgbClr>
                  </a:outerShdw>
                </a:effectLst>
              </a:rPr>
              <a:t>Runtime (CLR)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6" name="Rectangle 4"/>
          <p:cNvSpPr>
            <a:spLocks noChangeArrowheads="1"/>
          </p:cNvSpPr>
          <p:nvPr/>
        </p:nvSpPr>
        <p:spPr bwMode="auto">
          <a:xfrm>
            <a:off x="624392" y="4632325"/>
            <a:ext cx="7594600" cy="504825"/>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Base Class </a:t>
            </a:r>
            <a:r>
              <a:rPr lang="en-US" sz="2400" b="1" dirty="0" smtClean="0">
                <a:solidFill>
                  <a:schemeClr val="tx1">
                    <a:lumMod val="60000"/>
                    <a:lumOff val="40000"/>
                  </a:schemeClr>
                </a:solidFill>
                <a:effectLst>
                  <a:outerShdw blurRad="38100" dist="38100" dir="2700000" algn="tl">
                    <a:srgbClr val="000000">
                      <a:alpha val="43137"/>
                    </a:srgbClr>
                  </a:outerShdw>
                </a:effectLst>
              </a:rPr>
              <a:t>Library (BCL)</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7" name="Rectangle 5"/>
          <p:cNvSpPr>
            <a:spLocks noChangeArrowheads="1"/>
          </p:cNvSpPr>
          <p:nvPr/>
        </p:nvSpPr>
        <p:spPr bwMode="auto">
          <a:xfrm>
            <a:off x="624392" y="4064000"/>
            <a:ext cx="7594600" cy="504825"/>
          </a:xfrm>
          <a:prstGeom prst="rect">
            <a:avLst/>
          </a:prstGeom>
          <a:solidFill>
            <a:schemeClr val="accent6">
              <a:lumMod val="40000"/>
              <a:lumOff val="60000"/>
            </a:schemeClr>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6">
                <a:lumMod val="60000"/>
                <a:lumOff val="40000"/>
              </a:schemeClr>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ADO.NET, LINQ </a:t>
            </a:r>
            <a:r>
              <a:rPr lang="en-US" sz="2400" b="1" dirty="0">
                <a:solidFill>
                  <a:schemeClr val="tx1">
                    <a:lumMod val="60000"/>
                    <a:lumOff val="40000"/>
                  </a:schemeClr>
                </a:solidFill>
                <a:effectLst>
                  <a:outerShdw blurRad="38100" dist="38100" dir="2700000" algn="tl">
                    <a:srgbClr val="000000">
                      <a:alpha val="43137"/>
                    </a:srgbClr>
                  </a:outerShdw>
                </a:effectLst>
              </a:rPr>
              <a:t>and </a:t>
            </a:r>
            <a:r>
              <a:rPr lang="en-US" sz="2400" b="1" dirty="0" smtClean="0">
                <a:solidFill>
                  <a:schemeClr val="tx1">
                    <a:lumMod val="60000"/>
                    <a:lumOff val="40000"/>
                  </a:schemeClr>
                </a:solidFill>
                <a:effectLst>
                  <a:outerShdw blurRad="38100" dist="38100" dir="2700000" algn="tl">
                    <a:srgbClr val="000000">
                      <a:alpha val="43137"/>
                    </a:srgbClr>
                  </a:outerShdw>
                </a:effectLst>
              </a:rPr>
              <a:t>XML (Data Tier)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1" name="Rectangle 5"/>
          <p:cNvSpPr>
            <a:spLocks noGrp="1" noChangeArrowheads="1"/>
          </p:cNvSpPr>
          <p:nvPr>
            <p:ph type="title"/>
          </p:nvPr>
        </p:nvSpPr>
        <p:spPr>
          <a:noFill/>
          <a:ln/>
        </p:spPr>
        <p:txBody>
          <a:bodyPr/>
          <a:lstStyle/>
          <a:p>
            <a:r>
              <a:rPr lang="en-US" sz="3800" dirty="0"/>
              <a:t>.NET Framework Architecture </a:t>
            </a:r>
            <a:r>
              <a:rPr lang="bg-BG" sz="3800" dirty="0" smtClean="0"/>
              <a:t>(</a:t>
            </a:r>
            <a:r>
              <a:rPr lang="en-US" sz="3800" dirty="0" smtClean="0"/>
              <a:t>5</a:t>
            </a:r>
            <a:r>
              <a:rPr lang="bg-BG" sz="3800" dirty="0" smtClean="0"/>
              <a:t>)</a:t>
            </a:r>
            <a:endParaRPr lang="bg-BG" sz="3800" dirty="0"/>
          </a:p>
        </p:txBody>
      </p:sp>
      <p:sp>
        <p:nvSpPr>
          <p:cNvPr id="19" name="Rectangle 5"/>
          <p:cNvSpPr>
            <a:spLocks noChangeArrowheads="1"/>
          </p:cNvSpPr>
          <p:nvPr/>
        </p:nvSpPr>
        <p:spPr bwMode="auto">
          <a:xfrm>
            <a:off x="635000" y="3495152"/>
            <a:ext cx="7594600" cy="504825"/>
          </a:xfrm>
          <a:prstGeom prst="rect">
            <a:avLst/>
          </a:prstGeom>
          <a:solidFill>
            <a:srgbClr val="FF99FF"/>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FF69FF"/>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WCF and WWF (Communication and Workflow Tier)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20" name="Rectangle 5"/>
          <p:cNvSpPr txBox="1">
            <a:spLocks noChangeArrowheads="1"/>
          </p:cNvSpPr>
          <p:nvPr/>
        </p:nvSpPr>
        <p:spPr>
          <a:xfrm>
            <a:off x="758825" y="1066800"/>
            <a:ext cx="6403975" cy="2057400"/>
          </a:xfrm>
          <a:prstGeom prst="rect">
            <a:avLst/>
          </a:prstGeom>
        </p:spPr>
        <p:txBody>
          <a:bodyPr/>
          <a:lstStyle/>
          <a:p>
            <a:pPr marL="622300" lvl="1" indent="-260350" eaLnBrk="0" hangingPunct="0">
              <a:spcBef>
                <a:spcPts val="600"/>
              </a:spcBef>
              <a:spcAft>
                <a:spcPts val="600"/>
              </a:spcAft>
              <a:buClr>
                <a:srgbClr val="8FD600"/>
              </a:buClr>
              <a:buFont typeface="Wingdings 2" pitchFamily="18" charset="2"/>
              <a:buChar char=""/>
            </a:pPr>
            <a:r>
              <a:rPr lang="en-US" sz="3000" b="1" dirty="0" smtClean="0">
                <a:solidFill>
                  <a:schemeClr val="tx1">
                    <a:lumMod val="40000"/>
                    <a:lumOff val="60000"/>
                  </a:schemeClr>
                </a:solidFill>
                <a:effectLst>
                  <a:outerShdw blurRad="38100" dist="38100" dir="2700000" algn="tl">
                    <a:srgbClr val="000000">
                      <a:alpha val="43137"/>
                    </a:srgbClr>
                  </a:outerShdw>
                </a:effectLst>
                <a:latin typeface="+mn-lt"/>
              </a:rPr>
              <a:t>Windows Communication Foundation (WCF) and Windows Workflow Foundation (WWF) for the SOA world</a:t>
            </a:r>
          </a:p>
        </p:txBody>
      </p:sp>
      <p:pic>
        <p:nvPicPr>
          <p:cNvPr id="86018" name="Picture 2" descr="http://www.thedotnetway.net/wp-content/uploads/2009/09/WCF.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018742" y="1066800"/>
            <a:ext cx="1744258" cy="1066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12</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p:cNvSpPr>
            <a:spLocks noChangeArrowheads="1"/>
          </p:cNvSpPr>
          <p:nvPr/>
        </p:nvSpPr>
        <p:spPr bwMode="auto">
          <a:xfrm>
            <a:off x="624392" y="5832475"/>
            <a:ext cx="7594600" cy="568325"/>
          </a:xfrm>
          <a:prstGeom prst="rect">
            <a:avLst/>
          </a:prstGeom>
          <a:solidFill>
            <a:srgbClr val="808080"/>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08080"/>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Operating </a:t>
            </a:r>
            <a:r>
              <a:rPr lang="en-US" sz="2400" b="1" dirty="0" smtClean="0">
                <a:solidFill>
                  <a:schemeClr val="tx1">
                    <a:lumMod val="60000"/>
                    <a:lumOff val="40000"/>
                  </a:schemeClr>
                </a:solidFill>
                <a:effectLst>
                  <a:outerShdw blurRad="38100" dist="38100" dir="2700000" algn="tl">
                    <a:srgbClr val="000000">
                      <a:alpha val="43137"/>
                    </a:srgbClr>
                  </a:outerShdw>
                </a:effectLst>
              </a:rPr>
              <a:t>System (OS)</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5" name="Rectangle 3"/>
          <p:cNvSpPr>
            <a:spLocks noChangeArrowheads="1"/>
          </p:cNvSpPr>
          <p:nvPr/>
        </p:nvSpPr>
        <p:spPr bwMode="auto">
          <a:xfrm>
            <a:off x="624392" y="5200650"/>
            <a:ext cx="7594600" cy="568325"/>
          </a:xfrm>
          <a:prstGeom prst="rect">
            <a:avLst/>
          </a:prstGeom>
          <a:solidFill>
            <a:schemeClr val="hlink"/>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hlink"/>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Common Language </a:t>
            </a:r>
            <a:r>
              <a:rPr lang="en-US" sz="2400" b="1" dirty="0" smtClean="0">
                <a:solidFill>
                  <a:schemeClr val="tx1">
                    <a:lumMod val="60000"/>
                    <a:lumOff val="40000"/>
                  </a:schemeClr>
                </a:solidFill>
                <a:effectLst>
                  <a:outerShdw blurRad="38100" dist="38100" dir="2700000" algn="tl">
                    <a:srgbClr val="000000">
                      <a:alpha val="43137"/>
                    </a:srgbClr>
                  </a:outerShdw>
                </a:effectLst>
              </a:rPr>
              <a:t>Runtime (CLR)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6" name="Rectangle 4"/>
          <p:cNvSpPr>
            <a:spLocks noChangeArrowheads="1"/>
          </p:cNvSpPr>
          <p:nvPr/>
        </p:nvSpPr>
        <p:spPr bwMode="auto">
          <a:xfrm>
            <a:off x="624392" y="4632325"/>
            <a:ext cx="7594600" cy="504825"/>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Base Class </a:t>
            </a:r>
            <a:r>
              <a:rPr lang="en-US" sz="2400" b="1" dirty="0" smtClean="0">
                <a:solidFill>
                  <a:schemeClr val="tx1">
                    <a:lumMod val="60000"/>
                    <a:lumOff val="40000"/>
                  </a:schemeClr>
                </a:solidFill>
                <a:effectLst>
                  <a:outerShdw blurRad="38100" dist="38100" dir="2700000" algn="tl">
                    <a:srgbClr val="000000">
                      <a:alpha val="43137"/>
                    </a:srgbClr>
                  </a:outerShdw>
                </a:effectLst>
              </a:rPr>
              <a:t>Library (BCL)</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7" name="Rectangle 5"/>
          <p:cNvSpPr>
            <a:spLocks noChangeArrowheads="1"/>
          </p:cNvSpPr>
          <p:nvPr/>
        </p:nvSpPr>
        <p:spPr bwMode="auto">
          <a:xfrm>
            <a:off x="624392" y="4064000"/>
            <a:ext cx="7594600" cy="504825"/>
          </a:xfrm>
          <a:prstGeom prst="rect">
            <a:avLst/>
          </a:prstGeom>
          <a:solidFill>
            <a:schemeClr val="accent6">
              <a:lumMod val="40000"/>
              <a:lumOff val="60000"/>
            </a:schemeClr>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6">
                <a:lumMod val="60000"/>
                <a:lumOff val="40000"/>
              </a:schemeClr>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ADO.NET, LINQ </a:t>
            </a:r>
            <a:r>
              <a:rPr lang="en-US" sz="2400" b="1" dirty="0">
                <a:solidFill>
                  <a:schemeClr val="tx1">
                    <a:lumMod val="60000"/>
                    <a:lumOff val="40000"/>
                  </a:schemeClr>
                </a:solidFill>
                <a:effectLst>
                  <a:outerShdw blurRad="38100" dist="38100" dir="2700000" algn="tl">
                    <a:srgbClr val="000000">
                      <a:alpha val="43137"/>
                    </a:srgbClr>
                  </a:outerShdw>
                </a:effectLst>
              </a:rPr>
              <a:t>and </a:t>
            </a:r>
            <a:r>
              <a:rPr lang="en-US" sz="2400" b="1" dirty="0" smtClean="0">
                <a:solidFill>
                  <a:schemeClr val="tx1">
                    <a:lumMod val="60000"/>
                    <a:lumOff val="40000"/>
                  </a:schemeClr>
                </a:solidFill>
                <a:effectLst>
                  <a:outerShdw blurRad="38100" dist="38100" dir="2700000" algn="tl">
                    <a:srgbClr val="000000">
                      <a:alpha val="43137"/>
                    </a:srgbClr>
                  </a:outerShdw>
                </a:effectLst>
              </a:rPr>
              <a:t>XML (Data Tier)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1" name="Rectangle 5"/>
          <p:cNvSpPr>
            <a:spLocks noGrp="1" noChangeArrowheads="1"/>
          </p:cNvSpPr>
          <p:nvPr>
            <p:ph type="title"/>
          </p:nvPr>
        </p:nvSpPr>
        <p:spPr>
          <a:noFill/>
          <a:ln/>
        </p:spPr>
        <p:txBody>
          <a:bodyPr/>
          <a:lstStyle/>
          <a:p>
            <a:r>
              <a:rPr lang="en-US" sz="3800" dirty="0"/>
              <a:t>.NET Framework Architecture </a:t>
            </a:r>
            <a:r>
              <a:rPr lang="bg-BG" sz="3800" dirty="0" smtClean="0"/>
              <a:t>(</a:t>
            </a:r>
            <a:r>
              <a:rPr lang="en-US" sz="3800" dirty="0" smtClean="0"/>
              <a:t>6</a:t>
            </a:r>
            <a:r>
              <a:rPr lang="bg-BG" sz="3800" dirty="0" smtClean="0"/>
              <a:t>)</a:t>
            </a:r>
            <a:endParaRPr lang="bg-BG" sz="3800" dirty="0"/>
          </a:p>
        </p:txBody>
      </p:sp>
      <p:sp>
        <p:nvSpPr>
          <p:cNvPr id="18" name="Rectangle 5"/>
          <p:cNvSpPr>
            <a:spLocks noChangeArrowheads="1"/>
          </p:cNvSpPr>
          <p:nvPr/>
        </p:nvSpPr>
        <p:spPr bwMode="auto">
          <a:xfrm>
            <a:off x="635000" y="3495152"/>
            <a:ext cx="7594600" cy="504825"/>
          </a:xfrm>
          <a:prstGeom prst="rect">
            <a:avLst/>
          </a:prstGeom>
          <a:solidFill>
            <a:srgbClr val="FF99FF"/>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FF69FF"/>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WCF and WWF (Communication and Workflow Tier)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439750" name="Rectangle 6"/>
          <p:cNvSpPr>
            <a:spLocks noChangeArrowheads="1"/>
          </p:cNvSpPr>
          <p:nvPr/>
        </p:nvSpPr>
        <p:spPr bwMode="auto">
          <a:xfrm>
            <a:off x="629136" y="2534714"/>
            <a:ext cx="3094056" cy="884238"/>
          </a:xfrm>
          <a:prstGeom prst="rect">
            <a:avLst/>
          </a:prstGeom>
          <a:solidFill>
            <a:srgbClr val="F8C15E"/>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4">
                <a:lumMod val="75000"/>
              </a:schemeClr>
            </a:extrusionClr>
          </a:sp3d>
        </p:spPr>
        <p:txBody>
          <a:bodyPr wrap="none" anchor="ctr">
            <a:flatTx/>
          </a:bodyPr>
          <a:lstStyle/>
          <a:p>
            <a:pPr algn="ctr">
              <a:lnSpc>
                <a:spcPts val="2200"/>
              </a:lnSpc>
            </a:pPr>
            <a:r>
              <a:rPr lang="en-US" sz="2400" b="1" dirty="0">
                <a:solidFill>
                  <a:schemeClr val="tx1">
                    <a:lumMod val="60000"/>
                    <a:lumOff val="40000"/>
                  </a:schemeClr>
                </a:solidFill>
                <a:effectLst>
                  <a:outerShdw blurRad="38100" dist="38100" dir="2700000" algn="tl">
                    <a:srgbClr val="000000">
                      <a:alpha val="43137"/>
                    </a:srgbClr>
                  </a:outerShdw>
                </a:effectLst>
              </a:rPr>
              <a:t>ASP.NET</a:t>
            </a:r>
          </a:p>
          <a:p>
            <a:pPr algn="ctr">
              <a:lnSpc>
                <a:spcPts val="2200"/>
              </a:lnSpc>
            </a:pPr>
            <a:r>
              <a:rPr lang="en-US" sz="1800" b="1" i="1" dirty="0">
                <a:solidFill>
                  <a:schemeClr val="tx1">
                    <a:lumMod val="60000"/>
                    <a:lumOff val="40000"/>
                  </a:schemeClr>
                </a:solidFill>
                <a:effectLst>
                  <a:outerShdw blurRad="38100" dist="38100" dir="2700000" algn="tl">
                    <a:srgbClr val="000000">
                      <a:alpha val="43137"/>
                    </a:srgbClr>
                  </a:outerShdw>
                </a:effectLst>
              </a:rPr>
              <a:t>Web </a:t>
            </a:r>
            <a:r>
              <a:rPr lang="en-US" sz="1800" b="1" i="1" dirty="0" smtClean="0">
                <a:solidFill>
                  <a:schemeClr val="tx1">
                    <a:lumMod val="60000"/>
                    <a:lumOff val="40000"/>
                  </a:schemeClr>
                </a:solidFill>
                <a:effectLst>
                  <a:outerShdw blurRad="38100" dist="38100" dir="2700000" algn="tl">
                    <a:srgbClr val="000000">
                      <a:alpha val="43137"/>
                    </a:srgbClr>
                  </a:outerShdw>
                </a:effectLst>
              </a:rPr>
              <a:t>Forms, MVC, AJAX</a:t>
            </a:r>
            <a:endParaRPr lang="en-US" sz="1800" b="1" i="1" dirty="0">
              <a:solidFill>
                <a:schemeClr val="tx1">
                  <a:lumMod val="60000"/>
                  <a:lumOff val="40000"/>
                </a:schemeClr>
              </a:solidFill>
              <a:effectLst>
                <a:outerShdw blurRad="38100" dist="38100" dir="2700000" algn="tl">
                  <a:srgbClr val="000000">
                    <a:alpha val="43137"/>
                  </a:srgbClr>
                </a:outerShdw>
              </a:effectLst>
            </a:endParaRPr>
          </a:p>
          <a:p>
            <a:pPr algn="ctr">
              <a:lnSpc>
                <a:spcPts val="1800"/>
              </a:lnSpc>
            </a:pPr>
            <a:r>
              <a:rPr lang="en-US" sz="1800" b="1" i="1" dirty="0">
                <a:solidFill>
                  <a:schemeClr val="tx1">
                    <a:lumMod val="60000"/>
                    <a:lumOff val="40000"/>
                  </a:schemeClr>
                </a:solidFill>
                <a:effectLst>
                  <a:outerShdw blurRad="38100" dist="38100" dir="2700000" algn="tl">
                    <a:srgbClr val="000000">
                      <a:alpha val="43137"/>
                    </a:srgbClr>
                  </a:outerShdw>
                </a:effectLst>
              </a:rPr>
              <a:t>Mobile Internet Toolkit</a:t>
            </a:r>
          </a:p>
        </p:txBody>
      </p:sp>
      <p:sp>
        <p:nvSpPr>
          <p:cNvPr id="1439751" name="Rectangle 7"/>
          <p:cNvSpPr>
            <a:spLocks noChangeArrowheads="1"/>
          </p:cNvSpPr>
          <p:nvPr/>
        </p:nvSpPr>
        <p:spPr bwMode="auto">
          <a:xfrm>
            <a:off x="3799392" y="2531016"/>
            <a:ext cx="1447800" cy="884238"/>
          </a:xfrm>
          <a:prstGeom prst="rect">
            <a:avLst/>
          </a:prstGeom>
          <a:solidFill>
            <a:srgbClr val="F8C15E"/>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4">
                <a:lumMod val="75000"/>
              </a:schemeClr>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Windows</a:t>
            </a:r>
          </a:p>
          <a:p>
            <a:pPr algn="ctr"/>
            <a:r>
              <a:rPr lang="en-US" sz="2400" b="1" dirty="0">
                <a:solidFill>
                  <a:schemeClr val="tx1">
                    <a:lumMod val="60000"/>
                    <a:lumOff val="40000"/>
                  </a:schemeClr>
                </a:solidFill>
                <a:effectLst>
                  <a:outerShdw blurRad="38100" dist="38100" dir="2700000" algn="tl">
                    <a:srgbClr val="000000">
                      <a:alpha val="43137"/>
                    </a:srgbClr>
                  </a:outerShdw>
                </a:effectLst>
              </a:rPr>
              <a:t>Forms</a:t>
            </a:r>
          </a:p>
        </p:txBody>
      </p:sp>
      <p:sp>
        <p:nvSpPr>
          <p:cNvPr id="12" name="Rectangle 7"/>
          <p:cNvSpPr>
            <a:spLocks noChangeArrowheads="1"/>
          </p:cNvSpPr>
          <p:nvPr/>
        </p:nvSpPr>
        <p:spPr bwMode="auto">
          <a:xfrm>
            <a:off x="5323392" y="2531016"/>
            <a:ext cx="1333500" cy="884238"/>
          </a:xfrm>
          <a:prstGeom prst="rect">
            <a:avLst/>
          </a:prstGeom>
          <a:solidFill>
            <a:srgbClr val="F8C15E"/>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4">
                <a:lumMod val="75000"/>
              </a:schemeClr>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WPF</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3" name="Rectangle 7"/>
          <p:cNvSpPr>
            <a:spLocks noChangeArrowheads="1"/>
          </p:cNvSpPr>
          <p:nvPr/>
        </p:nvSpPr>
        <p:spPr bwMode="auto">
          <a:xfrm>
            <a:off x="6733092" y="2531016"/>
            <a:ext cx="1485900" cy="884238"/>
          </a:xfrm>
          <a:prstGeom prst="rect">
            <a:avLst/>
          </a:prstGeom>
          <a:solidFill>
            <a:srgbClr val="F8C15E"/>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4">
                <a:lumMod val="75000"/>
              </a:schemeClr>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Silverlight</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9" name="Rectangle 5"/>
          <p:cNvSpPr txBox="1">
            <a:spLocks noChangeArrowheads="1"/>
          </p:cNvSpPr>
          <p:nvPr/>
        </p:nvSpPr>
        <p:spPr>
          <a:xfrm>
            <a:off x="758825" y="1066800"/>
            <a:ext cx="7699375" cy="1143000"/>
          </a:xfrm>
          <a:prstGeom prst="rect">
            <a:avLst/>
          </a:prstGeom>
        </p:spPr>
        <p:txBody>
          <a:bodyPr/>
          <a:lstStyle/>
          <a:p>
            <a:pPr marL="622300" lvl="1" indent="-260350" eaLnBrk="0" hangingPunct="0">
              <a:spcBef>
                <a:spcPts val="600"/>
              </a:spcBef>
              <a:spcAft>
                <a:spcPts val="600"/>
              </a:spcAft>
              <a:buClr>
                <a:srgbClr val="8FD600"/>
              </a:buClr>
              <a:buFont typeface="Wingdings 2" pitchFamily="18" charset="2"/>
              <a:buChar char=""/>
            </a:pPr>
            <a:r>
              <a:rPr lang="en-US" sz="3000" b="1" dirty="0" smtClean="0">
                <a:solidFill>
                  <a:schemeClr val="tx1">
                    <a:lumMod val="40000"/>
                    <a:lumOff val="60000"/>
                  </a:schemeClr>
                </a:solidFill>
                <a:effectLst>
                  <a:outerShdw blurRad="38100" dist="38100" dir="2700000" algn="tl">
                    <a:srgbClr val="000000">
                      <a:alpha val="43137"/>
                    </a:srgbClr>
                  </a:outerShdw>
                </a:effectLst>
                <a:latin typeface="+mn-lt"/>
              </a:rPr>
              <a:t>User interface technologies: Web based, Windows GUI, WPF, Silverlight, mobile, …</a:t>
            </a:r>
          </a:p>
        </p:txBody>
      </p:sp>
      <p:sp>
        <p:nvSpPr>
          <p:cNvPr id="20"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13</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439750"/>
                                        </p:tgtEl>
                                        <p:attrNameLst>
                                          <p:attrName>style.visibility</p:attrName>
                                        </p:attrNameLst>
                                      </p:cBhvr>
                                      <p:to>
                                        <p:strVal val="visible"/>
                                      </p:to>
                                    </p:set>
                                    <p:anim calcmode="lin" valueType="num">
                                      <p:cBhvr additive="base">
                                        <p:cTn id="7" dur="500" fill="hold"/>
                                        <p:tgtEl>
                                          <p:spTgt spid="1439750"/>
                                        </p:tgtEl>
                                        <p:attrNameLst>
                                          <p:attrName>ppt_x</p:attrName>
                                        </p:attrNameLst>
                                      </p:cBhvr>
                                      <p:tavLst>
                                        <p:tav tm="0">
                                          <p:val>
                                            <p:strVal val="1+#ppt_w/2"/>
                                          </p:val>
                                        </p:tav>
                                        <p:tav tm="100000">
                                          <p:val>
                                            <p:strVal val="#ppt_x"/>
                                          </p:val>
                                        </p:tav>
                                      </p:tavLst>
                                    </p:anim>
                                    <p:anim calcmode="lin" valueType="num">
                                      <p:cBhvr additive="base">
                                        <p:cTn id="8" dur="500" fill="hold"/>
                                        <p:tgtEl>
                                          <p:spTgt spid="1439750"/>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39751"/>
                                        </p:tgtEl>
                                        <p:attrNameLst>
                                          <p:attrName>style.visibility</p:attrName>
                                        </p:attrNameLst>
                                      </p:cBhvr>
                                      <p:to>
                                        <p:strVal val="visible"/>
                                      </p:to>
                                    </p:set>
                                    <p:anim calcmode="lin" valueType="num">
                                      <p:cBhvr additive="base">
                                        <p:cTn id="11" dur="500" fill="hold"/>
                                        <p:tgtEl>
                                          <p:spTgt spid="1439751"/>
                                        </p:tgtEl>
                                        <p:attrNameLst>
                                          <p:attrName>ppt_x</p:attrName>
                                        </p:attrNameLst>
                                      </p:cBhvr>
                                      <p:tavLst>
                                        <p:tav tm="0">
                                          <p:val>
                                            <p:strVal val="1+#ppt_w/2"/>
                                          </p:val>
                                        </p:tav>
                                        <p:tav tm="100000">
                                          <p:val>
                                            <p:strVal val="#ppt_x"/>
                                          </p:val>
                                        </p:tav>
                                      </p:tavLst>
                                    </p:anim>
                                    <p:anim calcmode="lin" valueType="num">
                                      <p:cBhvr additive="base">
                                        <p:cTn id="12" dur="500" fill="hold"/>
                                        <p:tgtEl>
                                          <p:spTgt spid="143975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1+#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9">
                                            <p:txEl>
                                              <p:pRg st="0" end="0"/>
                                            </p:txEl>
                                          </p:spTgt>
                                        </p:tgtEl>
                                        <p:attrNameLst>
                                          <p:attrName>style.visibility</p:attrName>
                                        </p:attrNameLst>
                                      </p:cBhvr>
                                      <p:to>
                                        <p:strVal val="visible"/>
                                      </p:to>
                                    </p:set>
                                    <p:animEffect transition="in" filter="fade">
                                      <p:cBhvr>
                                        <p:cTn id="24"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9750" grpId="0" animBg="1"/>
      <p:bldP spid="1439751" grpId="0" animBg="1"/>
      <p:bldP spid="12" grpId="0" animBg="1"/>
      <p:bldP spid="13" grpId="0" animBg="1"/>
      <p:bldP spid="1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p:cNvSpPr>
            <a:spLocks noChangeArrowheads="1"/>
          </p:cNvSpPr>
          <p:nvPr/>
        </p:nvSpPr>
        <p:spPr bwMode="auto">
          <a:xfrm>
            <a:off x="635000" y="5832475"/>
            <a:ext cx="7594600" cy="568325"/>
          </a:xfrm>
          <a:prstGeom prst="rect">
            <a:avLst/>
          </a:prstGeom>
          <a:solidFill>
            <a:srgbClr val="808080"/>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08080"/>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Operating </a:t>
            </a:r>
            <a:r>
              <a:rPr lang="en-US" sz="2400" b="1" dirty="0" smtClean="0">
                <a:solidFill>
                  <a:schemeClr val="tx1">
                    <a:lumMod val="60000"/>
                    <a:lumOff val="40000"/>
                  </a:schemeClr>
                </a:solidFill>
                <a:effectLst>
                  <a:outerShdw blurRad="38100" dist="38100" dir="2700000" algn="tl">
                    <a:srgbClr val="000000">
                      <a:alpha val="43137"/>
                    </a:srgbClr>
                  </a:outerShdw>
                </a:effectLst>
              </a:rPr>
              <a:t>System (OS)</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5" name="Rectangle 3"/>
          <p:cNvSpPr>
            <a:spLocks noChangeArrowheads="1"/>
          </p:cNvSpPr>
          <p:nvPr/>
        </p:nvSpPr>
        <p:spPr bwMode="auto">
          <a:xfrm>
            <a:off x="635000" y="5200650"/>
            <a:ext cx="7594600" cy="568325"/>
          </a:xfrm>
          <a:prstGeom prst="rect">
            <a:avLst/>
          </a:prstGeom>
          <a:solidFill>
            <a:schemeClr val="hlink"/>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hlink"/>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Common Language </a:t>
            </a:r>
            <a:r>
              <a:rPr lang="en-US" sz="2400" b="1" dirty="0" smtClean="0">
                <a:solidFill>
                  <a:schemeClr val="tx1">
                    <a:lumMod val="60000"/>
                    <a:lumOff val="40000"/>
                  </a:schemeClr>
                </a:solidFill>
                <a:effectLst>
                  <a:outerShdw blurRad="38100" dist="38100" dir="2700000" algn="tl">
                    <a:srgbClr val="000000">
                      <a:alpha val="43137"/>
                    </a:srgbClr>
                  </a:outerShdw>
                </a:effectLst>
              </a:rPr>
              <a:t>Runtime (CLR)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6" name="Rectangle 4"/>
          <p:cNvSpPr>
            <a:spLocks noChangeArrowheads="1"/>
          </p:cNvSpPr>
          <p:nvPr/>
        </p:nvSpPr>
        <p:spPr bwMode="auto">
          <a:xfrm>
            <a:off x="635000" y="4632325"/>
            <a:ext cx="7594600" cy="504825"/>
          </a:xfrm>
          <a:prstGeom prst="rect">
            <a:avLst/>
          </a:prstGeom>
          <a:solidFill>
            <a:schemeClr val="accent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Base Class </a:t>
            </a:r>
            <a:r>
              <a:rPr lang="en-US" sz="2400" b="1" dirty="0" smtClean="0">
                <a:solidFill>
                  <a:schemeClr val="tx1">
                    <a:lumMod val="60000"/>
                    <a:lumOff val="40000"/>
                  </a:schemeClr>
                </a:solidFill>
                <a:effectLst>
                  <a:outerShdw blurRad="38100" dist="38100" dir="2700000" algn="tl">
                    <a:srgbClr val="000000">
                      <a:alpha val="43137"/>
                    </a:srgbClr>
                  </a:outerShdw>
                </a:effectLst>
              </a:rPr>
              <a:t>Library (BCL)</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7" name="Rectangle 5"/>
          <p:cNvSpPr>
            <a:spLocks noChangeArrowheads="1"/>
          </p:cNvSpPr>
          <p:nvPr/>
        </p:nvSpPr>
        <p:spPr bwMode="auto">
          <a:xfrm>
            <a:off x="635000" y="4064000"/>
            <a:ext cx="7594600" cy="504825"/>
          </a:xfrm>
          <a:prstGeom prst="rect">
            <a:avLst/>
          </a:prstGeom>
          <a:solidFill>
            <a:schemeClr val="accent6">
              <a:lumMod val="40000"/>
              <a:lumOff val="60000"/>
            </a:schemeClr>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6">
                <a:lumMod val="60000"/>
                <a:lumOff val="40000"/>
              </a:schemeClr>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ADO.NET, LINQ </a:t>
            </a:r>
            <a:r>
              <a:rPr lang="en-US" sz="2400" b="1" dirty="0">
                <a:solidFill>
                  <a:schemeClr val="tx1">
                    <a:lumMod val="60000"/>
                    <a:lumOff val="40000"/>
                  </a:schemeClr>
                </a:solidFill>
                <a:effectLst>
                  <a:outerShdw blurRad="38100" dist="38100" dir="2700000" algn="tl">
                    <a:srgbClr val="000000">
                      <a:alpha val="43137"/>
                    </a:srgbClr>
                  </a:outerShdw>
                </a:effectLst>
              </a:rPr>
              <a:t>and </a:t>
            </a:r>
            <a:r>
              <a:rPr lang="en-US" sz="2400" b="1" dirty="0" smtClean="0">
                <a:solidFill>
                  <a:schemeClr val="tx1">
                    <a:lumMod val="60000"/>
                    <a:lumOff val="40000"/>
                  </a:schemeClr>
                </a:solidFill>
                <a:effectLst>
                  <a:outerShdw blurRad="38100" dist="38100" dir="2700000" algn="tl">
                    <a:srgbClr val="000000">
                      <a:alpha val="43137"/>
                    </a:srgbClr>
                  </a:outerShdw>
                </a:effectLst>
              </a:rPr>
              <a:t>XML (Data Tier)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1" name="Rectangle 5"/>
          <p:cNvSpPr>
            <a:spLocks noGrp="1" noChangeArrowheads="1"/>
          </p:cNvSpPr>
          <p:nvPr>
            <p:ph type="title"/>
          </p:nvPr>
        </p:nvSpPr>
        <p:spPr>
          <a:noFill/>
          <a:ln/>
        </p:spPr>
        <p:txBody>
          <a:bodyPr/>
          <a:lstStyle/>
          <a:p>
            <a:r>
              <a:rPr lang="en-US" sz="3800" dirty="0"/>
              <a:t>.NET Framework Architecture </a:t>
            </a:r>
            <a:r>
              <a:rPr lang="bg-BG" sz="3800" dirty="0" smtClean="0"/>
              <a:t>(</a:t>
            </a:r>
            <a:r>
              <a:rPr lang="en-US" sz="3800" dirty="0" smtClean="0"/>
              <a:t>7</a:t>
            </a:r>
            <a:r>
              <a:rPr lang="bg-BG" sz="3800" dirty="0" smtClean="0"/>
              <a:t>)</a:t>
            </a:r>
            <a:endParaRPr lang="bg-BG" sz="3800" dirty="0"/>
          </a:p>
        </p:txBody>
      </p:sp>
      <p:sp>
        <p:nvSpPr>
          <p:cNvPr id="18" name="Rectangle 5"/>
          <p:cNvSpPr>
            <a:spLocks noChangeArrowheads="1"/>
          </p:cNvSpPr>
          <p:nvPr/>
        </p:nvSpPr>
        <p:spPr bwMode="auto">
          <a:xfrm>
            <a:off x="645608" y="3495152"/>
            <a:ext cx="7594600" cy="504825"/>
          </a:xfrm>
          <a:prstGeom prst="rect">
            <a:avLst/>
          </a:prstGeom>
          <a:solidFill>
            <a:srgbClr val="FF99FF"/>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FF69FF"/>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WCF and WWF (Communication and Workflow Tier)</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439750" name="Rectangle 6"/>
          <p:cNvSpPr>
            <a:spLocks noChangeArrowheads="1"/>
          </p:cNvSpPr>
          <p:nvPr/>
        </p:nvSpPr>
        <p:spPr bwMode="auto">
          <a:xfrm>
            <a:off x="639744" y="2534714"/>
            <a:ext cx="3094056" cy="884238"/>
          </a:xfrm>
          <a:prstGeom prst="rect">
            <a:avLst/>
          </a:prstGeom>
          <a:solidFill>
            <a:srgbClr val="F8C15E"/>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4">
                <a:lumMod val="75000"/>
              </a:schemeClr>
            </a:extrusionClr>
          </a:sp3d>
        </p:spPr>
        <p:txBody>
          <a:bodyPr wrap="none" anchor="ctr">
            <a:flatTx/>
          </a:bodyPr>
          <a:lstStyle/>
          <a:p>
            <a:pPr algn="ctr">
              <a:lnSpc>
                <a:spcPts val="2200"/>
              </a:lnSpc>
            </a:pPr>
            <a:r>
              <a:rPr lang="en-US" sz="2400" b="1" dirty="0">
                <a:solidFill>
                  <a:schemeClr val="tx1">
                    <a:lumMod val="60000"/>
                    <a:lumOff val="40000"/>
                  </a:schemeClr>
                </a:solidFill>
                <a:effectLst>
                  <a:outerShdw blurRad="38100" dist="38100" dir="2700000" algn="tl">
                    <a:srgbClr val="000000">
                      <a:alpha val="43137"/>
                    </a:srgbClr>
                  </a:outerShdw>
                </a:effectLst>
              </a:rPr>
              <a:t>ASP.NET</a:t>
            </a:r>
          </a:p>
          <a:p>
            <a:pPr algn="ctr">
              <a:lnSpc>
                <a:spcPts val="2200"/>
              </a:lnSpc>
            </a:pPr>
            <a:r>
              <a:rPr lang="en-US" sz="1800" b="1" i="1" dirty="0">
                <a:solidFill>
                  <a:schemeClr val="tx1">
                    <a:lumMod val="60000"/>
                    <a:lumOff val="40000"/>
                  </a:schemeClr>
                </a:solidFill>
                <a:effectLst>
                  <a:outerShdw blurRad="38100" dist="38100" dir="2700000" algn="tl">
                    <a:srgbClr val="000000">
                      <a:alpha val="43137"/>
                    </a:srgbClr>
                  </a:outerShdw>
                </a:effectLst>
              </a:rPr>
              <a:t>Web </a:t>
            </a:r>
            <a:r>
              <a:rPr lang="en-US" sz="1800" b="1" i="1" dirty="0" smtClean="0">
                <a:solidFill>
                  <a:schemeClr val="tx1">
                    <a:lumMod val="60000"/>
                    <a:lumOff val="40000"/>
                  </a:schemeClr>
                </a:solidFill>
                <a:effectLst>
                  <a:outerShdw blurRad="38100" dist="38100" dir="2700000" algn="tl">
                    <a:srgbClr val="000000">
                      <a:alpha val="43137"/>
                    </a:srgbClr>
                  </a:outerShdw>
                </a:effectLst>
              </a:rPr>
              <a:t>Forms, MVC, AJAX</a:t>
            </a:r>
            <a:endParaRPr lang="en-US" sz="1800" b="1" i="1" dirty="0">
              <a:solidFill>
                <a:schemeClr val="tx1">
                  <a:lumMod val="60000"/>
                  <a:lumOff val="40000"/>
                </a:schemeClr>
              </a:solidFill>
              <a:effectLst>
                <a:outerShdw blurRad="38100" dist="38100" dir="2700000" algn="tl">
                  <a:srgbClr val="000000">
                    <a:alpha val="43137"/>
                  </a:srgbClr>
                </a:outerShdw>
              </a:effectLst>
            </a:endParaRPr>
          </a:p>
          <a:p>
            <a:pPr algn="ctr">
              <a:lnSpc>
                <a:spcPts val="1800"/>
              </a:lnSpc>
            </a:pPr>
            <a:r>
              <a:rPr lang="en-US" sz="1800" b="1" i="1" dirty="0">
                <a:solidFill>
                  <a:schemeClr val="tx1">
                    <a:lumMod val="60000"/>
                    <a:lumOff val="40000"/>
                  </a:schemeClr>
                </a:solidFill>
                <a:effectLst>
                  <a:outerShdw blurRad="38100" dist="38100" dir="2700000" algn="tl">
                    <a:srgbClr val="000000">
                      <a:alpha val="43137"/>
                    </a:srgbClr>
                  </a:outerShdw>
                </a:effectLst>
              </a:rPr>
              <a:t>Mobile Internet Toolkit</a:t>
            </a:r>
          </a:p>
        </p:txBody>
      </p:sp>
      <p:sp>
        <p:nvSpPr>
          <p:cNvPr id="1439751" name="Rectangle 7"/>
          <p:cNvSpPr>
            <a:spLocks noChangeArrowheads="1"/>
          </p:cNvSpPr>
          <p:nvPr/>
        </p:nvSpPr>
        <p:spPr bwMode="auto">
          <a:xfrm>
            <a:off x="3810000" y="2531016"/>
            <a:ext cx="1447800" cy="884238"/>
          </a:xfrm>
          <a:prstGeom prst="rect">
            <a:avLst/>
          </a:prstGeom>
          <a:solidFill>
            <a:srgbClr val="F8C15E"/>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4">
                <a:lumMod val="75000"/>
              </a:schemeClr>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Windows</a:t>
            </a:r>
          </a:p>
          <a:p>
            <a:pPr algn="ctr"/>
            <a:r>
              <a:rPr lang="en-US" sz="2400" b="1" dirty="0">
                <a:solidFill>
                  <a:schemeClr val="tx1">
                    <a:lumMod val="60000"/>
                    <a:lumOff val="40000"/>
                  </a:schemeClr>
                </a:solidFill>
                <a:effectLst>
                  <a:outerShdw blurRad="38100" dist="38100" dir="2700000" algn="tl">
                    <a:srgbClr val="000000">
                      <a:alpha val="43137"/>
                    </a:srgbClr>
                  </a:outerShdw>
                </a:effectLst>
              </a:rPr>
              <a:t>Forms</a:t>
            </a:r>
          </a:p>
        </p:txBody>
      </p:sp>
      <p:sp>
        <p:nvSpPr>
          <p:cNvPr id="12" name="Rectangle 7"/>
          <p:cNvSpPr>
            <a:spLocks noChangeArrowheads="1"/>
          </p:cNvSpPr>
          <p:nvPr/>
        </p:nvSpPr>
        <p:spPr bwMode="auto">
          <a:xfrm>
            <a:off x="5334000" y="2531016"/>
            <a:ext cx="1333500" cy="884238"/>
          </a:xfrm>
          <a:prstGeom prst="rect">
            <a:avLst/>
          </a:prstGeom>
          <a:solidFill>
            <a:srgbClr val="F8C15E"/>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4">
                <a:lumMod val="75000"/>
              </a:schemeClr>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WPF</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3" name="Rectangle 7"/>
          <p:cNvSpPr>
            <a:spLocks noChangeArrowheads="1"/>
          </p:cNvSpPr>
          <p:nvPr/>
        </p:nvSpPr>
        <p:spPr bwMode="auto">
          <a:xfrm>
            <a:off x="6743700" y="2531016"/>
            <a:ext cx="1485900" cy="884238"/>
          </a:xfrm>
          <a:prstGeom prst="rect">
            <a:avLst/>
          </a:prstGeom>
          <a:solidFill>
            <a:srgbClr val="F8C15E"/>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4">
                <a:lumMod val="75000"/>
              </a:schemeClr>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Silverlight</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19" name="Rectangle 10"/>
          <p:cNvSpPr>
            <a:spLocks noChangeArrowheads="1"/>
          </p:cNvSpPr>
          <p:nvPr/>
        </p:nvSpPr>
        <p:spPr bwMode="auto">
          <a:xfrm>
            <a:off x="636083" y="1981200"/>
            <a:ext cx="644525" cy="504825"/>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C#</a:t>
            </a:r>
          </a:p>
        </p:txBody>
      </p:sp>
      <p:sp>
        <p:nvSpPr>
          <p:cNvPr id="20" name="Rectangle 11"/>
          <p:cNvSpPr>
            <a:spLocks noChangeArrowheads="1"/>
          </p:cNvSpPr>
          <p:nvPr/>
        </p:nvSpPr>
        <p:spPr bwMode="auto">
          <a:xfrm>
            <a:off x="1325544" y="1981200"/>
            <a:ext cx="650875" cy="504825"/>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C++</a:t>
            </a:r>
          </a:p>
        </p:txBody>
      </p:sp>
      <p:sp>
        <p:nvSpPr>
          <p:cNvPr id="21" name="Rectangle 12"/>
          <p:cNvSpPr>
            <a:spLocks noChangeArrowheads="1"/>
          </p:cNvSpPr>
          <p:nvPr/>
        </p:nvSpPr>
        <p:spPr bwMode="auto">
          <a:xfrm>
            <a:off x="2027256" y="1981200"/>
            <a:ext cx="1106992" cy="504825"/>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VB.NET</a:t>
            </a:r>
          </a:p>
        </p:txBody>
      </p:sp>
      <p:sp>
        <p:nvSpPr>
          <p:cNvPr id="22" name="Rectangle 13"/>
          <p:cNvSpPr>
            <a:spLocks noChangeArrowheads="1"/>
          </p:cNvSpPr>
          <p:nvPr/>
        </p:nvSpPr>
        <p:spPr bwMode="auto">
          <a:xfrm>
            <a:off x="3176064" y="1981200"/>
            <a:ext cx="684213" cy="504825"/>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J#</a:t>
            </a:r>
          </a:p>
        </p:txBody>
      </p:sp>
      <p:sp>
        <p:nvSpPr>
          <p:cNvPr id="26" name="Rectangle 13"/>
          <p:cNvSpPr>
            <a:spLocks noChangeArrowheads="1"/>
          </p:cNvSpPr>
          <p:nvPr/>
        </p:nvSpPr>
        <p:spPr bwMode="auto">
          <a:xfrm>
            <a:off x="3913747" y="1981200"/>
            <a:ext cx="684213" cy="504825"/>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F#</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27" name="Rectangle 13"/>
          <p:cNvSpPr>
            <a:spLocks noChangeArrowheads="1"/>
          </p:cNvSpPr>
          <p:nvPr/>
        </p:nvSpPr>
        <p:spPr bwMode="auto">
          <a:xfrm>
            <a:off x="4649787" y="1981200"/>
            <a:ext cx="932910" cy="504825"/>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anchor="ctr">
            <a:flatTx/>
          </a:bodyPr>
          <a:lstStyle/>
          <a:p>
            <a:pPr algn="ctr"/>
            <a:r>
              <a:rPr lang="en-US" sz="2400" b="1" dirty="0" smtClean="0">
                <a:solidFill>
                  <a:schemeClr val="tx1">
                    <a:lumMod val="60000"/>
                    <a:lumOff val="40000"/>
                  </a:schemeClr>
                </a:solidFill>
                <a:effectLst>
                  <a:outerShdw blurRad="38100" dist="38100" dir="2700000" algn="tl">
                    <a:srgbClr val="000000">
                      <a:alpha val="43137"/>
                    </a:srgbClr>
                  </a:outerShdw>
                </a:effectLst>
              </a:rPr>
              <a:t>JScript</a:t>
            </a:r>
            <a:endParaRPr lang="en-US" sz="2400" b="1" dirty="0">
              <a:solidFill>
                <a:schemeClr val="tx1">
                  <a:lumMod val="60000"/>
                  <a:lumOff val="40000"/>
                </a:schemeClr>
              </a:solidFill>
              <a:effectLst>
                <a:outerShdw blurRad="38100" dist="38100" dir="2700000" algn="tl">
                  <a:srgbClr val="000000">
                    <a:alpha val="43137"/>
                  </a:srgbClr>
                </a:outerShdw>
              </a:effectLst>
            </a:endParaRPr>
          </a:p>
        </p:txBody>
      </p:sp>
      <p:sp>
        <p:nvSpPr>
          <p:cNvPr id="23" name="Rectangle 14"/>
          <p:cNvSpPr>
            <a:spLocks noChangeArrowheads="1"/>
          </p:cNvSpPr>
          <p:nvPr/>
        </p:nvSpPr>
        <p:spPr bwMode="auto">
          <a:xfrm>
            <a:off x="5640910" y="1981200"/>
            <a:ext cx="785848" cy="504825"/>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Perl</a:t>
            </a:r>
          </a:p>
        </p:txBody>
      </p:sp>
      <p:sp>
        <p:nvSpPr>
          <p:cNvPr id="24" name="Rectangle 16"/>
          <p:cNvSpPr>
            <a:spLocks noChangeArrowheads="1"/>
          </p:cNvSpPr>
          <p:nvPr/>
        </p:nvSpPr>
        <p:spPr bwMode="auto">
          <a:xfrm>
            <a:off x="6477000" y="1970088"/>
            <a:ext cx="914400" cy="504825"/>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anchor="ctr">
            <a:flatTx/>
          </a:bodyPr>
          <a:lstStyle/>
          <a:p>
            <a:pPr algn="ctr"/>
            <a:r>
              <a:rPr lang="en-US" sz="2400" b="1" dirty="0">
                <a:solidFill>
                  <a:schemeClr val="tx1">
                    <a:lumMod val="60000"/>
                    <a:lumOff val="40000"/>
                  </a:schemeClr>
                </a:solidFill>
                <a:effectLst>
                  <a:outerShdw blurRad="38100" dist="38100" dir="2700000" algn="tl">
                    <a:srgbClr val="000000">
                      <a:alpha val="43137"/>
                    </a:srgbClr>
                  </a:outerShdw>
                </a:effectLst>
              </a:rPr>
              <a:t>Delphi</a:t>
            </a:r>
          </a:p>
        </p:txBody>
      </p:sp>
      <p:sp>
        <p:nvSpPr>
          <p:cNvPr id="25" name="Rectangle 17"/>
          <p:cNvSpPr>
            <a:spLocks noChangeArrowheads="1"/>
          </p:cNvSpPr>
          <p:nvPr/>
        </p:nvSpPr>
        <p:spPr bwMode="auto">
          <a:xfrm>
            <a:off x="7437437" y="1962150"/>
            <a:ext cx="792163" cy="504825"/>
          </a:xfrm>
          <a:prstGeom prst="rect">
            <a:avLst/>
          </a:prstGeom>
          <a:solidFill>
            <a:srgbClr val="5A99D2"/>
          </a:soli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5A99D2"/>
            </a:extrusionClr>
          </a:sp3d>
        </p:spPr>
        <p:txBody>
          <a:bodyPr wrap="none" anchor="ctr">
            <a:flatTx/>
          </a:bodyPr>
          <a:lstStyle/>
          <a:p>
            <a:pPr algn="ctr">
              <a:lnSpc>
                <a:spcPct val="100000"/>
              </a:lnSpc>
            </a:pPr>
            <a:r>
              <a:rPr lang="en-US" sz="2400" b="1" dirty="0">
                <a:solidFill>
                  <a:schemeClr val="tx1">
                    <a:lumMod val="60000"/>
                    <a:lumOff val="40000"/>
                  </a:schemeClr>
                </a:solidFill>
                <a:effectLst>
                  <a:outerShdw blurRad="38100" dist="38100" dir="2700000" algn="tl">
                    <a:srgbClr val="000000">
                      <a:alpha val="43137"/>
                    </a:srgbClr>
                  </a:outerShdw>
                </a:effectLst>
              </a:rPr>
              <a:t>…</a:t>
            </a:r>
          </a:p>
        </p:txBody>
      </p:sp>
      <p:sp>
        <p:nvSpPr>
          <p:cNvPr id="28" name="Rectangle 5"/>
          <p:cNvSpPr txBox="1">
            <a:spLocks noChangeArrowheads="1"/>
          </p:cNvSpPr>
          <p:nvPr/>
        </p:nvSpPr>
        <p:spPr>
          <a:xfrm>
            <a:off x="758825" y="990600"/>
            <a:ext cx="7699375" cy="609600"/>
          </a:xfrm>
          <a:prstGeom prst="rect">
            <a:avLst/>
          </a:prstGeom>
        </p:spPr>
        <p:txBody>
          <a:bodyPr/>
          <a:lstStyle/>
          <a:p>
            <a:pPr marL="622300" lvl="1" indent="-260350" eaLnBrk="0" hangingPunct="0">
              <a:spcBef>
                <a:spcPts val="600"/>
              </a:spcBef>
              <a:spcAft>
                <a:spcPts val="600"/>
              </a:spcAft>
              <a:buClr>
                <a:srgbClr val="8FD600"/>
              </a:buClr>
              <a:buFont typeface="Wingdings 2" pitchFamily="18" charset="2"/>
              <a:buChar char=""/>
            </a:pPr>
            <a:r>
              <a:rPr lang="en-US" sz="3000" b="1" dirty="0" smtClean="0">
                <a:solidFill>
                  <a:schemeClr val="tx1">
                    <a:lumMod val="40000"/>
                    <a:lumOff val="60000"/>
                  </a:schemeClr>
                </a:solidFill>
                <a:effectLst>
                  <a:outerShdw blurRad="38100" dist="38100" dir="2700000" algn="tl">
                    <a:srgbClr val="000000">
                      <a:alpha val="43137"/>
                    </a:srgbClr>
                  </a:outerShdw>
                </a:effectLst>
                <a:latin typeface="+mn-lt"/>
              </a:rPr>
              <a:t>Programming language on your flavor!</a:t>
            </a:r>
          </a:p>
        </p:txBody>
      </p:sp>
      <p:sp>
        <p:nvSpPr>
          <p:cNvPr id="29"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14</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0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4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60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80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ppt_x"/>
                                          </p:val>
                                        </p:tav>
                                        <p:tav tm="100000">
                                          <p:val>
                                            <p:strVal val="#ppt_x"/>
                                          </p:val>
                                        </p:tav>
                                      </p:tavLst>
                                    </p:anim>
                                    <p:anim calcmode="lin" valueType="num">
                                      <p:cBhvr additive="base">
                                        <p:cTn id="24" dur="500" fill="hold"/>
                                        <p:tgtEl>
                                          <p:spTgt spid="26"/>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100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ppt_x"/>
                                          </p:val>
                                        </p:tav>
                                        <p:tav tm="100000">
                                          <p:val>
                                            <p:strVal val="#ppt_x"/>
                                          </p:val>
                                        </p:tav>
                                      </p:tavLst>
                                    </p:anim>
                                    <p:anim calcmode="lin" valueType="num">
                                      <p:cBhvr additive="base">
                                        <p:cTn id="28" dur="500" fill="hold"/>
                                        <p:tgtEl>
                                          <p:spTgt spid="27"/>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12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140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160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0-#ppt_h/2"/>
                                          </p:val>
                                        </p:tav>
                                        <p:tav tm="100000">
                                          <p:val>
                                            <p:strVal val="#ppt_y"/>
                                          </p:val>
                                        </p:tav>
                                      </p:tavLst>
                                    </p:anim>
                                  </p:childTnLst>
                                </p:cTn>
                              </p:par>
                            </p:childTnLst>
                          </p:cTn>
                        </p:par>
                        <p:par>
                          <p:cTn id="41" fill="hold">
                            <p:stCondLst>
                              <p:cond delay="2100"/>
                            </p:stCondLst>
                            <p:childTnLst>
                              <p:par>
                                <p:cTn id="42" presetID="10" presetClass="entr" presetSubtype="0" fill="hold" grpId="0" nodeType="afterEffect">
                                  <p:stCondLst>
                                    <p:cond delay="0"/>
                                  </p:stCondLst>
                                  <p:childTnLst>
                                    <p:set>
                                      <p:cBhvr>
                                        <p:cTn id="43" dur="1" fill="hold">
                                          <p:stCondLst>
                                            <p:cond delay="0"/>
                                          </p:stCondLst>
                                        </p:cTn>
                                        <p:tgtEl>
                                          <p:spTgt spid="28">
                                            <p:txEl>
                                              <p:pRg st="0" end="0"/>
                                            </p:txEl>
                                          </p:spTgt>
                                        </p:tgtEl>
                                        <p:attrNameLst>
                                          <p:attrName>style.visibility</p:attrName>
                                        </p:attrNameLst>
                                      </p:cBhvr>
                                      <p:to>
                                        <p:strVal val="visible"/>
                                      </p:to>
                                    </p:set>
                                    <p:animEffect transition="in" filter="fade">
                                      <p:cBhvr>
                                        <p:cTn id="44"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6" grpId="0" animBg="1"/>
      <p:bldP spid="27" grpId="0" animBg="1"/>
      <p:bldP spid="23" grpId="0" animBg="1"/>
      <p:bldP spid="24" grpId="0" animBg="1"/>
      <p:bldP spid="25" grpId="0" animBg="1"/>
      <p:bldP spid="2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descr="http://blog.radvision.com/images/2009/20090402-VoipSurvivor-virtual-machine.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828800" y="1066800"/>
            <a:ext cx="5257800" cy="25527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64674" name="Rectangle 2"/>
          <p:cNvSpPr>
            <a:spLocks noGrp="1" noChangeArrowheads="1"/>
          </p:cNvSpPr>
          <p:nvPr>
            <p:ph type="ctrTitle"/>
          </p:nvPr>
        </p:nvSpPr>
        <p:spPr>
          <a:xfrm>
            <a:off x="1216025" y="3916363"/>
            <a:ext cx="6480175" cy="1473200"/>
          </a:xfrm>
        </p:spPr>
        <p:txBody>
          <a:bodyPr/>
          <a:lstStyle/>
          <a:p>
            <a:pPr>
              <a:lnSpc>
                <a:spcPct val="100000"/>
              </a:lnSpc>
            </a:pPr>
            <a:r>
              <a:rPr lang="en-US" dirty="0"/>
              <a:t>Common Language Runtime</a:t>
            </a:r>
            <a:r>
              <a:rPr lang="bg-BG" dirty="0"/>
              <a:t> (</a:t>
            </a:r>
            <a:r>
              <a:rPr lang="en-US" dirty="0"/>
              <a:t>CLR</a:t>
            </a:r>
            <a:r>
              <a:rPr lang="bg-BG" dirty="0"/>
              <a:t>)</a:t>
            </a:r>
          </a:p>
        </p:txBody>
      </p:sp>
      <p:sp>
        <p:nvSpPr>
          <p:cNvPr id="3" name="Subtitle 5"/>
          <p:cNvSpPr>
            <a:spLocks noGrp="1"/>
          </p:cNvSpPr>
          <p:nvPr>
            <p:ph type="subTitle" idx="1"/>
          </p:nvPr>
        </p:nvSpPr>
        <p:spPr>
          <a:xfrm>
            <a:off x="1704975" y="5638800"/>
            <a:ext cx="5486400" cy="497680"/>
          </a:xfrm>
        </p:spPr>
        <p:txBody>
          <a:bodyPr/>
          <a:lstStyle/>
          <a:p>
            <a:r>
              <a:rPr lang="en-US" dirty="0" smtClean="0"/>
              <a:t>The Heart of .NET Framework</a:t>
            </a:r>
            <a:endParaRPr lang="en-US" dirty="0"/>
          </a:p>
        </p:txBody>
      </p:sp>
      <p:pic>
        <p:nvPicPr>
          <p:cNvPr id="2050" name="Picture 2" descr="http://www.global-b2b-network.com/direct/dbimage/50237074/Diesel_Engine_for_Marine_Engine_Sets__DEUTZ_226B_.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943600" y="590550"/>
            <a:ext cx="1752600" cy="1752600"/>
          </a:xfrm>
          <a:prstGeom prst="roundRect">
            <a:avLst>
              <a:gd name="adj" fmla="val 8594"/>
            </a:avLst>
          </a:prstGeom>
          <a:solidFill>
            <a:srgbClr val="FFFFFF">
              <a:shade val="85000"/>
            </a:srgbClr>
          </a:solidFill>
          <a:ln>
            <a:noFill/>
          </a:ln>
          <a:effectLst>
            <a:outerShdw blurRad="88900" sx="106000" sy="106000" algn="ctr" rotWithShape="0">
              <a:prstClr val="black">
                <a:alpha val="40000"/>
              </a:prstClr>
            </a:outerShdw>
            <a:reflection blurRad="12700" stA="38000" endPos="28000" dist="5000" dir="5400000" sy="-100000" algn="bl" rotWithShape="0"/>
          </a:effectLst>
          <a:extLst/>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43" name="Rectangle 3"/>
          <p:cNvSpPr>
            <a:spLocks noGrp="1" noChangeArrowheads="1"/>
          </p:cNvSpPr>
          <p:nvPr>
            <p:ph type="title"/>
          </p:nvPr>
        </p:nvSpPr>
        <p:spPr>
          <a:noFill/>
          <a:ln/>
          <a:effectLst>
            <a:outerShdw dist="17961" dir="2700000" algn="ctr" rotWithShape="0">
              <a:schemeClr val="bg2"/>
            </a:outerShdw>
          </a:effectLst>
        </p:spPr>
        <p:txBody>
          <a:bodyPr/>
          <a:lstStyle/>
          <a:p>
            <a:r>
              <a:rPr lang="en-US" sz="3600" dirty="0"/>
              <a:t>Common Language Runtime</a:t>
            </a:r>
            <a:r>
              <a:rPr lang="bg-BG" sz="3600" dirty="0"/>
              <a:t> (</a:t>
            </a:r>
            <a:r>
              <a:rPr lang="en-US" sz="3600" dirty="0"/>
              <a:t>CLR</a:t>
            </a:r>
            <a:r>
              <a:rPr lang="bg-BG" sz="3600" dirty="0"/>
              <a:t>)</a:t>
            </a:r>
          </a:p>
        </p:txBody>
      </p:sp>
      <p:sp>
        <p:nvSpPr>
          <p:cNvPr id="1443842" name="Rectangle 2"/>
          <p:cNvSpPr>
            <a:spLocks noGrp="1" noChangeArrowheads="1"/>
          </p:cNvSpPr>
          <p:nvPr>
            <p:ph idx="1"/>
          </p:nvPr>
        </p:nvSpPr>
        <p:spPr/>
        <p:txBody>
          <a:bodyPr/>
          <a:lstStyle/>
          <a:p>
            <a:pPr>
              <a:lnSpc>
                <a:spcPct val="100000"/>
              </a:lnSpc>
            </a:pPr>
            <a:r>
              <a:rPr lang="en-US" dirty="0">
                <a:solidFill>
                  <a:schemeClr val="accent5">
                    <a:lumMod val="20000"/>
                    <a:lumOff val="80000"/>
                  </a:schemeClr>
                </a:solidFill>
              </a:rPr>
              <a:t>Managed </a:t>
            </a:r>
            <a:r>
              <a:rPr lang="en-US" dirty="0" smtClean="0">
                <a:solidFill>
                  <a:schemeClr val="accent5">
                    <a:lumMod val="20000"/>
                    <a:lumOff val="80000"/>
                  </a:schemeClr>
                </a:solidFill>
              </a:rPr>
              <a:t>execution environment</a:t>
            </a:r>
            <a:endParaRPr lang="bg-BG" dirty="0">
              <a:solidFill>
                <a:schemeClr val="accent5">
                  <a:lumMod val="20000"/>
                  <a:lumOff val="80000"/>
                </a:schemeClr>
              </a:solidFill>
            </a:endParaRPr>
          </a:p>
          <a:p>
            <a:pPr lvl="1">
              <a:lnSpc>
                <a:spcPct val="100000"/>
              </a:lnSpc>
            </a:pPr>
            <a:r>
              <a:rPr lang="en-US" dirty="0" smtClean="0"/>
              <a:t>Controls the </a:t>
            </a:r>
            <a:r>
              <a:rPr lang="en-US" dirty="0"/>
              <a:t>execution of managed</a:t>
            </a:r>
            <a:r>
              <a:rPr lang="bg-BG" dirty="0"/>
              <a:t> .</a:t>
            </a:r>
            <a:r>
              <a:rPr lang="en-US" dirty="0" smtClean="0"/>
              <a:t>NET programming </a:t>
            </a:r>
            <a:r>
              <a:rPr lang="en-US" dirty="0"/>
              <a:t>code</a:t>
            </a:r>
            <a:endParaRPr lang="bg-BG" dirty="0"/>
          </a:p>
          <a:p>
            <a:pPr>
              <a:lnSpc>
                <a:spcPct val="100000"/>
              </a:lnSpc>
            </a:pPr>
            <a:r>
              <a:rPr lang="en-US" dirty="0"/>
              <a:t>Something like virtual </a:t>
            </a:r>
            <a:r>
              <a:rPr lang="en-US" dirty="0" smtClean="0"/>
              <a:t>machine</a:t>
            </a:r>
          </a:p>
          <a:p>
            <a:pPr lvl="1">
              <a:lnSpc>
                <a:spcPct val="100000"/>
              </a:lnSpc>
            </a:pPr>
            <a:r>
              <a:rPr lang="en-US" dirty="0" smtClean="0"/>
              <a:t>Like the Java </a:t>
            </a:r>
            <a:r>
              <a:rPr lang="en-US" dirty="0"/>
              <a:t>Virtual </a:t>
            </a:r>
            <a:r>
              <a:rPr lang="en-US" dirty="0" smtClean="0"/>
              <a:t>Machine (JVM)</a:t>
            </a:r>
            <a:endParaRPr lang="en-US" dirty="0"/>
          </a:p>
          <a:p>
            <a:pPr>
              <a:lnSpc>
                <a:spcPct val="100000"/>
              </a:lnSpc>
            </a:pPr>
            <a:r>
              <a:rPr lang="en-US" dirty="0"/>
              <a:t>Not an </a:t>
            </a:r>
            <a:r>
              <a:rPr lang="en-US" dirty="0" smtClean="0"/>
              <a:t>interpreter</a:t>
            </a:r>
          </a:p>
          <a:p>
            <a:pPr lvl="1">
              <a:lnSpc>
                <a:spcPct val="100000"/>
              </a:lnSpc>
            </a:pPr>
            <a:r>
              <a:rPr lang="en-US" dirty="0" smtClean="0"/>
              <a:t>Compilation on-demand is used</a:t>
            </a:r>
          </a:p>
          <a:p>
            <a:pPr lvl="2">
              <a:lnSpc>
                <a:spcPct val="100000"/>
              </a:lnSpc>
            </a:pPr>
            <a:r>
              <a:rPr lang="en-US" dirty="0" smtClean="0"/>
              <a:t>Known as </a:t>
            </a:r>
            <a:r>
              <a:rPr lang="en-US" dirty="0" smtClean="0">
                <a:solidFill>
                  <a:schemeClr val="accent5">
                    <a:lumMod val="20000"/>
                    <a:lumOff val="80000"/>
                  </a:schemeClr>
                </a:solidFill>
              </a:rPr>
              <a:t>Just </a:t>
            </a:r>
            <a:r>
              <a:rPr lang="en-US" dirty="0">
                <a:solidFill>
                  <a:schemeClr val="accent5">
                    <a:lumMod val="20000"/>
                    <a:lumOff val="80000"/>
                  </a:schemeClr>
                </a:solidFill>
              </a:rPr>
              <a:t>In Time </a:t>
            </a:r>
            <a:r>
              <a:rPr lang="en-US" dirty="0" smtClean="0">
                <a:solidFill>
                  <a:schemeClr val="accent5">
                    <a:lumMod val="20000"/>
                    <a:lumOff val="80000"/>
                  </a:schemeClr>
                </a:solidFill>
              </a:rPr>
              <a:t>(JIT) compilation</a:t>
            </a:r>
            <a:endParaRPr lang="en-US" dirty="0">
              <a:solidFill>
                <a:schemeClr val="accent5">
                  <a:lumMod val="20000"/>
                  <a:lumOff val="80000"/>
                </a:schemeClr>
              </a:solidFill>
            </a:endParaRPr>
          </a:p>
          <a:p>
            <a:pPr>
              <a:lnSpc>
                <a:spcPct val="100000"/>
              </a:lnSpc>
            </a:pPr>
            <a:r>
              <a:rPr lang="en-US" dirty="0"/>
              <a:t>Possible compilation in </a:t>
            </a:r>
            <a:r>
              <a:rPr lang="en-US" dirty="0" smtClean="0"/>
              <a:t>advance (Ngen)</a:t>
            </a:r>
            <a:endParaRPr lang="en-US" dirty="0"/>
          </a:p>
        </p:txBody>
      </p:sp>
      <p:pic>
        <p:nvPicPr>
          <p:cNvPr id="76802" name="Picture 2" descr="http://res.sys-con.com/story/feb09/843532/Virtual%20Machine%20226.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010400" y="2514600"/>
            <a:ext cx="1641600" cy="1371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16</a:t>
            </a:fld>
            <a:endParaRPr lang="en-US"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5893" name="Rectangle 5"/>
          <p:cNvSpPr>
            <a:spLocks noGrp="1" noChangeArrowheads="1"/>
          </p:cNvSpPr>
          <p:nvPr>
            <p:ph type="title"/>
          </p:nvPr>
        </p:nvSpPr>
        <p:spPr>
          <a:noFill/>
          <a:ln/>
          <a:effectLst>
            <a:outerShdw dist="17961" dir="2700000" algn="ctr" rotWithShape="0">
              <a:schemeClr val="bg2"/>
            </a:outerShdw>
          </a:effectLst>
        </p:spPr>
        <p:txBody>
          <a:bodyPr/>
          <a:lstStyle/>
          <a:p>
            <a:r>
              <a:rPr lang="en-US" dirty="0" smtClean="0"/>
              <a:t>Responsibilities</a:t>
            </a:r>
            <a:r>
              <a:rPr lang="ru-RU" dirty="0" smtClean="0"/>
              <a:t> </a:t>
            </a:r>
            <a:r>
              <a:rPr lang="en-US" dirty="0"/>
              <a:t>of</a:t>
            </a:r>
            <a:r>
              <a:rPr lang="ru-RU" dirty="0"/>
              <a:t> CLR</a:t>
            </a:r>
            <a:endParaRPr lang="bg-BG" dirty="0"/>
          </a:p>
        </p:txBody>
      </p:sp>
      <p:sp>
        <p:nvSpPr>
          <p:cNvPr id="1445890" name="Rectangle 2"/>
          <p:cNvSpPr>
            <a:spLocks noGrp="1" noChangeArrowheads="1"/>
          </p:cNvSpPr>
          <p:nvPr>
            <p:ph idx="1"/>
          </p:nvPr>
        </p:nvSpPr>
        <p:spPr/>
        <p:txBody>
          <a:bodyPr/>
          <a:lstStyle/>
          <a:p>
            <a:pPr>
              <a:lnSpc>
                <a:spcPct val="100000"/>
              </a:lnSpc>
              <a:spcBef>
                <a:spcPct val="35000"/>
              </a:spcBef>
            </a:pPr>
            <a:r>
              <a:rPr lang="en-US" dirty="0"/>
              <a:t>Execution of the</a:t>
            </a:r>
            <a:r>
              <a:rPr lang="bg-BG" dirty="0"/>
              <a:t> </a:t>
            </a:r>
            <a:r>
              <a:rPr lang="en-US" dirty="0"/>
              <a:t>IL code</a:t>
            </a:r>
            <a:r>
              <a:rPr lang="bg-BG" dirty="0"/>
              <a:t> </a:t>
            </a:r>
            <a:r>
              <a:rPr lang="en-US" dirty="0"/>
              <a:t>and</a:t>
            </a:r>
            <a:r>
              <a:rPr lang="bg-BG" dirty="0"/>
              <a:t> </a:t>
            </a:r>
            <a:r>
              <a:rPr lang="en-US" dirty="0"/>
              <a:t>the </a:t>
            </a:r>
            <a:r>
              <a:rPr lang="en-US" dirty="0" smtClean="0"/>
              <a:t>JIT compilation</a:t>
            </a:r>
            <a:endParaRPr lang="en-US" dirty="0"/>
          </a:p>
          <a:p>
            <a:pPr>
              <a:lnSpc>
                <a:spcPct val="100000"/>
              </a:lnSpc>
              <a:spcBef>
                <a:spcPct val="35000"/>
              </a:spcBef>
            </a:pPr>
            <a:r>
              <a:rPr lang="en-US" dirty="0"/>
              <a:t>Managing memory and application resources</a:t>
            </a:r>
            <a:endParaRPr lang="bg-BG" dirty="0"/>
          </a:p>
          <a:p>
            <a:pPr>
              <a:lnSpc>
                <a:spcPct val="100000"/>
              </a:lnSpc>
              <a:spcBef>
                <a:spcPct val="35000"/>
              </a:spcBef>
            </a:pPr>
            <a:r>
              <a:rPr lang="en-US" dirty="0" smtClean="0"/>
              <a:t>Ensuring type safety</a:t>
            </a:r>
            <a:endParaRPr lang="bg-BG" dirty="0"/>
          </a:p>
          <a:p>
            <a:pPr>
              <a:lnSpc>
                <a:spcPct val="100000"/>
              </a:lnSpc>
              <a:spcBef>
                <a:spcPct val="35000"/>
              </a:spcBef>
            </a:pPr>
            <a:r>
              <a:rPr lang="en-US" dirty="0" smtClean="0"/>
              <a:t>Interaction with the OS</a:t>
            </a:r>
            <a:endParaRPr lang="bg-BG" dirty="0"/>
          </a:p>
          <a:p>
            <a:pPr>
              <a:lnSpc>
                <a:spcPct val="100000"/>
              </a:lnSpc>
              <a:spcBef>
                <a:spcPct val="35000"/>
              </a:spcBef>
            </a:pPr>
            <a:r>
              <a:rPr lang="en-US" dirty="0"/>
              <a:t>Managing security</a:t>
            </a:r>
          </a:p>
          <a:p>
            <a:pPr lvl="1">
              <a:lnSpc>
                <a:spcPct val="100000"/>
              </a:lnSpc>
              <a:spcBef>
                <a:spcPct val="35000"/>
              </a:spcBef>
            </a:pPr>
            <a:r>
              <a:rPr lang="en-US" dirty="0"/>
              <a:t>Code access security</a:t>
            </a:r>
          </a:p>
          <a:p>
            <a:pPr lvl="1">
              <a:lnSpc>
                <a:spcPct val="100000"/>
              </a:lnSpc>
              <a:spcBef>
                <a:spcPct val="35000"/>
              </a:spcBef>
            </a:pPr>
            <a:r>
              <a:rPr lang="en-US" dirty="0"/>
              <a:t>Role-based security</a:t>
            </a:r>
            <a:endParaRPr lang="bg-BG" sz="2600" dirty="0"/>
          </a:p>
        </p:txBody>
      </p:sp>
      <p:pic>
        <p:nvPicPr>
          <p:cNvPr id="74756" name="Picture 4" descr="http://www.bjr-labs.com/images/functionality.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281196" y="3886200"/>
            <a:ext cx="3253204" cy="2419350"/>
          </a:xfrm>
          <a:prstGeom prst="rect">
            <a:avLst/>
          </a:prstGeom>
          <a:noFill/>
          <a:ln w="3175">
            <a:solidFill>
              <a:schemeClr val="accent5">
                <a:lumMod val="40000"/>
                <a:lumOff val="60000"/>
              </a:schemeClr>
            </a:solidFill>
          </a:ln>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17</a:t>
            </a:fld>
            <a:endParaRPr lang="en-US"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7939" name="Rectangle 3"/>
          <p:cNvSpPr>
            <a:spLocks noGrp="1" noChangeArrowheads="1"/>
          </p:cNvSpPr>
          <p:nvPr>
            <p:ph type="title"/>
          </p:nvPr>
        </p:nvSpPr>
        <p:spPr>
          <a:xfrm>
            <a:off x="1828800" y="152400"/>
            <a:ext cx="7086600" cy="914400"/>
          </a:xfrm>
          <a:noFill/>
          <a:ln/>
        </p:spPr>
        <p:txBody>
          <a:bodyPr/>
          <a:lstStyle/>
          <a:p>
            <a:r>
              <a:rPr lang="en-US" dirty="0" smtClean="0"/>
              <a:t>Responsibilities</a:t>
            </a:r>
            <a:r>
              <a:rPr lang="ru-RU" dirty="0" smtClean="0"/>
              <a:t> </a:t>
            </a:r>
            <a:r>
              <a:rPr lang="en-US" dirty="0"/>
              <a:t>of</a:t>
            </a:r>
            <a:r>
              <a:rPr lang="ru-RU" dirty="0"/>
              <a:t> CLR</a:t>
            </a:r>
            <a:r>
              <a:rPr lang="en-US" dirty="0"/>
              <a:t> (2)</a:t>
            </a:r>
            <a:endParaRPr lang="bg-BG" dirty="0"/>
          </a:p>
        </p:txBody>
      </p:sp>
      <p:sp>
        <p:nvSpPr>
          <p:cNvPr id="1447938" name="Rectangle 2"/>
          <p:cNvSpPr>
            <a:spLocks noGrp="1" noChangeArrowheads="1"/>
          </p:cNvSpPr>
          <p:nvPr>
            <p:ph idx="1"/>
          </p:nvPr>
        </p:nvSpPr>
        <p:spPr>
          <a:xfrm>
            <a:off x="228600" y="1219200"/>
            <a:ext cx="8686800" cy="5410200"/>
          </a:xfrm>
        </p:spPr>
        <p:txBody>
          <a:bodyPr/>
          <a:lstStyle/>
          <a:p>
            <a:pPr>
              <a:lnSpc>
                <a:spcPct val="105000"/>
              </a:lnSpc>
            </a:pPr>
            <a:r>
              <a:rPr lang="en-US" dirty="0"/>
              <a:t>Managing </a:t>
            </a:r>
            <a:r>
              <a:rPr lang="en-US" dirty="0" smtClean="0"/>
              <a:t>exceptions</a:t>
            </a:r>
          </a:p>
          <a:p>
            <a:pPr>
              <a:lnSpc>
                <a:spcPct val="105000"/>
              </a:lnSpc>
            </a:pPr>
            <a:r>
              <a:rPr lang="en-US" dirty="0" smtClean="0"/>
              <a:t>Managing </a:t>
            </a:r>
            <a:r>
              <a:rPr lang="en-US" dirty="0"/>
              <a:t>concurrency </a:t>
            </a:r>
            <a:r>
              <a:rPr lang="ru-RU" dirty="0"/>
              <a:t>– </a:t>
            </a:r>
            <a:r>
              <a:rPr lang="en-US" dirty="0"/>
              <a:t>controlling </a:t>
            </a:r>
            <a:r>
              <a:rPr lang="en-US" dirty="0" smtClean="0"/>
              <a:t>the </a:t>
            </a:r>
            <a:r>
              <a:rPr lang="en-US" dirty="0"/>
              <a:t>parallel </a:t>
            </a:r>
            <a:r>
              <a:rPr lang="en-US" dirty="0" smtClean="0"/>
              <a:t>execution of application </a:t>
            </a:r>
            <a:r>
              <a:rPr lang="ru-RU" dirty="0" smtClean="0"/>
              <a:t>threads</a:t>
            </a:r>
            <a:endParaRPr lang="en-US" dirty="0"/>
          </a:p>
          <a:p>
            <a:pPr>
              <a:lnSpc>
                <a:spcPct val="105000"/>
              </a:lnSpc>
            </a:pPr>
            <a:r>
              <a:rPr lang="en-US" dirty="0" smtClean="0"/>
              <a:t>Managing application domains and their isolation</a:t>
            </a:r>
            <a:endParaRPr lang="bg-BG" dirty="0" smtClean="0"/>
          </a:p>
          <a:p>
            <a:pPr>
              <a:lnSpc>
                <a:spcPct val="105000"/>
              </a:lnSpc>
            </a:pPr>
            <a:r>
              <a:rPr lang="en-US" dirty="0" smtClean="0"/>
              <a:t>Interaction with unmanaged code</a:t>
            </a:r>
            <a:endParaRPr lang="bg-BG" dirty="0"/>
          </a:p>
          <a:p>
            <a:pPr>
              <a:lnSpc>
                <a:spcPct val="105000"/>
              </a:lnSpc>
            </a:pPr>
            <a:r>
              <a:rPr lang="en-US" dirty="0"/>
              <a:t>Supporting</a:t>
            </a:r>
            <a:r>
              <a:rPr lang="bg-BG" dirty="0"/>
              <a:t> </a:t>
            </a:r>
            <a:r>
              <a:rPr lang="en-US" dirty="0" smtClean="0"/>
              <a:t>debug /					 profile of .NET code</a:t>
            </a:r>
            <a:endParaRPr lang="bg-BG" dirty="0"/>
          </a:p>
        </p:txBody>
      </p:sp>
      <p:pic>
        <p:nvPicPr>
          <p:cNvPr id="72706" name="Picture 2" descr="http://www.realfreewebsites.com/blog/img/gears.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043096" y="5029200"/>
            <a:ext cx="2643704" cy="1383538"/>
          </a:xfrm>
          <a:prstGeom prst="roundRect">
            <a:avLst>
              <a:gd name="adj" fmla="val 4836"/>
            </a:avLst>
          </a:prstGeom>
          <a:noFill/>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18</a:t>
            </a:fld>
            <a:endParaRPr lang="en-US"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8962" name="Rectangle 2"/>
          <p:cNvSpPr>
            <a:spLocks noGrp="1" noChangeArrowheads="1"/>
          </p:cNvSpPr>
          <p:nvPr>
            <p:ph type="title"/>
          </p:nvPr>
        </p:nvSpPr>
        <p:spPr/>
        <p:txBody>
          <a:bodyPr/>
          <a:lstStyle/>
          <a:p>
            <a:r>
              <a:rPr lang="en-US" dirty="0"/>
              <a:t>CLR Architecture</a:t>
            </a:r>
            <a:endParaRPr lang="bg-BG" dirty="0"/>
          </a:p>
        </p:txBody>
      </p:sp>
      <p:sp>
        <p:nvSpPr>
          <p:cNvPr id="1448963" name="Rectangle 3"/>
          <p:cNvSpPr>
            <a:spLocks noChangeArrowheads="1"/>
          </p:cNvSpPr>
          <p:nvPr/>
        </p:nvSpPr>
        <p:spPr bwMode="auto">
          <a:xfrm>
            <a:off x="1300163" y="5757862"/>
            <a:ext cx="6478587" cy="719138"/>
          </a:xfrm>
          <a:prstGeom prst="rect">
            <a:avLst/>
          </a:prstGeom>
          <a:solidFill>
            <a:srgbClr val="CC99FF"/>
          </a:solidFill>
          <a:ln w="12700">
            <a:miter lim="800000"/>
            <a:headEnd/>
            <a:tailEnd/>
          </a:ln>
          <a:effectLst/>
          <a:scene3d>
            <a:camera prst="legacyObliqueTopRight"/>
            <a:lightRig rig="legacyFlat3" dir="b"/>
          </a:scene3d>
          <a:sp3d extrusionH="277800" prstMaterial="legacyMatte">
            <a:bevelT w="13500" h="13500" prst="angle"/>
            <a:bevelB w="13500" h="13500" prst="angle"/>
            <a:extrusionClr>
              <a:srgbClr val="CC99FF"/>
            </a:extrusionClr>
          </a:sp3d>
        </p:spPr>
        <p:txBody>
          <a:bodyPr wrap="none" anchor="ctr">
            <a:flatTx/>
          </a:bodyPr>
          <a:lstStyle/>
          <a:p>
            <a:pPr algn="ctr">
              <a:lnSpc>
                <a:spcPct val="100000"/>
              </a:lnSpc>
            </a:pPr>
            <a:r>
              <a:rPr kumimoji="0" lang="en-US" sz="2800" b="1" dirty="0">
                <a:solidFill>
                  <a:schemeClr val="tx1">
                    <a:lumMod val="40000"/>
                    <a:lumOff val="60000"/>
                  </a:schemeClr>
                </a:solidFill>
                <a:effectLst>
                  <a:outerShdw blurRad="38100" dist="38100" dir="2700000" algn="tl">
                    <a:srgbClr val="000000">
                      <a:alpha val="43137"/>
                    </a:srgbClr>
                  </a:outerShdw>
                </a:effectLst>
              </a:rPr>
              <a:t>Class Loader</a:t>
            </a:r>
          </a:p>
        </p:txBody>
      </p:sp>
      <p:sp>
        <p:nvSpPr>
          <p:cNvPr id="1448964" name="Rectangle 4"/>
          <p:cNvSpPr>
            <a:spLocks noChangeArrowheads="1"/>
          </p:cNvSpPr>
          <p:nvPr/>
        </p:nvSpPr>
        <p:spPr bwMode="auto">
          <a:xfrm>
            <a:off x="1300163" y="4699000"/>
            <a:ext cx="2051050" cy="900112"/>
          </a:xfrm>
          <a:prstGeom prst="rect">
            <a:avLst/>
          </a:prstGeom>
          <a:solidFill>
            <a:schemeClr val="accent2"/>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chemeClr val="accent2"/>
            </a:extrusionClr>
          </a:sp3d>
        </p:spPr>
        <p:txBody>
          <a:bodyPr wrap="none" anchor="ctr">
            <a:flatTx/>
          </a:bodyPr>
          <a:lstStyle/>
          <a:p>
            <a:pPr algn="ctr"/>
            <a:r>
              <a:rPr lang="en-US" sz="2400" b="1" dirty="0">
                <a:solidFill>
                  <a:schemeClr val="tx1">
                    <a:lumMod val="40000"/>
                    <a:lumOff val="60000"/>
                  </a:schemeClr>
                </a:solidFill>
                <a:effectLst>
                  <a:outerShdw blurRad="38100" dist="38100" dir="2700000" algn="tl">
                    <a:srgbClr val="000000">
                      <a:alpha val="43137"/>
                    </a:srgbClr>
                  </a:outerShdw>
                </a:effectLst>
              </a:rPr>
              <a:t>IL to Native</a:t>
            </a:r>
          </a:p>
          <a:p>
            <a:pPr algn="ctr"/>
            <a:r>
              <a:rPr lang="en-US" sz="2400" b="1" dirty="0">
                <a:solidFill>
                  <a:schemeClr val="tx1">
                    <a:lumMod val="40000"/>
                    <a:lumOff val="60000"/>
                  </a:schemeClr>
                </a:solidFill>
                <a:effectLst>
                  <a:outerShdw blurRad="38100" dist="38100" dir="2700000" algn="tl">
                    <a:srgbClr val="000000">
                      <a:alpha val="43137"/>
                    </a:srgbClr>
                  </a:outerShdw>
                </a:effectLst>
              </a:rPr>
              <a:t>JIT Compiler</a:t>
            </a:r>
          </a:p>
        </p:txBody>
      </p:sp>
      <p:sp>
        <p:nvSpPr>
          <p:cNvPr id="1448965" name="Rectangle 5"/>
          <p:cNvSpPr>
            <a:spLocks noChangeArrowheads="1"/>
          </p:cNvSpPr>
          <p:nvPr/>
        </p:nvSpPr>
        <p:spPr bwMode="auto">
          <a:xfrm>
            <a:off x="3519488" y="4699000"/>
            <a:ext cx="2051050" cy="900112"/>
          </a:xfrm>
          <a:prstGeom prst="rect">
            <a:avLst/>
          </a:prstGeom>
          <a:solidFill>
            <a:schemeClr val="accent2"/>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chemeClr val="accent2"/>
            </a:extrusionClr>
          </a:sp3d>
        </p:spPr>
        <p:txBody>
          <a:bodyPr wrap="none" anchor="ctr">
            <a:flatTx/>
          </a:bodyPr>
          <a:lstStyle/>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Code</a:t>
            </a:r>
          </a:p>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Manager</a:t>
            </a:r>
          </a:p>
        </p:txBody>
      </p:sp>
      <p:sp>
        <p:nvSpPr>
          <p:cNvPr id="1448966" name="Rectangle 6"/>
          <p:cNvSpPr>
            <a:spLocks noChangeArrowheads="1"/>
          </p:cNvSpPr>
          <p:nvPr/>
        </p:nvSpPr>
        <p:spPr bwMode="auto">
          <a:xfrm>
            <a:off x="5729288" y="4703762"/>
            <a:ext cx="2051050" cy="900113"/>
          </a:xfrm>
          <a:prstGeom prst="rect">
            <a:avLst/>
          </a:prstGeom>
          <a:solidFill>
            <a:schemeClr val="accent2"/>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chemeClr val="accent2"/>
            </a:extrusionClr>
          </a:sp3d>
        </p:spPr>
        <p:txBody>
          <a:bodyPr wrap="none" anchor="ctr">
            <a:flatTx/>
          </a:bodyPr>
          <a:lstStyle/>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Garbage</a:t>
            </a:r>
          </a:p>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Collector</a:t>
            </a:r>
          </a:p>
        </p:txBody>
      </p:sp>
      <p:sp>
        <p:nvSpPr>
          <p:cNvPr id="1448967" name="Rectangle 7"/>
          <p:cNvSpPr>
            <a:spLocks noChangeArrowheads="1"/>
          </p:cNvSpPr>
          <p:nvPr/>
        </p:nvSpPr>
        <p:spPr bwMode="auto">
          <a:xfrm>
            <a:off x="1300163" y="3811587"/>
            <a:ext cx="3167062" cy="719138"/>
          </a:xfrm>
          <a:prstGeom prst="rect">
            <a:avLst/>
          </a:prstGeom>
          <a:solidFill>
            <a:schemeClr val="accent2"/>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chemeClr val="accent2"/>
            </a:extrusionClr>
          </a:sp3d>
        </p:spPr>
        <p:txBody>
          <a:bodyPr wrap="none" anchor="ctr">
            <a:flatTx/>
          </a:bodyPr>
          <a:lstStyle/>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Security Engine</a:t>
            </a:r>
          </a:p>
        </p:txBody>
      </p:sp>
      <p:sp>
        <p:nvSpPr>
          <p:cNvPr id="1448968" name="Rectangle 8"/>
          <p:cNvSpPr>
            <a:spLocks noChangeArrowheads="1"/>
          </p:cNvSpPr>
          <p:nvPr/>
        </p:nvSpPr>
        <p:spPr bwMode="auto">
          <a:xfrm>
            <a:off x="4611688" y="3811587"/>
            <a:ext cx="3167062" cy="719138"/>
          </a:xfrm>
          <a:prstGeom prst="rect">
            <a:avLst/>
          </a:prstGeom>
          <a:solidFill>
            <a:schemeClr val="accent2"/>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chemeClr val="accent2"/>
            </a:extrusionClr>
          </a:sp3d>
        </p:spPr>
        <p:txBody>
          <a:bodyPr wrap="none" anchor="ctr">
            <a:flatTx/>
          </a:bodyPr>
          <a:lstStyle/>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Debug Engine</a:t>
            </a:r>
          </a:p>
        </p:txBody>
      </p:sp>
      <p:sp>
        <p:nvSpPr>
          <p:cNvPr id="1448969" name="Rectangle 9"/>
          <p:cNvSpPr>
            <a:spLocks noChangeArrowheads="1"/>
          </p:cNvSpPr>
          <p:nvPr/>
        </p:nvSpPr>
        <p:spPr bwMode="auto">
          <a:xfrm>
            <a:off x="1300163" y="2938462"/>
            <a:ext cx="3167062" cy="719138"/>
          </a:xfrm>
          <a:prstGeom prst="rect">
            <a:avLst/>
          </a:prstGeom>
          <a:solidFill>
            <a:schemeClr val="accent2"/>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chemeClr val="accent2"/>
            </a:extrusionClr>
          </a:sp3d>
        </p:spPr>
        <p:txBody>
          <a:bodyPr wrap="none" anchor="ctr">
            <a:flatTx/>
          </a:bodyPr>
          <a:lstStyle/>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Type Checker</a:t>
            </a:r>
          </a:p>
        </p:txBody>
      </p:sp>
      <p:sp>
        <p:nvSpPr>
          <p:cNvPr id="1448970" name="Rectangle 10"/>
          <p:cNvSpPr>
            <a:spLocks noChangeArrowheads="1"/>
          </p:cNvSpPr>
          <p:nvPr/>
        </p:nvSpPr>
        <p:spPr bwMode="auto">
          <a:xfrm>
            <a:off x="4611688" y="2938462"/>
            <a:ext cx="3167062" cy="719138"/>
          </a:xfrm>
          <a:prstGeom prst="rect">
            <a:avLst/>
          </a:prstGeom>
          <a:solidFill>
            <a:schemeClr val="accent2"/>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chemeClr val="accent2"/>
            </a:extrusionClr>
          </a:sp3d>
        </p:spPr>
        <p:txBody>
          <a:bodyPr wrap="none" anchor="ctr">
            <a:flatTx/>
          </a:bodyPr>
          <a:lstStyle/>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Exception Manager</a:t>
            </a:r>
          </a:p>
        </p:txBody>
      </p:sp>
      <p:sp>
        <p:nvSpPr>
          <p:cNvPr id="1448971" name="Rectangle 11"/>
          <p:cNvSpPr>
            <a:spLocks noChangeArrowheads="1"/>
          </p:cNvSpPr>
          <p:nvPr/>
        </p:nvSpPr>
        <p:spPr bwMode="auto">
          <a:xfrm>
            <a:off x="1300163" y="2063750"/>
            <a:ext cx="3167062" cy="719137"/>
          </a:xfrm>
          <a:prstGeom prst="rect">
            <a:avLst/>
          </a:prstGeom>
          <a:solidFill>
            <a:schemeClr val="accent2"/>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chemeClr val="accent2"/>
            </a:extrusionClr>
          </a:sp3d>
        </p:spPr>
        <p:txBody>
          <a:bodyPr wrap="none" anchor="ctr">
            <a:flatTx/>
          </a:bodyPr>
          <a:lstStyle/>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Thread Support</a:t>
            </a:r>
          </a:p>
        </p:txBody>
      </p:sp>
      <p:sp>
        <p:nvSpPr>
          <p:cNvPr id="1448972" name="Rectangle 12"/>
          <p:cNvSpPr>
            <a:spLocks noChangeArrowheads="1"/>
          </p:cNvSpPr>
          <p:nvPr/>
        </p:nvSpPr>
        <p:spPr bwMode="auto">
          <a:xfrm>
            <a:off x="4611688" y="2063750"/>
            <a:ext cx="3167062" cy="719137"/>
          </a:xfrm>
          <a:prstGeom prst="rect">
            <a:avLst/>
          </a:prstGeom>
          <a:solidFill>
            <a:schemeClr val="accent2"/>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chemeClr val="accent2"/>
            </a:extrusionClr>
          </a:sp3d>
        </p:spPr>
        <p:txBody>
          <a:bodyPr wrap="none" anchor="ctr">
            <a:flatTx/>
          </a:bodyPr>
          <a:lstStyle/>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COM Marshaler</a:t>
            </a:r>
          </a:p>
        </p:txBody>
      </p:sp>
      <p:sp>
        <p:nvSpPr>
          <p:cNvPr id="1448973" name="Rectangle 13"/>
          <p:cNvSpPr>
            <a:spLocks noChangeArrowheads="1"/>
          </p:cNvSpPr>
          <p:nvPr/>
        </p:nvSpPr>
        <p:spPr bwMode="auto">
          <a:xfrm>
            <a:off x="1300163" y="1192212"/>
            <a:ext cx="6478587" cy="719138"/>
          </a:xfrm>
          <a:prstGeom prst="rect">
            <a:avLst/>
          </a:prstGeom>
          <a:solidFill>
            <a:srgbClr val="FF00FF"/>
          </a:solidFill>
          <a:ln w="12700" algn="ctr">
            <a:miter lim="800000"/>
            <a:headEnd/>
            <a:tailEnd/>
          </a:ln>
          <a:effectLst/>
          <a:scene3d>
            <a:camera prst="legacyObliqueTopRight"/>
            <a:lightRig rig="legacyFlat3" dir="b"/>
          </a:scene3d>
          <a:sp3d extrusionH="277800" prstMaterial="legacyMatte">
            <a:bevelT w="13500" h="13500" prst="angle"/>
            <a:bevelB w="13500" h="13500" prst="angle"/>
            <a:extrusionClr>
              <a:srgbClr val="FF00FF"/>
            </a:extrusionClr>
          </a:sp3d>
        </p:spPr>
        <p:txBody>
          <a:bodyPr wrap="none" anchor="ctr">
            <a:flatTx/>
          </a:bodyPr>
          <a:lstStyle/>
          <a:p>
            <a:pPr algn="ctr">
              <a:lnSpc>
                <a:spcPct val="100000"/>
              </a:lnSpc>
            </a:pPr>
            <a:r>
              <a:rPr lang="en-US" sz="2400" b="1" dirty="0">
                <a:solidFill>
                  <a:schemeClr val="tx1">
                    <a:lumMod val="40000"/>
                    <a:lumOff val="60000"/>
                  </a:schemeClr>
                </a:solidFill>
                <a:effectLst>
                  <a:outerShdw blurRad="38100" dist="38100" dir="2700000" algn="tl">
                    <a:srgbClr val="000000">
                      <a:alpha val="43137"/>
                    </a:srgbClr>
                  </a:outerShdw>
                </a:effectLst>
              </a:rPr>
              <a:t>Base Class Library Support</a:t>
            </a:r>
          </a:p>
        </p:txBody>
      </p:sp>
      <p:sp>
        <p:nvSpPr>
          <p:cNvPr id="1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19</a:t>
            </a:fld>
            <a:endParaRPr lang="en-US"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8770" name="Rectangle 2"/>
          <p:cNvSpPr>
            <a:spLocks noGrp="1" noChangeArrowheads="1"/>
          </p:cNvSpPr>
          <p:nvPr>
            <p:ph type="ctrTitle"/>
          </p:nvPr>
        </p:nvSpPr>
        <p:spPr>
          <a:xfrm>
            <a:off x="1187450" y="990600"/>
            <a:ext cx="6480175" cy="1473200"/>
          </a:xfrm>
        </p:spPr>
        <p:txBody>
          <a:bodyPr/>
          <a:lstStyle/>
          <a:p>
            <a:pPr>
              <a:lnSpc>
                <a:spcPct val="100000"/>
              </a:lnSpc>
            </a:pPr>
            <a:r>
              <a:rPr lang="en-US" dirty="0"/>
              <a:t>Managed and Unmanaged Code</a:t>
            </a:r>
            <a:endParaRPr lang="bg-BG" dirty="0"/>
          </a:p>
        </p:txBody>
      </p:sp>
      <p:sp>
        <p:nvSpPr>
          <p:cNvPr id="3" name="Subtitle 5"/>
          <p:cNvSpPr>
            <a:spLocks noGrp="1"/>
          </p:cNvSpPr>
          <p:nvPr>
            <p:ph type="subTitle" idx="1"/>
          </p:nvPr>
        </p:nvSpPr>
        <p:spPr>
          <a:xfrm>
            <a:off x="1684879" y="2748757"/>
            <a:ext cx="5486400" cy="497680"/>
          </a:xfrm>
        </p:spPr>
        <p:txBody>
          <a:bodyPr/>
          <a:lstStyle/>
          <a:p>
            <a:r>
              <a:rPr lang="en-US" dirty="0" smtClean="0"/>
              <a:t>What is the Difference?</a:t>
            </a:r>
            <a:endParaRPr lang="en-US" dirty="0"/>
          </a:p>
        </p:txBody>
      </p:sp>
      <p:pic>
        <p:nvPicPr>
          <p:cNvPr id="69634" name="Picture 2" descr="msil.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flipH="1">
            <a:off x="2241699" y="3557646"/>
            <a:ext cx="4377266" cy="2690754"/>
          </a:xfrm>
          <a:prstGeom prst="roundRect">
            <a:avLst>
              <a:gd name="adj" fmla="val 5509"/>
            </a:avLst>
          </a:prstGeom>
          <a:noFill/>
        </p:spPr>
      </p:pic>
      <p:pic>
        <p:nvPicPr>
          <p:cNvPr id="3076" name="Picture 4" descr="http://svn.navi.cx/misc/trunk/wasabi/images/hammer.pn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rot="19559991" flipH="1">
            <a:off x="5204245" y="3423826"/>
            <a:ext cx="2362200" cy="243840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1010" name="Rectangle 2"/>
          <p:cNvSpPr>
            <a:spLocks noGrp="1" noChangeArrowheads="1"/>
          </p:cNvSpPr>
          <p:nvPr>
            <p:ph type="title"/>
          </p:nvPr>
        </p:nvSpPr>
        <p:spPr/>
        <p:txBody>
          <a:bodyPr/>
          <a:lstStyle/>
          <a:p>
            <a:r>
              <a:rPr lang="en-US" dirty="0"/>
              <a:t>Managed Code</a:t>
            </a:r>
            <a:endParaRPr lang="bg-BG" dirty="0"/>
          </a:p>
        </p:txBody>
      </p:sp>
      <p:sp>
        <p:nvSpPr>
          <p:cNvPr id="1451011" name="Rectangle 3"/>
          <p:cNvSpPr>
            <a:spLocks noGrp="1" noChangeArrowheads="1"/>
          </p:cNvSpPr>
          <p:nvPr>
            <p:ph idx="1"/>
          </p:nvPr>
        </p:nvSpPr>
        <p:spPr/>
        <p:txBody>
          <a:bodyPr/>
          <a:lstStyle/>
          <a:p>
            <a:pPr>
              <a:lnSpc>
                <a:spcPct val="100000"/>
              </a:lnSpc>
            </a:pPr>
            <a:r>
              <a:rPr lang="en-US" dirty="0" smtClean="0"/>
              <a:t>CLR </a:t>
            </a:r>
            <a:r>
              <a:rPr lang="en-US" dirty="0"/>
              <a:t>executed </a:t>
            </a:r>
            <a:r>
              <a:rPr lang="en-US" dirty="0" smtClean="0"/>
              <a:t>code is called </a:t>
            </a:r>
            <a:r>
              <a:rPr lang="en-US" dirty="0" smtClean="0">
                <a:solidFill>
                  <a:schemeClr val="accent5">
                    <a:lumMod val="20000"/>
                    <a:lumOff val="80000"/>
                  </a:schemeClr>
                </a:solidFill>
              </a:rPr>
              <a:t>managed code</a:t>
            </a:r>
            <a:endParaRPr lang="bg-BG" dirty="0">
              <a:solidFill>
                <a:schemeClr val="accent5">
                  <a:lumMod val="20000"/>
                  <a:lumOff val="80000"/>
                </a:schemeClr>
              </a:solidFill>
            </a:endParaRPr>
          </a:p>
          <a:p>
            <a:pPr>
              <a:lnSpc>
                <a:spcPct val="100000"/>
              </a:lnSpc>
            </a:pPr>
            <a:r>
              <a:rPr lang="en-US" dirty="0"/>
              <a:t>Represents programming code in the low level language </a:t>
            </a:r>
            <a:r>
              <a:rPr lang="en-US" dirty="0">
                <a:solidFill>
                  <a:schemeClr val="accent5">
                    <a:lumMod val="20000"/>
                    <a:lumOff val="80000"/>
                  </a:schemeClr>
                </a:solidFill>
              </a:rPr>
              <a:t>MSIL</a:t>
            </a:r>
            <a:r>
              <a:rPr lang="bg-BG" dirty="0"/>
              <a:t> </a:t>
            </a:r>
            <a:r>
              <a:rPr lang="en-US" dirty="0" smtClean="0"/>
              <a:t>(MS Intermediate </a:t>
            </a:r>
            <a:r>
              <a:rPr lang="en-US" dirty="0"/>
              <a:t>Language)</a:t>
            </a:r>
          </a:p>
          <a:p>
            <a:pPr>
              <a:lnSpc>
                <a:spcPct val="100000"/>
              </a:lnSpc>
            </a:pPr>
            <a:r>
              <a:rPr lang="en-US" dirty="0" smtClean="0"/>
              <a:t>Contains metadata</a:t>
            </a:r>
            <a:endParaRPr lang="bg-BG" dirty="0"/>
          </a:p>
          <a:p>
            <a:pPr lvl="1">
              <a:lnSpc>
                <a:spcPct val="100000"/>
              </a:lnSpc>
            </a:pPr>
            <a:r>
              <a:rPr lang="en-US" dirty="0"/>
              <a:t>Description of classes</a:t>
            </a:r>
            <a:r>
              <a:rPr lang="bg-BG" dirty="0"/>
              <a:t>, </a:t>
            </a:r>
            <a:r>
              <a:rPr lang="en-US" dirty="0"/>
              <a:t>interfaces</a:t>
            </a:r>
            <a:r>
              <a:rPr lang="bg-BG" dirty="0"/>
              <a:t>, </a:t>
            </a:r>
            <a:r>
              <a:rPr lang="en-US" dirty="0"/>
              <a:t>properties</a:t>
            </a:r>
            <a:r>
              <a:rPr lang="bg-BG" dirty="0"/>
              <a:t>, </a:t>
            </a:r>
            <a:r>
              <a:rPr lang="en-US" dirty="0"/>
              <a:t>fields</a:t>
            </a:r>
            <a:r>
              <a:rPr lang="bg-BG" dirty="0"/>
              <a:t>, </a:t>
            </a:r>
            <a:r>
              <a:rPr lang="en-US" dirty="0"/>
              <a:t>methods</a:t>
            </a:r>
            <a:r>
              <a:rPr lang="bg-BG" dirty="0"/>
              <a:t>, </a:t>
            </a:r>
            <a:r>
              <a:rPr lang="en-US" dirty="0" smtClean="0"/>
              <a:t>parameters, etc.</a:t>
            </a:r>
            <a:endParaRPr lang="bg-BG" dirty="0"/>
          </a:p>
          <a:p>
            <a:pPr>
              <a:lnSpc>
                <a:spcPct val="100000"/>
              </a:lnSpc>
            </a:pPr>
            <a:r>
              <a:rPr lang="en-US" dirty="0" smtClean="0"/>
              <a:t>Programs</a:t>
            </a:r>
            <a:r>
              <a:rPr lang="bg-BG" dirty="0"/>
              <a:t>, </a:t>
            </a:r>
            <a:r>
              <a:rPr lang="en-US" dirty="0"/>
              <a:t>written in any</a:t>
            </a:r>
            <a:r>
              <a:rPr lang="bg-BG" dirty="0"/>
              <a:t> </a:t>
            </a:r>
            <a:r>
              <a:rPr lang="en-US" dirty="0"/>
              <a:t>.NET language </a:t>
            </a:r>
            <a:r>
              <a:rPr lang="en-US" dirty="0" smtClean="0"/>
              <a:t>are</a:t>
            </a:r>
          </a:p>
          <a:p>
            <a:pPr lvl="1">
              <a:lnSpc>
                <a:spcPct val="100000"/>
              </a:lnSpc>
            </a:pPr>
            <a:r>
              <a:rPr lang="en-US" dirty="0" smtClean="0"/>
              <a:t>Compiled </a:t>
            </a:r>
            <a:r>
              <a:rPr lang="en-US" dirty="0"/>
              <a:t>to managed code</a:t>
            </a:r>
            <a:r>
              <a:rPr lang="bg-BG" dirty="0"/>
              <a:t> </a:t>
            </a:r>
            <a:r>
              <a:rPr lang="en-US" dirty="0"/>
              <a:t>(MSIL</a:t>
            </a:r>
            <a:r>
              <a:rPr lang="en-US" dirty="0" smtClean="0"/>
              <a:t>)</a:t>
            </a:r>
          </a:p>
          <a:p>
            <a:pPr lvl="1">
              <a:lnSpc>
                <a:spcPct val="100000"/>
              </a:lnSpc>
            </a:pPr>
            <a:r>
              <a:rPr lang="en-US" dirty="0" smtClean="0"/>
              <a:t>Packaged as assemblies (</a:t>
            </a:r>
            <a:r>
              <a:rPr lang="en-US" dirty="0" smtClean="0">
                <a:solidFill>
                  <a:schemeClr val="accent5">
                    <a:lumMod val="20000"/>
                    <a:lumOff val="80000"/>
                  </a:schemeClr>
                </a:solidFill>
                <a:latin typeface="Consolas" pitchFamily="49" charset="0"/>
                <a:cs typeface="Consolas" pitchFamily="49" charset="0"/>
              </a:rPr>
              <a:t>.exe</a:t>
            </a:r>
            <a:r>
              <a:rPr lang="en-US" dirty="0" smtClean="0"/>
              <a:t> or </a:t>
            </a:r>
            <a:r>
              <a:rPr lang="en-US" dirty="0" smtClean="0">
                <a:solidFill>
                  <a:schemeClr val="accent5">
                    <a:lumMod val="20000"/>
                    <a:lumOff val="80000"/>
                  </a:schemeClr>
                </a:solidFill>
                <a:latin typeface="Consolas" pitchFamily="49" charset="0"/>
                <a:cs typeface="Consolas" pitchFamily="49" charset="0"/>
              </a:rPr>
              <a:t>.</a:t>
            </a:r>
            <a:r>
              <a:rPr lang="en-US" noProof="1" smtClean="0">
                <a:solidFill>
                  <a:schemeClr val="accent5">
                    <a:lumMod val="20000"/>
                    <a:lumOff val="80000"/>
                  </a:schemeClr>
                </a:solidFill>
                <a:latin typeface="Consolas" pitchFamily="49" charset="0"/>
                <a:cs typeface="Consolas" pitchFamily="49" charset="0"/>
              </a:rPr>
              <a:t>dll</a:t>
            </a:r>
            <a:r>
              <a:rPr lang="en-US" dirty="0" smtClean="0"/>
              <a:t> files)</a:t>
            </a:r>
            <a:endParaRPr lang="bg-BG"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21</a:t>
            </a:fld>
            <a:endParaRPr lang="en-US" dirty="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3059" name="Rectangle 3"/>
          <p:cNvSpPr>
            <a:spLocks noGrp="1" noChangeArrowheads="1"/>
          </p:cNvSpPr>
          <p:nvPr>
            <p:ph type="title"/>
          </p:nvPr>
        </p:nvSpPr>
        <p:spPr>
          <a:noFill/>
          <a:ln/>
          <a:effectLst>
            <a:outerShdw dist="17961" dir="2700000" algn="ctr" rotWithShape="0">
              <a:schemeClr val="bg2"/>
            </a:outerShdw>
          </a:effectLst>
        </p:spPr>
        <p:txBody>
          <a:bodyPr/>
          <a:lstStyle/>
          <a:p>
            <a:r>
              <a:rPr lang="en-US" dirty="0"/>
              <a:t>Managed Code </a:t>
            </a:r>
            <a:r>
              <a:rPr lang="bg-BG" dirty="0"/>
              <a:t>(2)</a:t>
            </a:r>
          </a:p>
        </p:txBody>
      </p:sp>
      <p:sp>
        <p:nvSpPr>
          <p:cNvPr id="1453058" name="Rectangle 2"/>
          <p:cNvSpPr>
            <a:spLocks noGrp="1" noChangeArrowheads="1"/>
          </p:cNvSpPr>
          <p:nvPr>
            <p:ph idx="1"/>
          </p:nvPr>
        </p:nvSpPr>
        <p:spPr>
          <a:xfrm>
            <a:off x="228600" y="1143001"/>
            <a:ext cx="8736013" cy="5454650"/>
          </a:xfrm>
        </p:spPr>
        <p:txBody>
          <a:bodyPr/>
          <a:lstStyle/>
          <a:p>
            <a:pPr>
              <a:lnSpc>
                <a:spcPct val="100000"/>
              </a:lnSpc>
            </a:pPr>
            <a:r>
              <a:rPr lang="en-US" dirty="0"/>
              <a:t>Object-oriented</a:t>
            </a:r>
            <a:endParaRPr lang="bg-BG" dirty="0"/>
          </a:p>
          <a:p>
            <a:pPr>
              <a:lnSpc>
                <a:spcPct val="100000"/>
              </a:lnSpc>
            </a:pPr>
            <a:r>
              <a:rPr lang="en-US" dirty="0" smtClean="0"/>
              <a:t>Secure</a:t>
            </a:r>
            <a:endParaRPr lang="bg-BG" dirty="0"/>
          </a:p>
          <a:p>
            <a:pPr>
              <a:lnSpc>
                <a:spcPct val="100000"/>
              </a:lnSpc>
            </a:pPr>
            <a:r>
              <a:rPr lang="en-US" dirty="0" smtClean="0"/>
              <a:t>Reliable</a:t>
            </a:r>
          </a:p>
          <a:p>
            <a:pPr lvl="1">
              <a:lnSpc>
                <a:spcPct val="100000"/>
              </a:lnSpc>
            </a:pPr>
            <a:r>
              <a:rPr lang="en-US" dirty="0" smtClean="0"/>
              <a:t>Protected from </a:t>
            </a:r>
            <a:r>
              <a:rPr lang="bg-BG" dirty="0" smtClean="0"/>
              <a:t>irregular</a:t>
            </a:r>
            <a:r>
              <a:rPr lang="en-US" dirty="0" smtClean="0"/>
              <a:t> use of types</a:t>
            </a:r>
            <a:r>
              <a:rPr lang="bg-BG" dirty="0" smtClean="0"/>
              <a:t> (</a:t>
            </a:r>
            <a:r>
              <a:rPr lang="en-US" dirty="0" smtClean="0"/>
              <a:t>type-safe)</a:t>
            </a:r>
            <a:endParaRPr lang="en-US" dirty="0"/>
          </a:p>
          <a:p>
            <a:pPr>
              <a:lnSpc>
                <a:spcPct val="100000"/>
              </a:lnSpc>
            </a:pPr>
            <a:r>
              <a:rPr lang="en-US" dirty="0"/>
              <a:t>Allows integration between </a:t>
            </a:r>
            <a:r>
              <a:rPr lang="en-US" dirty="0" smtClean="0"/>
              <a:t>components and data types </a:t>
            </a:r>
            <a:r>
              <a:rPr lang="en-US" dirty="0"/>
              <a:t>of different programming </a:t>
            </a:r>
            <a:r>
              <a:rPr lang="en-US" dirty="0" smtClean="0"/>
              <a:t>languages</a:t>
            </a:r>
            <a:endParaRPr lang="bg-BG" dirty="0"/>
          </a:p>
        </p:txBody>
      </p:sp>
      <p:pic>
        <p:nvPicPr>
          <p:cNvPr id="64516" name="Picture 4" descr="http://ts1.mm.bing.net/images/thumbnail.aspx?q=1429249262756&amp;id=e174b74585b10dfd469acd27f24e4b35&amp;url=http%3a%2f%2fwww.pureelite.co.uk%2fwp-content%2fuploads%2f2009%2f03%2fbinary-code.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324600" y="1104898"/>
            <a:ext cx="2286000" cy="17145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22</a:t>
            </a:fld>
            <a:endParaRPr lang="en-US" dirty="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5106" name="Rectangle 2"/>
          <p:cNvSpPr>
            <a:spLocks noGrp="1" noChangeArrowheads="1"/>
          </p:cNvSpPr>
          <p:nvPr>
            <p:ph type="title"/>
          </p:nvPr>
        </p:nvSpPr>
        <p:spPr/>
        <p:txBody>
          <a:bodyPr/>
          <a:lstStyle/>
          <a:p>
            <a:r>
              <a:rPr lang="en-US" dirty="0"/>
              <a:t>Unmanaged (Win32) Code</a:t>
            </a:r>
            <a:r>
              <a:rPr lang="bg-BG" dirty="0"/>
              <a:t> </a:t>
            </a:r>
          </a:p>
        </p:txBody>
      </p:sp>
      <p:sp>
        <p:nvSpPr>
          <p:cNvPr id="1455107" name="Rectangle 3"/>
          <p:cNvSpPr>
            <a:spLocks noGrp="1" noChangeArrowheads="1"/>
          </p:cNvSpPr>
          <p:nvPr>
            <p:ph idx="1"/>
          </p:nvPr>
        </p:nvSpPr>
        <p:spPr/>
        <p:txBody>
          <a:bodyPr/>
          <a:lstStyle/>
          <a:p>
            <a:pPr>
              <a:lnSpc>
                <a:spcPct val="100000"/>
              </a:lnSpc>
            </a:pPr>
            <a:r>
              <a:rPr lang="en-US" dirty="0"/>
              <a:t>No protection of memory and </a:t>
            </a:r>
            <a:r>
              <a:rPr lang="en-US" dirty="0" smtClean="0"/>
              <a:t>type-safety</a:t>
            </a:r>
            <a:endParaRPr lang="bg-BG" dirty="0"/>
          </a:p>
          <a:p>
            <a:pPr lvl="1">
              <a:lnSpc>
                <a:spcPct val="100000"/>
              </a:lnSpc>
            </a:pPr>
            <a:r>
              <a:rPr lang="en-US" dirty="0" smtClean="0"/>
              <a:t>Reliability problems</a:t>
            </a:r>
            <a:endParaRPr lang="bg-BG" dirty="0" smtClean="0"/>
          </a:p>
          <a:p>
            <a:pPr lvl="1">
              <a:lnSpc>
                <a:spcPct val="100000"/>
              </a:lnSpc>
            </a:pPr>
            <a:r>
              <a:rPr lang="en-US" dirty="0" smtClean="0"/>
              <a:t>Safety </a:t>
            </a:r>
            <a:r>
              <a:rPr lang="en-US" dirty="0"/>
              <a:t>problems</a:t>
            </a:r>
          </a:p>
          <a:p>
            <a:pPr>
              <a:lnSpc>
                <a:spcPct val="100000"/>
              </a:lnSpc>
            </a:pPr>
            <a:r>
              <a:rPr lang="en-US" dirty="0" smtClean="0"/>
              <a:t>Doesn’t </a:t>
            </a:r>
            <a:r>
              <a:rPr lang="en-US" dirty="0"/>
              <a:t>contain </a:t>
            </a:r>
            <a:r>
              <a:rPr lang="en-US" dirty="0" smtClean="0"/>
              <a:t>metadata</a:t>
            </a:r>
          </a:p>
          <a:p>
            <a:pPr lvl="1">
              <a:lnSpc>
                <a:spcPct val="100000"/>
              </a:lnSpc>
            </a:pPr>
            <a:r>
              <a:rPr lang="en-US" dirty="0" smtClean="0"/>
              <a:t>Needs additional overhead like</a:t>
            </a:r>
            <a:endParaRPr lang="bg-BG" dirty="0" smtClean="0"/>
          </a:p>
          <a:p>
            <a:pPr>
              <a:lnSpc>
                <a:spcPct val="100000"/>
              </a:lnSpc>
            </a:pPr>
            <a:r>
              <a:rPr lang="en-US" dirty="0" smtClean="0"/>
              <a:t>Compiled to machine-dependent code</a:t>
            </a:r>
          </a:p>
          <a:p>
            <a:pPr lvl="1">
              <a:lnSpc>
                <a:spcPct val="100000"/>
              </a:lnSpc>
            </a:pPr>
            <a:r>
              <a:rPr lang="en-US" dirty="0" smtClean="0"/>
              <a:t>Need of different versions for different platforms</a:t>
            </a:r>
            <a:endParaRPr lang="bg-BG" dirty="0"/>
          </a:p>
          <a:p>
            <a:pPr lvl="1">
              <a:lnSpc>
                <a:spcPct val="100000"/>
              </a:lnSpc>
            </a:pPr>
            <a:r>
              <a:rPr lang="en-US" dirty="0"/>
              <a:t>Hard to be ported to other platforms</a:t>
            </a:r>
            <a:endParaRPr lang="bg-BG"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23</a:t>
            </a:fld>
            <a:endParaRPr lang="en-US" dirty="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6130" name="Rectangle 2"/>
          <p:cNvSpPr>
            <a:spLocks noGrp="1" noChangeArrowheads="1"/>
          </p:cNvSpPr>
          <p:nvPr>
            <p:ph type="title"/>
          </p:nvPr>
        </p:nvSpPr>
        <p:spPr/>
        <p:txBody>
          <a:bodyPr/>
          <a:lstStyle/>
          <a:p>
            <a:r>
              <a:rPr lang="en-US" dirty="0"/>
              <a:t>Memory Management</a:t>
            </a:r>
            <a:endParaRPr lang="bg-BG" dirty="0"/>
          </a:p>
        </p:txBody>
      </p:sp>
      <p:sp>
        <p:nvSpPr>
          <p:cNvPr id="1456131" name="Rectangle 3"/>
          <p:cNvSpPr>
            <a:spLocks noGrp="1" noChangeArrowheads="1"/>
          </p:cNvSpPr>
          <p:nvPr>
            <p:ph idx="1"/>
          </p:nvPr>
        </p:nvSpPr>
        <p:spPr/>
        <p:txBody>
          <a:bodyPr/>
          <a:lstStyle/>
          <a:p>
            <a:pPr>
              <a:lnSpc>
                <a:spcPct val="100000"/>
              </a:lnSpc>
            </a:pPr>
            <a:r>
              <a:rPr lang="en-US" dirty="0"/>
              <a:t>CLR manages memory automatically </a:t>
            </a:r>
            <a:endParaRPr lang="bg-BG" dirty="0"/>
          </a:p>
          <a:p>
            <a:pPr lvl="1">
              <a:lnSpc>
                <a:spcPct val="100000"/>
              </a:lnSpc>
            </a:pPr>
            <a:r>
              <a:rPr lang="en-US" dirty="0"/>
              <a:t>Dynamically loaded</a:t>
            </a:r>
            <a:r>
              <a:rPr lang="bg-BG" dirty="0"/>
              <a:t> </a:t>
            </a:r>
            <a:r>
              <a:rPr lang="en-US" dirty="0"/>
              <a:t>objects are stored </a:t>
            </a:r>
            <a:r>
              <a:rPr lang="en-US" dirty="0" smtClean="0"/>
              <a:t>in the </a:t>
            </a:r>
            <a:r>
              <a:rPr lang="en-US" dirty="0" smtClean="0">
                <a:solidFill>
                  <a:schemeClr val="accent5">
                    <a:lumMod val="20000"/>
                    <a:lumOff val="80000"/>
                  </a:schemeClr>
                </a:solidFill>
              </a:rPr>
              <a:t>managed </a:t>
            </a:r>
            <a:r>
              <a:rPr lang="en-US" dirty="0">
                <a:solidFill>
                  <a:schemeClr val="accent5">
                    <a:lumMod val="20000"/>
                    <a:lumOff val="80000"/>
                  </a:schemeClr>
                </a:solidFill>
              </a:rPr>
              <a:t>heap</a:t>
            </a:r>
          </a:p>
          <a:p>
            <a:pPr lvl="1">
              <a:lnSpc>
                <a:spcPct val="100000"/>
              </a:lnSpc>
            </a:pPr>
            <a:r>
              <a:rPr lang="en-US" dirty="0"/>
              <a:t>Unusable objects are automatically cleaned </a:t>
            </a:r>
            <a:r>
              <a:rPr lang="en-US" dirty="0" smtClean="0"/>
              <a:t>up by the </a:t>
            </a:r>
            <a:r>
              <a:rPr lang="en-US" dirty="0" smtClean="0">
                <a:solidFill>
                  <a:schemeClr val="accent5">
                    <a:lumMod val="20000"/>
                    <a:lumOff val="80000"/>
                  </a:schemeClr>
                </a:solidFill>
              </a:rPr>
              <a:t>garbage </a:t>
            </a:r>
            <a:r>
              <a:rPr lang="en-US" dirty="0">
                <a:solidFill>
                  <a:schemeClr val="accent5">
                    <a:lumMod val="20000"/>
                    <a:lumOff val="80000"/>
                  </a:schemeClr>
                </a:solidFill>
              </a:rPr>
              <a:t>collector</a:t>
            </a:r>
          </a:p>
          <a:p>
            <a:pPr>
              <a:lnSpc>
                <a:spcPct val="100000"/>
              </a:lnSpc>
            </a:pPr>
            <a:r>
              <a:rPr lang="en-US" dirty="0"/>
              <a:t>Some of the big problems are solved</a:t>
            </a:r>
            <a:endParaRPr lang="bg-BG" dirty="0"/>
          </a:p>
          <a:p>
            <a:pPr lvl="1">
              <a:lnSpc>
                <a:spcPct val="100000"/>
              </a:lnSpc>
            </a:pPr>
            <a:r>
              <a:rPr lang="en-US" dirty="0"/>
              <a:t>Memory leaks</a:t>
            </a:r>
            <a:endParaRPr lang="bg-BG" dirty="0"/>
          </a:p>
          <a:p>
            <a:pPr lvl="1">
              <a:lnSpc>
                <a:spcPct val="100000"/>
              </a:lnSpc>
            </a:pPr>
            <a:r>
              <a:rPr lang="en-US" dirty="0"/>
              <a:t>Access to freed or unallocated memory</a:t>
            </a:r>
            <a:endParaRPr lang="bg-BG" dirty="0"/>
          </a:p>
          <a:p>
            <a:pPr>
              <a:lnSpc>
                <a:spcPct val="100000"/>
              </a:lnSpc>
            </a:pPr>
            <a:r>
              <a:rPr lang="en-US" dirty="0"/>
              <a:t>Objects are accessed through a reference</a:t>
            </a:r>
            <a:endParaRPr lang="bg-BG"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24</a:t>
            </a:fld>
            <a:endParaRPr lang="en-US" dirty="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2866" name="Rectangle 2"/>
          <p:cNvSpPr>
            <a:spLocks noGrp="1" noChangeArrowheads="1"/>
          </p:cNvSpPr>
          <p:nvPr>
            <p:ph type="ctrTitle"/>
          </p:nvPr>
        </p:nvSpPr>
        <p:spPr>
          <a:xfrm>
            <a:off x="1216025" y="1193800"/>
            <a:ext cx="6480175" cy="1473200"/>
          </a:xfrm>
        </p:spPr>
        <p:txBody>
          <a:bodyPr/>
          <a:lstStyle/>
          <a:p>
            <a:pPr>
              <a:lnSpc>
                <a:spcPct val="110000"/>
              </a:lnSpc>
            </a:pPr>
            <a:r>
              <a:rPr lang="en-US"/>
              <a:t>Intermediate Language (MSIL)</a:t>
            </a:r>
            <a:endParaRPr lang="bg-BG" dirty="0"/>
          </a:p>
        </p:txBody>
      </p:sp>
      <p:pic>
        <p:nvPicPr>
          <p:cNvPr id="60418" name="Picture 2" descr="http://zamov.online.fr/images/assembler.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218018" y="3124200"/>
            <a:ext cx="4441264" cy="3124200"/>
          </a:xfrm>
          <a:prstGeom prst="roundRect">
            <a:avLst>
              <a:gd name="adj" fmla="val 6797"/>
            </a:avLst>
          </a:prstGeom>
          <a:ln>
            <a:noFill/>
          </a:ln>
          <a:effectLst>
            <a:softEdge rad="112500"/>
          </a:effectLst>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8178" name="Rectangle 2"/>
          <p:cNvSpPr>
            <a:spLocks noGrp="1" noChangeArrowheads="1"/>
          </p:cNvSpPr>
          <p:nvPr>
            <p:ph type="title"/>
          </p:nvPr>
        </p:nvSpPr>
        <p:spPr>
          <a:xfrm>
            <a:off x="1828800" y="152400"/>
            <a:ext cx="7086600" cy="914400"/>
          </a:xfrm>
        </p:spPr>
        <p:txBody>
          <a:bodyPr/>
          <a:lstStyle/>
          <a:p>
            <a:r>
              <a:rPr lang="en-US" dirty="0"/>
              <a:t>Intermediate Language</a:t>
            </a:r>
            <a:r>
              <a:rPr lang="bg-BG" dirty="0"/>
              <a:t> </a:t>
            </a:r>
            <a:br>
              <a:rPr lang="bg-BG" dirty="0"/>
            </a:br>
            <a:r>
              <a:rPr lang="bg-BG" dirty="0"/>
              <a:t>(</a:t>
            </a:r>
            <a:r>
              <a:rPr lang="en-US" dirty="0"/>
              <a:t>MSIL</a:t>
            </a:r>
            <a:r>
              <a:rPr lang="bg-BG" dirty="0"/>
              <a:t>, </a:t>
            </a:r>
            <a:r>
              <a:rPr lang="en-US" dirty="0"/>
              <a:t>IL</a:t>
            </a:r>
            <a:r>
              <a:rPr lang="bg-BG" dirty="0"/>
              <a:t>,</a:t>
            </a:r>
            <a:r>
              <a:rPr lang="en-US" dirty="0"/>
              <a:t> CIL)</a:t>
            </a:r>
            <a:endParaRPr lang="bg-BG" dirty="0"/>
          </a:p>
        </p:txBody>
      </p:sp>
      <p:sp>
        <p:nvSpPr>
          <p:cNvPr id="1458179" name="Rectangle 3"/>
          <p:cNvSpPr>
            <a:spLocks noGrp="1" noChangeArrowheads="1"/>
          </p:cNvSpPr>
          <p:nvPr>
            <p:ph idx="1"/>
          </p:nvPr>
        </p:nvSpPr>
        <p:spPr>
          <a:xfrm>
            <a:off x="228600" y="1295400"/>
            <a:ext cx="8686800" cy="5410200"/>
          </a:xfrm>
        </p:spPr>
        <p:txBody>
          <a:bodyPr/>
          <a:lstStyle/>
          <a:p>
            <a:pPr>
              <a:lnSpc>
                <a:spcPct val="100000"/>
              </a:lnSpc>
            </a:pPr>
            <a:r>
              <a:rPr lang="en-US" dirty="0"/>
              <a:t>Low level language</a:t>
            </a:r>
            <a:r>
              <a:rPr lang="bg-BG" dirty="0"/>
              <a:t> (</a:t>
            </a:r>
            <a:r>
              <a:rPr lang="en-US" dirty="0"/>
              <a:t>machine language</a:t>
            </a:r>
            <a:r>
              <a:rPr lang="bg-BG" dirty="0" smtClean="0"/>
              <a:t>)</a:t>
            </a:r>
            <a:r>
              <a:rPr lang="en-US" dirty="0" smtClean="0"/>
              <a:t> for the .NET CLR</a:t>
            </a:r>
            <a:endParaRPr lang="en-US" dirty="0"/>
          </a:p>
          <a:p>
            <a:pPr>
              <a:lnSpc>
                <a:spcPct val="100000"/>
              </a:lnSpc>
            </a:pPr>
            <a:r>
              <a:rPr lang="en-US" dirty="0" smtClean="0"/>
              <a:t>Has </a:t>
            </a:r>
            <a:r>
              <a:rPr lang="en-US" dirty="0"/>
              <a:t>independent set of </a:t>
            </a:r>
            <a:r>
              <a:rPr lang="en-US" dirty="0" smtClean="0"/>
              <a:t>CPU instructions</a:t>
            </a:r>
            <a:endParaRPr lang="en-US" dirty="0"/>
          </a:p>
          <a:p>
            <a:pPr lvl="1">
              <a:lnSpc>
                <a:spcPct val="100000"/>
              </a:lnSpc>
            </a:pPr>
            <a:r>
              <a:rPr lang="en-US" dirty="0" smtClean="0"/>
              <a:t>Loading and storing data, calling </a:t>
            </a:r>
            <a:r>
              <a:rPr lang="en-US" dirty="0"/>
              <a:t>methods  </a:t>
            </a:r>
          </a:p>
          <a:p>
            <a:pPr lvl="1">
              <a:lnSpc>
                <a:spcPct val="100000"/>
              </a:lnSpc>
            </a:pPr>
            <a:r>
              <a:rPr lang="en-US" dirty="0"/>
              <a:t>Arithmetic and logical operations</a:t>
            </a:r>
          </a:p>
          <a:p>
            <a:pPr lvl="1">
              <a:lnSpc>
                <a:spcPct val="100000"/>
              </a:lnSpc>
            </a:pPr>
            <a:r>
              <a:rPr lang="en-US" dirty="0" smtClean="0"/>
              <a:t>Exception handling</a:t>
            </a:r>
          </a:p>
          <a:p>
            <a:pPr lvl="1">
              <a:lnSpc>
                <a:spcPct val="100000"/>
              </a:lnSpc>
            </a:pPr>
            <a:r>
              <a:rPr lang="en-US" dirty="0" smtClean="0"/>
              <a:t>Etc.</a:t>
            </a:r>
            <a:endParaRPr lang="bg-BG" dirty="0"/>
          </a:p>
          <a:p>
            <a:pPr>
              <a:lnSpc>
                <a:spcPct val="100000"/>
              </a:lnSpc>
            </a:pPr>
            <a:r>
              <a:rPr lang="en-US" dirty="0"/>
              <a:t>MSIL </a:t>
            </a:r>
            <a:r>
              <a:rPr lang="en-US" dirty="0" smtClean="0"/>
              <a:t>is converted to instructions for the current physical CPU by the JIT compiler</a:t>
            </a:r>
            <a:endParaRPr lang="bg-BG" dirty="0"/>
          </a:p>
        </p:txBody>
      </p:sp>
      <p:pic>
        <p:nvPicPr>
          <p:cNvPr id="57346" name="Picture 2" descr="http://freethumbs.dreamstime.com/293/big/free_2931051.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896100" y="3733800"/>
            <a:ext cx="1790700" cy="1790700"/>
          </a:xfrm>
          <a:prstGeom prst="rect">
            <a:avLst/>
          </a:prstGeom>
          <a:ln>
            <a:noFill/>
          </a:ln>
          <a:effectLst>
            <a:softEdge rad="112500"/>
          </a:effectLst>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26</a:t>
            </a:fld>
            <a:endParaRPr lang="en-US"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0226" name="Rectangle 2"/>
          <p:cNvSpPr>
            <a:spLocks noGrp="1" noChangeArrowheads="1"/>
          </p:cNvSpPr>
          <p:nvPr>
            <p:ph type="title"/>
          </p:nvPr>
        </p:nvSpPr>
        <p:spPr/>
        <p:txBody>
          <a:bodyPr/>
          <a:lstStyle/>
          <a:p>
            <a:r>
              <a:rPr lang="en-US"/>
              <a:t>Sample</a:t>
            </a:r>
            <a:r>
              <a:rPr lang="bg-BG"/>
              <a:t> </a:t>
            </a:r>
            <a:r>
              <a:rPr lang="en-US"/>
              <a:t>MSIL Program</a:t>
            </a:r>
            <a:endParaRPr lang="bg-BG"/>
          </a:p>
        </p:txBody>
      </p:sp>
      <p:sp>
        <p:nvSpPr>
          <p:cNvPr id="1460227" name="Rectangle 3"/>
          <p:cNvSpPr>
            <a:spLocks noChangeArrowheads="1"/>
          </p:cNvSpPr>
          <p:nvPr/>
        </p:nvSpPr>
        <p:spPr bwMode="auto">
          <a:xfrm>
            <a:off x="541338" y="1650901"/>
            <a:ext cx="8069262" cy="375929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20000"/>
              </a:lnSpc>
              <a:spcBef>
                <a:spcPts val="0"/>
              </a:spcBef>
              <a:buClr>
                <a:schemeClr val="accent5">
                  <a:lumMod val="40000"/>
                  <a:lumOff val="60000"/>
                </a:schemeClr>
              </a:buClr>
              <a:buSzPct val="70000"/>
            </a:pP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.method private hidebysig static void Main() cil managed</a:t>
            </a:r>
          </a:p>
          <a:p>
            <a:pPr eaLnBrk="0" hangingPunct="0">
              <a:lnSpc>
                <a:spcPct val="120000"/>
              </a:lnSpc>
              <a:spcBef>
                <a:spcPts val="0"/>
              </a:spcBef>
              <a:buClr>
                <a:schemeClr val="accent5">
                  <a:lumMod val="40000"/>
                  <a:lumOff val="60000"/>
                </a:schemeClr>
              </a:buClr>
              <a:buSzPct val="70000"/>
            </a:pP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a:t>
            </a:r>
          </a:p>
          <a:p>
            <a:pPr eaLnBrk="0" hangingPunct="0">
              <a:lnSpc>
                <a:spcPct val="120000"/>
              </a:lnSpc>
              <a:spcBef>
                <a:spcPts val="0"/>
              </a:spcBef>
              <a:buClr>
                <a:schemeClr val="accent5">
                  <a:lumMod val="40000"/>
                  <a:lumOff val="60000"/>
                </a:schemeClr>
              </a:buClr>
              <a:buSzPct val="70000"/>
            </a:pP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.entrypoint</a:t>
            </a:r>
          </a:p>
          <a:p>
            <a:pPr eaLnBrk="0" hangingPunct="0">
              <a:lnSpc>
                <a:spcPct val="120000"/>
              </a:lnSpc>
              <a:spcBef>
                <a:spcPts val="0"/>
              </a:spcBef>
              <a:buClr>
                <a:schemeClr val="accent5">
                  <a:lumMod val="40000"/>
                  <a:lumOff val="60000"/>
                </a:schemeClr>
              </a:buClr>
              <a:buSzPct val="70000"/>
            </a:pP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 Code size       11 (0xb)</a:t>
            </a:r>
          </a:p>
          <a:p>
            <a:pPr eaLnBrk="0" hangingPunct="0">
              <a:lnSpc>
                <a:spcPct val="120000"/>
              </a:lnSpc>
              <a:spcBef>
                <a:spcPts val="0"/>
              </a:spcBef>
              <a:buClr>
                <a:schemeClr val="accent5">
                  <a:lumMod val="40000"/>
                  <a:lumOff val="60000"/>
                </a:schemeClr>
              </a:buClr>
              <a:buSzPct val="70000"/>
            </a:pP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.maxstack  8</a:t>
            </a:r>
          </a:p>
          <a:p>
            <a:pPr eaLnBrk="0" hangingPunct="0">
              <a:lnSpc>
                <a:spcPct val="120000"/>
              </a:lnSpc>
              <a:spcBef>
                <a:spcPts val="0"/>
              </a:spcBef>
              <a:buClr>
                <a:schemeClr val="accent5">
                  <a:lumMod val="40000"/>
                  <a:lumOff val="60000"/>
                </a:schemeClr>
              </a:buClr>
              <a:buSzPct val="70000"/>
            </a:pP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ldstr    "Hello, world!"</a:t>
            </a:r>
          </a:p>
          <a:p>
            <a:pPr eaLnBrk="0" hangingPunct="0">
              <a:lnSpc>
                <a:spcPct val="120000"/>
              </a:lnSpc>
              <a:spcBef>
                <a:spcPts val="0"/>
              </a:spcBef>
              <a:buClr>
                <a:schemeClr val="accent5">
                  <a:lumMod val="40000"/>
                  <a:lumOff val="60000"/>
                </a:schemeClr>
              </a:buClr>
              <a:buSzPct val="70000"/>
            </a:pP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call     </a:t>
            </a:r>
            <a:r>
              <a:rPr lang="en-US" sz="20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void</a:t>
            </a:r>
            <a:endParaRPr lang="bg-BG" sz="20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endParaRPr>
          </a:p>
          <a:p>
            <a:pPr eaLnBrk="0" hangingPunct="0">
              <a:lnSpc>
                <a:spcPct val="120000"/>
              </a:lnSpc>
              <a:spcBef>
                <a:spcPts val="0"/>
              </a:spcBef>
              <a:buClr>
                <a:schemeClr val="accent5">
                  <a:lumMod val="40000"/>
                  <a:lumOff val="60000"/>
                </a:schemeClr>
              </a:buClr>
              <a:buSzPct val="70000"/>
            </a:pPr>
            <a:r>
              <a:rPr lang="bg-BG" sz="20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    </a:t>
            </a:r>
            <a:r>
              <a:rPr lang="en-US" sz="20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a:t>
            </a: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mscorlib]System.Console::WriteLine(string)</a:t>
            </a:r>
          </a:p>
          <a:p>
            <a:pPr eaLnBrk="0" hangingPunct="0">
              <a:lnSpc>
                <a:spcPct val="120000"/>
              </a:lnSpc>
              <a:spcBef>
                <a:spcPts val="0"/>
              </a:spcBef>
              <a:buClr>
                <a:schemeClr val="accent5">
                  <a:lumMod val="40000"/>
                  <a:lumOff val="60000"/>
                </a:schemeClr>
              </a:buClr>
              <a:buSzPct val="70000"/>
            </a:pP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ret</a:t>
            </a:r>
          </a:p>
          <a:p>
            <a:pPr eaLnBrk="0" hangingPunct="0">
              <a:lnSpc>
                <a:spcPct val="120000"/>
              </a:lnSpc>
              <a:spcBef>
                <a:spcPts val="0"/>
              </a:spcBef>
              <a:buClr>
                <a:schemeClr val="accent5">
                  <a:lumMod val="40000"/>
                  <a:lumOff val="60000"/>
                </a:schemeClr>
              </a:buClr>
              <a:buSzPct val="70000"/>
            </a:pPr>
            <a:r>
              <a:rPr lang="en-US" sz="20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 end of method HelloWorld::Main</a:t>
            </a:r>
          </a:p>
        </p:txBody>
      </p:sp>
      <p:pic>
        <p:nvPicPr>
          <p:cNvPr id="55298" name="Picture 2" descr="http://wardleyelectronics.com/i/leaded-assembly.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678517" y="5067300"/>
            <a:ext cx="2008283" cy="1333500"/>
          </a:xfrm>
          <a:prstGeom prst="roundRect">
            <a:avLst>
              <a:gd name="adj" fmla="val 9132"/>
            </a:avLst>
          </a:prstGeom>
          <a:noFill/>
          <a:ln w="3175">
            <a:solidFill>
              <a:srgbClr val="92D050">
                <a:alpha val="25000"/>
              </a:srgbClr>
            </a:solidFill>
          </a:ln>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27</a:t>
            </a:fld>
            <a:endParaRPr lang="en-US" dirty="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2274" name="Rectangle 2"/>
          <p:cNvSpPr>
            <a:spLocks noGrp="1" noChangeArrowheads="1"/>
          </p:cNvSpPr>
          <p:nvPr>
            <p:ph type="title"/>
          </p:nvPr>
        </p:nvSpPr>
        <p:spPr/>
        <p:txBody>
          <a:bodyPr/>
          <a:lstStyle/>
          <a:p>
            <a:r>
              <a:rPr lang="en-US"/>
              <a:t>Compilation and Execution</a:t>
            </a:r>
            <a:endParaRPr lang="bg-BG"/>
          </a:p>
        </p:txBody>
      </p:sp>
      <p:pic>
        <p:nvPicPr>
          <p:cNvPr id="1462275" name="Picture 3" descr="box_transparent_long"/>
          <p:cNvPicPr>
            <a:picLocks noChangeAspect="1" noChangeArrowheads="1"/>
          </p:cNvPicPr>
          <p:nvPr/>
        </p:nvPicPr>
        <p:blipFill>
          <a:blip r:embed="rId3" cstate="print">
            <a:lum bright="-30000"/>
            <a:extLst>
              <a:ext uri="{28A0092B-C50C-407E-A947-70E740481C1C}">
                <a14:useLocalDpi xmlns="" xmlns:a14="http://schemas.microsoft.com/office/drawing/2010/main" val="0"/>
              </a:ext>
            </a:extLst>
          </a:blip>
          <a:srcRect/>
          <a:stretch>
            <a:fillRect/>
          </a:stretch>
        </p:blipFill>
        <p:spPr bwMode="auto">
          <a:xfrm>
            <a:off x="387350" y="1489075"/>
            <a:ext cx="6908800" cy="1876425"/>
          </a:xfrm>
          <a:prstGeom prst="rect">
            <a:avLst/>
          </a:prstGeom>
          <a:noFill/>
        </p:spPr>
      </p:pic>
      <p:sp>
        <p:nvSpPr>
          <p:cNvPr id="1462276" name="Text Box 4"/>
          <p:cNvSpPr txBox="1">
            <a:spLocks noChangeArrowheads="1"/>
          </p:cNvSpPr>
          <p:nvPr/>
        </p:nvSpPr>
        <p:spPr bwMode="auto">
          <a:xfrm>
            <a:off x="2909480" y="1600200"/>
            <a:ext cx="1814920" cy="424732"/>
          </a:xfrm>
          <a:prstGeom prst="rect">
            <a:avLst/>
          </a:prstGeom>
          <a:noFill/>
          <a:ln w="28575">
            <a:noFill/>
            <a:miter lim="800000"/>
            <a:headEnd/>
            <a:tailEnd type="none" w="med" len="lg"/>
          </a:ln>
          <a:effectLst/>
        </p:spPr>
        <p:txBody>
          <a:bodyPr wrap="none">
            <a:spAutoFit/>
          </a:bodyPr>
          <a:lstStyle/>
          <a:p>
            <a:pPr algn="ctr">
              <a:lnSpc>
                <a:spcPct val="90000"/>
              </a:lnSpc>
            </a:pPr>
            <a:r>
              <a:rPr kumimoji="0" lang="en-US" sz="2400" b="1" dirty="0">
                <a:solidFill>
                  <a:schemeClr val="tx1">
                    <a:lumMod val="60000"/>
                    <a:lumOff val="40000"/>
                  </a:schemeClr>
                </a:solidFill>
                <a:effectLst>
                  <a:outerShdw blurRad="38100" dist="38100" dir="2700000" algn="tl">
                    <a:srgbClr val="000000">
                      <a:alpha val="43137"/>
                    </a:srgbClr>
                  </a:outerShdw>
                </a:effectLst>
              </a:rPr>
              <a:t>Compilation</a:t>
            </a:r>
          </a:p>
        </p:txBody>
      </p:sp>
      <p:pic>
        <p:nvPicPr>
          <p:cNvPr id="1462277" name="Picture 5" descr="box_transparent"/>
          <p:cNvPicPr>
            <a:picLocks noChangeAspect="1" noChangeArrowheads="1"/>
          </p:cNvPicPr>
          <p:nvPr/>
        </p:nvPicPr>
        <p:blipFill>
          <a:blip r:embed="rId4" cstate="print">
            <a:lum bright="-30000"/>
            <a:extLst>
              <a:ext uri="{28A0092B-C50C-407E-A947-70E740481C1C}">
                <a14:useLocalDpi xmlns="" xmlns:a14="http://schemas.microsoft.com/office/drawing/2010/main" val="0"/>
              </a:ext>
            </a:extLst>
          </a:blip>
          <a:srcRect/>
          <a:stretch>
            <a:fillRect/>
          </a:stretch>
        </p:blipFill>
        <p:spPr bwMode="auto">
          <a:xfrm>
            <a:off x="609600" y="4305300"/>
            <a:ext cx="5019675" cy="1905000"/>
          </a:xfrm>
          <a:prstGeom prst="rect">
            <a:avLst/>
          </a:prstGeom>
          <a:noFill/>
        </p:spPr>
      </p:pic>
      <p:sp>
        <p:nvSpPr>
          <p:cNvPr id="1462278" name="Freeform 6"/>
          <p:cNvSpPr>
            <a:spLocks/>
          </p:cNvSpPr>
          <p:nvPr/>
        </p:nvSpPr>
        <p:spPr bwMode="auto">
          <a:xfrm>
            <a:off x="5076825" y="2895600"/>
            <a:ext cx="1476375" cy="2743200"/>
          </a:xfrm>
          <a:custGeom>
            <a:avLst/>
            <a:gdLst/>
            <a:ahLst/>
            <a:cxnLst>
              <a:cxn ang="0">
                <a:pos x="355" y="0"/>
              </a:cxn>
              <a:cxn ang="0">
                <a:pos x="522" y="1264"/>
              </a:cxn>
              <a:cxn ang="0">
                <a:pos x="0" y="1330"/>
              </a:cxn>
            </a:cxnLst>
            <a:rect l="0" t="0" r="r" b="b"/>
            <a:pathLst>
              <a:path w="581" h="1486">
                <a:moveTo>
                  <a:pt x="355" y="0"/>
                </a:moveTo>
                <a:cubicBezTo>
                  <a:pt x="383" y="209"/>
                  <a:pt x="581" y="1042"/>
                  <a:pt x="522" y="1264"/>
                </a:cubicBezTo>
                <a:cubicBezTo>
                  <a:pt x="463" y="1486"/>
                  <a:pt x="109" y="1316"/>
                  <a:pt x="0" y="1330"/>
                </a:cubicBezTo>
              </a:path>
            </a:pathLst>
          </a:custGeom>
          <a:noFill/>
          <a:ln w="66675" cap="flat" cmpd="sng">
            <a:solidFill>
              <a:schemeClr val="accent5">
                <a:lumMod val="20000"/>
                <a:lumOff val="80000"/>
              </a:schemeClr>
            </a:solidFill>
            <a:prstDash val="solid"/>
            <a:round/>
            <a:headEnd type="none" w="med" len="med"/>
            <a:tailEnd type="triangle" w="med" len="lg"/>
          </a:ln>
          <a:effectLst>
            <a:outerShdw dist="40161" dir="4293903" algn="ctr" rotWithShape="0">
              <a:schemeClr val="bg2">
                <a:alpha val="50000"/>
              </a:schemeClr>
            </a:outerShdw>
          </a:effectLst>
        </p:spPr>
        <p:txBody>
          <a:bodyPr wrap="none" anchor="ctr">
            <a:noAutofit/>
          </a:bodyPr>
          <a:lstStyle/>
          <a:p>
            <a:endParaRPr lang="en-US" b="1">
              <a:effectLst>
                <a:outerShdw blurRad="38100" dist="38100" dir="2700000" algn="tl">
                  <a:srgbClr val="000000">
                    <a:alpha val="43137"/>
                  </a:srgbClr>
                </a:outerShdw>
              </a:effectLst>
            </a:endParaRPr>
          </a:p>
        </p:txBody>
      </p:sp>
      <p:sp>
        <p:nvSpPr>
          <p:cNvPr id="1462279" name="Line 7"/>
          <p:cNvSpPr>
            <a:spLocks noChangeShapeType="1"/>
          </p:cNvSpPr>
          <p:nvPr/>
        </p:nvSpPr>
        <p:spPr bwMode="auto">
          <a:xfrm flipH="1">
            <a:off x="2516188" y="5397500"/>
            <a:ext cx="1219200" cy="0"/>
          </a:xfrm>
          <a:prstGeom prst="line">
            <a:avLst/>
          </a:prstGeom>
          <a:noFill/>
          <a:ln w="66675">
            <a:solidFill>
              <a:schemeClr val="accent5">
                <a:lumMod val="20000"/>
                <a:lumOff val="80000"/>
              </a:schemeClr>
            </a:solidFill>
            <a:round/>
            <a:headEnd/>
            <a:tailEnd type="triangle" w="med" len="lg"/>
          </a:ln>
          <a:effectLst>
            <a:outerShdw dist="40161" dir="4293903" algn="ctr" rotWithShape="0">
              <a:schemeClr val="bg2">
                <a:alpha val="50000"/>
              </a:schemeClr>
            </a:outerShdw>
          </a:effectLst>
        </p:spPr>
        <p:txBody>
          <a:bodyPr anchor="ctr">
            <a:spAutoFit/>
          </a:bodyPr>
          <a:lstStyle/>
          <a:p>
            <a:endParaRPr lang="en-US" b="1">
              <a:effectLst>
                <a:outerShdw blurRad="38100" dist="38100" dir="2700000" algn="tl">
                  <a:srgbClr val="000000">
                    <a:alpha val="43137"/>
                  </a:srgbClr>
                </a:outerShdw>
              </a:effectLst>
            </a:endParaRPr>
          </a:p>
        </p:txBody>
      </p:sp>
      <p:sp>
        <p:nvSpPr>
          <p:cNvPr id="1462280" name="Text Box 8"/>
          <p:cNvSpPr txBox="1">
            <a:spLocks noChangeArrowheads="1"/>
          </p:cNvSpPr>
          <p:nvPr/>
        </p:nvSpPr>
        <p:spPr bwMode="auto">
          <a:xfrm>
            <a:off x="2370445" y="4419600"/>
            <a:ext cx="1512273" cy="424732"/>
          </a:xfrm>
          <a:prstGeom prst="rect">
            <a:avLst/>
          </a:prstGeom>
          <a:noFill/>
          <a:ln w="28575">
            <a:noFill/>
            <a:miter lim="800000"/>
            <a:headEnd/>
            <a:tailEnd type="none" w="med" len="lg"/>
          </a:ln>
          <a:effectLst/>
        </p:spPr>
        <p:txBody>
          <a:bodyPr wrap="none">
            <a:spAutoFit/>
          </a:bodyPr>
          <a:lstStyle/>
          <a:p>
            <a:pPr algn="ctr">
              <a:lnSpc>
                <a:spcPct val="90000"/>
              </a:lnSpc>
            </a:pPr>
            <a:r>
              <a:rPr lang="en-US" sz="2400" b="1" dirty="0">
                <a:solidFill>
                  <a:schemeClr val="tx1">
                    <a:lumMod val="60000"/>
                    <a:lumOff val="40000"/>
                  </a:schemeClr>
                </a:solidFill>
                <a:effectLst>
                  <a:outerShdw blurRad="38100" dist="38100" dir="2700000" algn="tl">
                    <a:srgbClr val="000000">
                      <a:alpha val="43137"/>
                    </a:srgbClr>
                  </a:outerShdw>
                </a:effectLst>
              </a:rPr>
              <a:t>Execution</a:t>
            </a:r>
          </a:p>
        </p:txBody>
      </p:sp>
      <p:grpSp>
        <p:nvGrpSpPr>
          <p:cNvPr id="2" name="Group 9"/>
          <p:cNvGrpSpPr>
            <a:grpSpLocks/>
          </p:cNvGrpSpPr>
          <p:nvPr/>
        </p:nvGrpSpPr>
        <p:grpSpPr bwMode="auto">
          <a:xfrm>
            <a:off x="3492500" y="4941888"/>
            <a:ext cx="1752600" cy="971550"/>
            <a:chOff x="2048" y="3112"/>
            <a:chExt cx="1264" cy="612"/>
          </a:xfrm>
        </p:grpSpPr>
        <p:pic>
          <p:nvPicPr>
            <p:cNvPr id="1462282" name="Picture 10" descr="box_dkblue"/>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2048" y="3112"/>
              <a:ext cx="1264" cy="612"/>
            </a:xfrm>
            <a:prstGeom prst="rect">
              <a:avLst/>
            </a:prstGeom>
            <a:noFill/>
          </p:spPr>
        </p:pic>
        <p:sp>
          <p:nvSpPr>
            <p:cNvPr id="1462283" name="Text Box 11"/>
            <p:cNvSpPr txBox="1">
              <a:spLocks noChangeArrowheads="1"/>
            </p:cNvSpPr>
            <p:nvPr/>
          </p:nvSpPr>
          <p:spPr bwMode="auto">
            <a:xfrm>
              <a:off x="2127" y="3173"/>
              <a:ext cx="1030" cy="442"/>
            </a:xfrm>
            <a:prstGeom prst="rect">
              <a:avLst/>
            </a:prstGeom>
            <a:noFill/>
            <a:ln w="28575">
              <a:noFill/>
              <a:miter lim="800000"/>
              <a:headEnd/>
              <a:tailEnd type="none" w="med" len="lg"/>
            </a:ln>
            <a:effectLst/>
          </p:spPr>
          <p:txBody>
            <a:bodyPr wrap="square">
              <a:spAutoFit/>
            </a:bodyPr>
            <a:lstStyle/>
            <a:p>
              <a:pPr algn="ctr">
                <a:lnSpc>
                  <a:spcPct val="90000"/>
                </a:lnSpc>
              </a:pPr>
              <a:r>
                <a:rPr kumimoji="0" lang="en-US" sz="2200" b="1" dirty="0">
                  <a:solidFill>
                    <a:schemeClr val="tx1">
                      <a:lumMod val="40000"/>
                      <a:lumOff val="60000"/>
                    </a:schemeClr>
                  </a:solidFill>
                  <a:effectLst>
                    <a:outerShdw blurRad="38100" dist="38100" dir="2700000" algn="tl">
                      <a:srgbClr val="000000">
                        <a:alpha val="43137"/>
                      </a:srgbClr>
                    </a:outerShdw>
                  </a:effectLst>
                </a:rPr>
                <a:t>JIT compiler</a:t>
              </a:r>
            </a:p>
          </p:txBody>
        </p:sp>
      </p:grpSp>
      <p:grpSp>
        <p:nvGrpSpPr>
          <p:cNvPr id="3" name="Group 12"/>
          <p:cNvGrpSpPr>
            <a:grpSpLocks/>
          </p:cNvGrpSpPr>
          <p:nvPr/>
        </p:nvGrpSpPr>
        <p:grpSpPr bwMode="auto">
          <a:xfrm>
            <a:off x="927100" y="4940300"/>
            <a:ext cx="1685925" cy="942975"/>
            <a:chOff x="584" y="3112"/>
            <a:chExt cx="1062" cy="594"/>
          </a:xfrm>
        </p:grpSpPr>
        <p:pic>
          <p:nvPicPr>
            <p:cNvPr id="1462285" name="Picture 13" descr="box_purple"/>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584" y="3112"/>
              <a:ext cx="1062" cy="594"/>
            </a:xfrm>
            <a:prstGeom prst="rect">
              <a:avLst/>
            </a:prstGeom>
            <a:noFill/>
          </p:spPr>
        </p:pic>
        <p:sp>
          <p:nvSpPr>
            <p:cNvPr id="1462286" name="Text Box 14"/>
            <p:cNvSpPr txBox="1">
              <a:spLocks noChangeArrowheads="1"/>
            </p:cNvSpPr>
            <p:nvPr/>
          </p:nvSpPr>
          <p:spPr bwMode="auto">
            <a:xfrm>
              <a:off x="656" y="3183"/>
              <a:ext cx="864" cy="442"/>
            </a:xfrm>
            <a:prstGeom prst="rect">
              <a:avLst/>
            </a:prstGeom>
            <a:noFill/>
            <a:ln w="28575">
              <a:noFill/>
              <a:miter lim="800000"/>
              <a:headEnd/>
              <a:tailEnd type="none" w="med" len="lg"/>
            </a:ln>
            <a:effectLst/>
          </p:spPr>
          <p:txBody>
            <a:bodyPr>
              <a:spAutoFit/>
            </a:bodyPr>
            <a:lstStyle/>
            <a:p>
              <a:pPr algn="ctr">
                <a:lnSpc>
                  <a:spcPct val="90000"/>
                </a:lnSpc>
              </a:pPr>
              <a:r>
                <a:rPr kumimoji="0" lang="en-US" sz="2200" b="1" dirty="0">
                  <a:solidFill>
                    <a:schemeClr val="tx1">
                      <a:lumMod val="40000"/>
                      <a:lumOff val="60000"/>
                    </a:schemeClr>
                  </a:solidFill>
                  <a:effectLst>
                    <a:outerShdw blurRad="38100" dist="38100" dir="2700000" algn="tl">
                      <a:srgbClr val="000000">
                        <a:alpha val="43137"/>
                      </a:srgbClr>
                    </a:outerShdw>
                  </a:effectLst>
                </a:rPr>
                <a:t>Machine code</a:t>
              </a:r>
            </a:p>
          </p:txBody>
        </p:sp>
      </p:grpSp>
      <p:grpSp>
        <p:nvGrpSpPr>
          <p:cNvPr id="4" name="Group 15"/>
          <p:cNvGrpSpPr>
            <a:grpSpLocks/>
          </p:cNvGrpSpPr>
          <p:nvPr/>
        </p:nvGrpSpPr>
        <p:grpSpPr bwMode="auto">
          <a:xfrm>
            <a:off x="5378450" y="2032000"/>
            <a:ext cx="1695450" cy="981075"/>
            <a:chOff x="3244" y="1328"/>
            <a:chExt cx="1068" cy="618"/>
          </a:xfrm>
        </p:grpSpPr>
        <p:pic>
          <p:nvPicPr>
            <p:cNvPr id="1462288" name="Picture 16" descr="box_turquoise"/>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3244" y="1328"/>
              <a:ext cx="1068" cy="618"/>
            </a:xfrm>
            <a:prstGeom prst="rect">
              <a:avLst/>
            </a:prstGeom>
            <a:noFill/>
          </p:spPr>
        </p:pic>
        <p:sp>
          <p:nvSpPr>
            <p:cNvPr id="1462289" name="Text Box 17"/>
            <p:cNvSpPr txBox="1">
              <a:spLocks noChangeArrowheads="1"/>
            </p:cNvSpPr>
            <p:nvPr/>
          </p:nvSpPr>
          <p:spPr bwMode="auto">
            <a:xfrm>
              <a:off x="3272" y="1412"/>
              <a:ext cx="968" cy="440"/>
            </a:xfrm>
            <a:prstGeom prst="rect">
              <a:avLst/>
            </a:prstGeom>
            <a:noFill/>
            <a:ln w="28575">
              <a:noFill/>
              <a:miter lim="800000"/>
              <a:headEnd/>
              <a:tailEnd type="none" w="med" len="lg"/>
            </a:ln>
            <a:effectLst/>
          </p:spPr>
          <p:txBody>
            <a:bodyPr anchor="ctr"/>
            <a:lstStyle/>
            <a:p>
              <a:pPr algn="ctr">
                <a:lnSpc>
                  <a:spcPct val="100000"/>
                </a:lnSpc>
                <a:spcBef>
                  <a:spcPct val="15000"/>
                </a:spcBef>
              </a:pPr>
              <a:r>
                <a:rPr kumimoji="0" lang="en-US" sz="2400" b="1" dirty="0">
                  <a:solidFill>
                    <a:schemeClr val="tx1">
                      <a:lumMod val="40000"/>
                      <a:lumOff val="60000"/>
                    </a:schemeClr>
                  </a:solidFill>
                  <a:effectLst>
                    <a:outerShdw blurRad="38100" dist="38100" dir="2700000" algn="tl">
                      <a:srgbClr val="000000">
                        <a:alpha val="43137"/>
                      </a:srgbClr>
                    </a:outerShdw>
                  </a:effectLst>
                </a:rPr>
                <a:t>MSIL</a:t>
              </a:r>
            </a:p>
          </p:txBody>
        </p:sp>
      </p:grpSp>
      <p:sp>
        <p:nvSpPr>
          <p:cNvPr id="1462290" name="Line 18"/>
          <p:cNvSpPr>
            <a:spLocks noChangeShapeType="1"/>
          </p:cNvSpPr>
          <p:nvPr/>
        </p:nvSpPr>
        <p:spPr bwMode="auto">
          <a:xfrm>
            <a:off x="1863184" y="2495550"/>
            <a:ext cx="1066800" cy="0"/>
          </a:xfrm>
          <a:prstGeom prst="line">
            <a:avLst/>
          </a:prstGeom>
          <a:noFill/>
          <a:ln w="66675">
            <a:solidFill>
              <a:schemeClr val="accent5">
                <a:lumMod val="20000"/>
                <a:lumOff val="80000"/>
              </a:schemeClr>
            </a:solidFill>
            <a:round/>
            <a:headEnd/>
            <a:tailEnd type="triangle" w="med" len="lg"/>
          </a:ln>
          <a:effectLst>
            <a:outerShdw dist="40161" dir="4293903" algn="ctr" rotWithShape="0">
              <a:schemeClr val="bg2">
                <a:alpha val="50000"/>
              </a:schemeClr>
            </a:outerShdw>
          </a:effectLst>
        </p:spPr>
        <p:txBody>
          <a:bodyPr anchor="ctr">
            <a:spAutoFit/>
          </a:bodyPr>
          <a:lstStyle/>
          <a:p>
            <a:endParaRPr lang="en-US" b="1">
              <a:effectLst>
                <a:outerShdw blurRad="38100" dist="38100" dir="2700000" algn="tl">
                  <a:srgbClr val="000000">
                    <a:alpha val="43137"/>
                  </a:srgbClr>
                </a:outerShdw>
              </a:effectLst>
            </a:endParaRPr>
          </a:p>
        </p:txBody>
      </p:sp>
      <p:grpSp>
        <p:nvGrpSpPr>
          <p:cNvPr id="5" name="Group 19"/>
          <p:cNvGrpSpPr>
            <a:grpSpLocks/>
          </p:cNvGrpSpPr>
          <p:nvPr/>
        </p:nvGrpSpPr>
        <p:grpSpPr bwMode="auto">
          <a:xfrm>
            <a:off x="5400152" y="2077496"/>
            <a:ext cx="1657350" cy="523875"/>
            <a:chOff x="3248" y="1347"/>
            <a:chExt cx="1044" cy="330"/>
          </a:xfrm>
        </p:grpSpPr>
        <p:pic>
          <p:nvPicPr>
            <p:cNvPr id="1462292" name="Picture 20" descr="box_lime"/>
            <p:cNvPicPr>
              <a:picLocks noChangeAspect="1" noChangeArrowheads="1"/>
            </p:cNvPicPr>
            <p:nvPr/>
          </p:nvPicPr>
          <p:blipFill>
            <a:blip r:embed="rId8" cstate="print">
              <a:extLst>
                <a:ext uri="{28A0092B-C50C-407E-A947-70E740481C1C}">
                  <a14:useLocalDpi xmlns="" xmlns:a14="http://schemas.microsoft.com/office/drawing/2010/main" val="0"/>
                </a:ext>
              </a:extLst>
            </a:blip>
            <a:srcRect/>
            <a:stretch>
              <a:fillRect/>
            </a:stretch>
          </p:blipFill>
          <p:spPr bwMode="auto">
            <a:xfrm>
              <a:off x="3248" y="1347"/>
              <a:ext cx="1044" cy="330"/>
            </a:xfrm>
            <a:prstGeom prst="rect">
              <a:avLst/>
            </a:prstGeom>
            <a:noFill/>
          </p:spPr>
        </p:pic>
        <p:sp>
          <p:nvSpPr>
            <p:cNvPr id="1462293" name="Rectangle 21"/>
            <p:cNvSpPr>
              <a:spLocks noChangeArrowheads="1"/>
            </p:cNvSpPr>
            <p:nvPr/>
          </p:nvSpPr>
          <p:spPr bwMode="auto">
            <a:xfrm>
              <a:off x="3405" y="1363"/>
              <a:ext cx="672" cy="240"/>
            </a:xfrm>
            <a:prstGeom prst="rect">
              <a:avLst/>
            </a:prstGeom>
            <a:noFill/>
            <a:ln w="12700">
              <a:noFill/>
              <a:miter lim="800000"/>
              <a:headEnd type="none" w="sm" len="sm"/>
              <a:tailEnd type="none" w="sm" len="sm"/>
            </a:ln>
            <a:effectLst/>
          </p:spPr>
          <p:txBody>
            <a:bodyPr wrap="none" anchor="ctr"/>
            <a:lstStyle/>
            <a:p>
              <a:pPr algn="ctr">
                <a:lnSpc>
                  <a:spcPct val="90000"/>
                </a:lnSpc>
              </a:pPr>
              <a:r>
                <a:rPr kumimoji="0" lang="en-US" sz="2000" b="1" dirty="0">
                  <a:solidFill>
                    <a:schemeClr val="tx1">
                      <a:lumMod val="40000"/>
                      <a:lumOff val="60000"/>
                    </a:schemeClr>
                  </a:solidFill>
                  <a:effectLst>
                    <a:outerShdw blurRad="38100" dist="38100" dir="2700000" algn="tl">
                      <a:srgbClr val="000000">
                        <a:alpha val="43137"/>
                      </a:srgbClr>
                    </a:outerShdw>
                  </a:effectLst>
                </a:rPr>
                <a:t>Code</a:t>
              </a:r>
            </a:p>
          </p:txBody>
        </p:sp>
      </p:grpSp>
      <p:grpSp>
        <p:nvGrpSpPr>
          <p:cNvPr id="6" name="Group 22"/>
          <p:cNvGrpSpPr>
            <a:grpSpLocks/>
          </p:cNvGrpSpPr>
          <p:nvPr/>
        </p:nvGrpSpPr>
        <p:grpSpPr bwMode="auto">
          <a:xfrm>
            <a:off x="5410200" y="2466975"/>
            <a:ext cx="1647825" cy="542925"/>
            <a:chOff x="3256" y="1586"/>
            <a:chExt cx="1038" cy="342"/>
          </a:xfrm>
        </p:grpSpPr>
        <p:pic>
          <p:nvPicPr>
            <p:cNvPr id="1462295" name="Picture 23" descr="box_orange"/>
            <p:cNvPicPr>
              <a:picLocks noChangeAspect="1" noChangeArrowheads="1"/>
            </p:cNvPicPr>
            <p:nvPr/>
          </p:nvPicPr>
          <p:blipFill>
            <a:blip r:embed="rId9" cstate="print">
              <a:extLst>
                <a:ext uri="{28A0092B-C50C-407E-A947-70E740481C1C}">
                  <a14:useLocalDpi xmlns="" xmlns:a14="http://schemas.microsoft.com/office/drawing/2010/main" val="0"/>
                </a:ext>
              </a:extLst>
            </a:blip>
            <a:srcRect/>
            <a:stretch>
              <a:fillRect/>
            </a:stretch>
          </p:blipFill>
          <p:spPr bwMode="auto">
            <a:xfrm>
              <a:off x="3256" y="1592"/>
              <a:ext cx="1038" cy="336"/>
            </a:xfrm>
            <a:prstGeom prst="rect">
              <a:avLst/>
            </a:prstGeom>
            <a:noFill/>
          </p:spPr>
        </p:pic>
        <p:sp>
          <p:nvSpPr>
            <p:cNvPr id="1462296" name="Rectangle 24"/>
            <p:cNvSpPr>
              <a:spLocks noChangeArrowheads="1"/>
            </p:cNvSpPr>
            <p:nvPr/>
          </p:nvSpPr>
          <p:spPr bwMode="auto">
            <a:xfrm>
              <a:off x="3358" y="1586"/>
              <a:ext cx="800" cy="288"/>
            </a:xfrm>
            <a:prstGeom prst="rect">
              <a:avLst/>
            </a:prstGeom>
            <a:noFill/>
            <a:ln w="12700">
              <a:noFill/>
              <a:miter lim="800000"/>
              <a:headEnd type="none" w="sm" len="sm"/>
              <a:tailEnd type="none" w="sm" len="sm"/>
            </a:ln>
            <a:effectLst/>
          </p:spPr>
          <p:txBody>
            <a:bodyPr wrap="none" anchor="ctr"/>
            <a:lstStyle/>
            <a:p>
              <a:pPr algn="ctr">
                <a:lnSpc>
                  <a:spcPct val="100000"/>
                </a:lnSpc>
              </a:pPr>
              <a:r>
                <a:rPr kumimoji="0" lang="en-US" sz="2000" b="1" dirty="0">
                  <a:solidFill>
                    <a:schemeClr val="tx1">
                      <a:lumMod val="40000"/>
                      <a:lumOff val="60000"/>
                    </a:schemeClr>
                  </a:solidFill>
                  <a:effectLst>
                    <a:outerShdw blurRad="38100" dist="38100" dir="2700000" algn="tl">
                      <a:srgbClr val="000000">
                        <a:alpha val="43137"/>
                      </a:srgbClr>
                    </a:outerShdw>
                  </a:effectLst>
                </a:rPr>
                <a:t>Metadata</a:t>
              </a:r>
            </a:p>
          </p:txBody>
        </p:sp>
      </p:grpSp>
      <p:grpSp>
        <p:nvGrpSpPr>
          <p:cNvPr id="7" name="Group 25"/>
          <p:cNvGrpSpPr>
            <a:grpSpLocks/>
          </p:cNvGrpSpPr>
          <p:nvPr/>
        </p:nvGrpSpPr>
        <p:grpSpPr bwMode="auto">
          <a:xfrm>
            <a:off x="577850" y="2032000"/>
            <a:ext cx="1608138" cy="981075"/>
            <a:chOff x="400" y="1328"/>
            <a:chExt cx="1074" cy="618"/>
          </a:xfrm>
        </p:grpSpPr>
        <p:pic>
          <p:nvPicPr>
            <p:cNvPr id="1462298" name="Picture 26" descr="box_blue"/>
            <p:cNvPicPr>
              <a:picLocks noChangeAspect="1" noChangeArrowheads="1"/>
            </p:cNvPicPr>
            <p:nvPr/>
          </p:nvPicPr>
          <p:blipFill>
            <a:blip r:embed="rId10" cstate="print">
              <a:extLst>
                <a:ext uri="{28A0092B-C50C-407E-A947-70E740481C1C}">
                  <a14:useLocalDpi xmlns="" xmlns:a14="http://schemas.microsoft.com/office/drawing/2010/main" val="0"/>
                </a:ext>
              </a:extLst>
            </a:blip>
            <a:srcRect/>
            <a:stretch>
              <a:fillRect/>
            </a:stretch>
          </p:blipFill>
          <p:spPr bwMode="auto">
            <a:xfrm>
              <a:off x="400" y="1328"/>
              <a:ext cx="1074" cy="618"/>
            </a:xfrm>
            <a:prstGeom prst="rect">
              <a:avLst/>
            </a:prstGeom>
            <a:noFill/>
          </p:spPr>
        </p:pic>
        <p:sp>
          <p:nvSpPr>
            <p:cNvPr id="1462299" name="Text Box 27"/>
            <p:cNvSpPr txBox="1">
              <a:spLocks noChangeArrowheads="1"/>
            </p:cNvSpPr>
            <p:nvPr/>
          </p:nvSpPr>
          <p:spPr bwMode="auto">
            <a:xfrm>
              <a:off x="526" y="1410"/>
              <a:ext cx="816" cy="442"/>
            </a:xfrm>
            <a:prstGeom prst="rect">
              <a:avLst/>
            </a:prstGeom>
            <a:noFill/>
            <a:ln w="28575">
              <a:noFill/>
              <a:miter lim="800000"/>
              <a:headEnd/>
              <a:tailEnd type="none" w="med" len="lg"/>
            </a:ln>
            <a:effectLst/>
          </p:spPr>
          <p:txBody>
            <a:bodyPr>
              <a:spAutoFit/>
            </a:bodyPr>
            <a:lstStyle/>
            <a:p>
              <a:pPr algn="ctr">
                <a:lnSpc>
                  <a:spcPct val="90000"/>
                </a:lnSpc>
              </a:pPr>
              <a:r>
                <a:rPr kumimoji="0" lang="en-US" sz="2200" b="1" dirty="0">
                  <a:solidFill>
                    <a:schemeClr val="tx1">
                      <a:lumMod val="40000"/>
                      <a:lumOff val="60000"/>
                    </a:schemeClr>
                  </a:solidFill>
                  <a:effectLst>
                    <a:outerShdw blurRad="38100" dist="38100" dir="2700000" algn="tl">
                      <a:srgbClr val="000000">
                        <a:alpha val="43137"/>
                      </a:srgbClr>
                    </a:outerShdw>
                  </a:effectLst>
                </a:rPr>
                <a:t>Source code</a:t>
              </a:r>
            </a:p>
          </p:txBody>
        </p:sp>
      </p:grpSp>
      <p:sp>
        <p:nvSpPr>
          <p:cNvPr id="1462300" name="Line 28"/>
          <p:cNvSpPr>
            <a:spLocks noChangeShapeType="1"/>
          </p:cNvSpPr>
          <p:nvPr/>
        </p:nvSpPr>
        <p:spPr bwMode="auto">
          <a:xfrm>
            <a:off x="4360321" y="2495550"/>
            <a:ext cx="1066800" cy="0"/>
          </a:xfrm>
          <a:prstGeom prst="line">
            <a:avLst/>
          </a:prstGeom>
          <a:noFill/>
          <a:ln w="66675">
            <a:solidFill>
              <a:schemeClr val="accent5">
                <a:lumMod val="20000"/>
                <a:lumOff val="80000"/>
              </a:schemeClr>
            </a:solidFill>
            <a:round/>
            <a:headEnd/>
            <a:tailEnd type="triangle" w="med" len="lg"/>
          </a:ln>
          <a:effectLst>
            <a:outerShdw dist="40161" dir="4293903" algn="ctr" rotWithShape="0">
              <a:schemeClr val="bg2">
                <a:alpha val="50000"/>
              </a:schemeClr>
            </a:outerShdw>
          </a:effectLst>
        </p:spPr>
        <p:txBody>
          <a:bodyPr anchor="ctr">
            <a:spAutoFit/>
          </a:bodyPr>
          <a:lstStyle/>
          <a:p>
            <a:endParaRPr lang="en-US" b="1">
              <a:effectLst>
                <a:outerShdw blurRad="38100" dist="38100" dir="2700000" algn="tl">
                  <a:srgbClr val="000000">
                    <a:alpha val="43137"/>
                  </a:srgbClr>
                </a:outerShdw>
              </a:effectLst>
            </a:endParaRPr>
          </a:p>
        </p:txBody>
      </p:sp>
      <p:grpSp>
        <p:nvGrpSpPr>
          <p:cNvPr id="8" name="Group 29"/>
          <p:cNvGrpSpPr>
            <a:grpSpLocks/>
          </p:cNvGrpSpPr>
          <p:nvPr/>
        </p:nvGrpSpPr>
        <p:grpSpPr bwMode="auto">
          <a:xfrm>
            <a:off x="2830513" y="2033588"/>
            <a:ext cx="1938337" cy="981075"/>
            <a:chOff x="1783" y="1291"/>
            <a:chExt cx="1221" cy="618"/>
          </a:xfrm>
        </p:grpSpPr>
        <p:pic>
          <p:nvPicPr>
            <p:cNvPr id="1462302" name="Picture 30" descr="box_green"/>
            <p:cNvPicPr>
              <a:picLocks noChangeAspect="1" noChangeArrowheads="1"/>
            </p:cNvPicPr>
            <p:nvPr/>
          </p:nvPicPr>
          <p:blipFill>
            <a:blip r:embed="rId11" cstate="print">
              <a:extLst>
                <a:ext uri="{28A0092B-C50C-407E-A947-70E740481C1C}">
                  <a14:useLocalDpi xmlns="" xmlns:a14="http://schemas.microsoft.com/office/drawing/2010/main" val="0"/>
                </a:ext>
              </a:extLst>
            </a:blip>
            <a:srcRect/>
            <a:stretch>
              <a:fillRect/>
            </a:stretch>
          </p:blipFill>
          <p:spPr bwMode="auto">
            <a:xfrm>
              <a:off x="1783" y="1291"/>
              <a:ext cx="1221" cy="618"/>
            </a:xfrm>
            <a:prstGeom prst="rect">
              <a:avLst/>
            </a:prstGeom>
            <a:noFill/>
          </p:spPr>
        </p:pic>
        <p:sp>
          <p:nvSpPr>
            <p:cNvPr id="1462303" name="Text Box 31"/>
            <p:cNvSpPr txBox="1">
              <a:spLocks noChangeArrowheads="1"/>
            </p:cNvSpPr>
            <p:nvPr/>
          </p:nvSpPr>
          <p:spPr bwMode="auto">
            <a:xfrm>
              <a:off x="1892" y="1374"/>
              <a:ext cx="988" cy="442"/>
            </a:xfrm>
            <a:prstGeom prst="rect">
              <a:avLst/>
            </a:prstGeom>
            <a:noFill/>
            <a:ln w="28575">
              <a:noFill/>
              <a:miter lim="800000"/>
              <a:headEnd/>
              <a:tailEnd type="none" w="med" len="lg"/>
            </a:ln>
            <a:effectLst/>
          </p:spPr>
          <p:txBody>
            <a:bodyPr wrap="square">
              <a:spAutoFit/>
            </a:bodyPr>
            <a:lstStyle/>
            <a:p>
              <a:pPr algn="ctr">
                <a:lnSpc>
                  <a:spcPct val="90000"/>
                </a:lnSpc>
              </a:pPr>
              <a:r>
                <a:rPr kumimoji="0" lang="en-US" sz="2200" b="1" dirty="0">
                  <a:solidFill>
                    <a:schemeClr val="tx1">
                      <a:lumMod val="40000"/>
                      <a:lumOff val="60000"/>
                    </a:schemeClr>
                  </a:solidFill>
                  <a:effectLst>
                    <a:outerShdw blurRad="38100" dist="38100" dir="2700000" algn="tl">
                      <a:srgbClr val="000000">
                        <a:alpha val="43137"/>
                      </a:srgbClr>
                    </a:outerShdw>
                  </a:effectLst>
                </a:rPr>
                <a:t>Language compiler</a:t>
              </a:r>
            </a:p>
          </p:txBody>
        </p:sp>
      </p:grpSp>
      <p:sp>
        <p:nvSpPr>
          <p:cNvPr id="1462305" name="Oval 33"/>
          <p:cNvSpPr>
            <a:spLocks noChangeArrowheads="1"/>
          </p:cNvSpPr>
          <p:nvPr/>
        </p:nvSpPr>
        <p:spPr bwMode="auto">
          <a:xfrm>
            <a:off x="5143500" y="1790700"/>
            <a:ext cx="2073275" cy="1447800"/>
          </a:xfrm>
          <a:prstGeom prst="ellipse">
            <a:avLst/>
          </a:prstGeom>
          <a:noFill/>
          <a:ln w="76200">
            <a:solidFill>
              <a:schemeClr val="folHlink"/>
            </a:solidFill>
            <a:round/>
            <a:headEnd/>
            <a:tailEnd/>
          </a:ln>
          <a:effectLst/>
        </p:spPr>
        <p:txBody>
          <a:bodyPr wrap="none" anchor="ctr"/>
          <a:lstStyle/>
          <a:p>
            <a:endParaRPr lang="en-US" b="1">
              <a:effectLst>
                <a:outerShdw blurRad="38100" dist="38100" dir="2700000" algn="tl">
                  <a:srgbClr val="000000">
                    <a:alpha val="43137"/>
                  </a:srgbClr>
                </a:outerShdw>
              </a:effectLst>
            </a:endParaRPr>
          </a:p>
        </p:txBody>
      </p:sp>
      <p:sp>
        <p:nvSpPr>
          <p:cNvPr id="38" name="AutoShape 7"/>
          <p:cNvSpPr>
            <a:spLocks noChangeArrowheads="1"/>
          </p:cNvSpPr>
          <p:nvPr/>
        </p:nvSpPr>
        <p:spPr bwMode="auto">
          <a:xfrm>
            <a:off x="7315200" y="1143000"/>
            <a:ext cx="1524000" cy="1317164"/>
          </a:xfrm>
          <a:prstGeom prst="wedgeRoundRectCallout">
            <a:avLst>
              <a:gd name="adj1" fmla="val -74790"/>
              <a:gd name="adj2" fmla="val 38686"/>
              <a:gd name="adj3" fmla="val 16667"/>
            </a:avLst>
          </a:prstGeom>
          <a:solidFill>
            <a:srgbClr val="9F8471"/>
          </a:solidFill>
          <a:ln w="6350">
            <a:solidFill>
              <a:schemeClr val="tx1">
                <a:lumMod val="20000"/>
                <a:lumOff val="80000"/>
              </a:schemeClr>
            </a:solidFill>
          </a:ln>
        </p:spPr>
        <p:txBody>
          <a:bodyPr wrap="square" lIns="36000" tIns="0" rIns="36000" bIns="0">
            <a:spAutoFit/>
          </a:bodyPr>
          <a:lstStyle/>
          <a:p>
            <a:pPr algn="ctr" eaLnBrk="0" hangingPunct="0">
              <a:lnSpc>
                <a:spcPts val="3000"/>
              </a:lnSpc>
              <a:spcBef>
                <a:spcPts val="0"/>
              </a:spcBef>
              <a:buClr>
                <a:schemeClr val="accent5">
                  <a:lumMod val="40000"/>
                  <a:lumOff val="60000"/>
                </a:schemeClr>
              </a:buClr>
              <a:buSzPct val="70000"/>
            </a:pPr>
            <a:r>
              <a:rPr lang="en-US" sz="2400" b="1" noProof="1" smtClean="0">
                <a:solidFill>
                  <a:srgbClr val="F7FFE7"/>
                </a:solidFill>
                <a:effectLst>
                  <a:outerShdw blurRad="38100" dist="38100" dir="2700000" algn="tl">
                    <a:srgbClr val="000000">
                      <a:alpha val="43137"/>
                    </a:srgbClr>
                  </a:outerShdw>
                </a:effectLst>
                <a:cs typeface="Consolas" pitchFamily="49" charset="0"/>
              </a:rPr>
              <a:t>Assembly</a:t>
            </a:r>
          </a:p>
          <a:p>
            <a:pPr algn="ctr" eaLnBrk="0" hangingPunct="0">
              <a:lnSpc>
                <a:spcPts val="3000"/>
              </a:lnSpc>
              <a:spcBef>
                <a:spcPts val="0"/>
              </a:spcBef>
              <a:buClr>
                <a:schemeClr val="accent5">
                  <a:lumMod val="40000"/>
                  <a:lumOff val="60000"/>
                </a:schemeClr>
              </a:buClr>
              <a:buSzPct val="70000"/>
            </a:pPr>
            <a:r>
              <a:rPr lang="en-US" sz="2400" b="1" noProof="1" smtClean="0">
                <a:solidFill>
                  <a:srgbClr val="F7FFE7"/>
                </a:solidFill>
                <a:effectLst>
                  <a:outerShdw blurRad="38100" dist="38100" dir="2700000" algn="tl">
                    <a:srgbClr val="000000">
                      <a:alpha val="43137"/>
                    </a:srgbClr>
                  </a:outerShdw>
                </a:effectLst>
                <a:cs typeface="Consolas" pitchFamily="49" charset="0"/>
              </a:rPr>
              <a:t>(.EXE or</a:t>
            </a:r>
          </a:p>
          <a:p>
            <a:pPr algn="ctr" eaLnBrk="0" hangingPunct="0">
              <a:lnSpc>
                <a:spcPts val="3000"/>
              </a:lnSpc>
              <a:spcBef>
                <a:spcPts val="0"/>
              </a:spcBef>
              <a:buClr>
                <a:schemeClr val="accent5">
                  <a:lumMod val="40000"/>
                  <a:lumOff val="60000"/>
                </a:schemeClr>
              </a:buClr>
              <a:buSzPct val="70000"/>
            </a:pPr>
            <a:r>
              <a:rPr lang="en-US" sz="2400" b="1" noProof="1" smtClean="0">
                <a:solidFill>
                  <a:srgbClr val="F7FFE7"/>
                </a:solidFill>
                <a:effectLst>
                  <a:outerShdw blurRad="38100" dist="38100" dir="2700000" algn="tl">
                    <a:srgbClr val="000000">
                      <a:alpha val="43137"/>
                    </a:srgbClr>
                  </a:outerShdw>
                </a:effectLst>
                <a:cs typeface="Consolas" pitchFamily="49" charset="0"/>
              </a:rPr>
              <a:t>.DLL file)</a:t>
            </a:r>
            <a:endParaRPr lang="en-US" sz="2400" b="1" noProof="1">
              <a:solidFill>
                <a:srgbClr val="F7FFE7"/>
              </a:solidFill>
              <a:effectLst>
                <a:outerShdw blurRad="38100" dist="38100" dir="2700000" algn="tl">
                  <a:srgbClr val="000000">
                    <a:alpha val="43137"/>
                  </a:srgbClr>
                </a:outerShdw>
              </a:effectLst>
              <a:cs typeface="Consolas" pitchFamily="49" charset="0"/>
            </a:endParaRPr>
          </a:p>
        </p:txBody>
      </p:sp>
      <p:sp>
        <p:nvSpPr>
          <p:cNvPr id="39" name="AutoShape 7"/>
          <p:cNvSpPr>
            <a:spLocks noChangeArrowheads="1"/>
          </p:cNvSpPr>
          <p:nvPr/>
        </p:nvSpPr>
        <p:spPr bwMode="auto">
          <a:xfrm>
            <a:off x="6781800" y="3352800"/>
            <a:ext cx="2057400" cy="1106686"/>
          </a:xfrm>
          <a:prstGeom prst="wedgeRoundRectCallout">
            <a:avLst>
              <a:gd name="adj1" fmla="val -68441"/>
              <a:gd name="adj2" fmla="val 30514"/>
              <a:gd name="adj3" fmla="val 16667"/>
            </a:avLst>
          </a:prstGeom>
          <a:solidFill>
            <a:srgbClr val="9F8471"/>
          </a:solidFill>
          <a:ln w="6350">
            <a:solidFill>
              <a:schemeClr val="tx1">
                <a:lumMod val="20000"/>
                <a:lumOff val="80000"/>
              </a:schemeClr>
            </a:solidFill>
          </a:ln>
        </p:spPr>
        <p:txBody>
          <a:bodyPr wrap="square" lIns="36000" tIns="0" rIns="36000" bIns="0">
            <a:spAutoFit/>
          </a:bodyPr>
          <a:lstStyle/>
          <a:p>
            <a:pPr algn="ctr" eaLnBrk="0" hangingPunct="0">
              <a:lnSpc>
                <a:spcPts val="2600"/>
              </a:lnSpc>
              <a:spcBef>
                <a:spcPts val="0"/>
              </a:spcBef>
              <a:buClr>
                <a:schemeClr val="accent5">
                  <a:lumMod val="40000"/>
                  <a:lumOff val="60000"/>
                </a:schemeClr>
              </a:buClr>
              <a:buSzPct val="70000"/>
            </a:pPr>
            <a:r>
              <a:rPr lang="en-US" sz="2000" b="1" noProof="1" smtClean="0">
                <a:solidFill>
                  <a:srgbClr val="F7FFE7"/>
                </a:solidFill>
                <a:effectLst>
                  <a:outerShdw blurRad="38100" dist="38100" dir="2700000" algn="tl">
                    <a:srgbClr val="000000">
                      <a:alpha val="43137"/>
                    </a:srgbClr>
                  </a:outerShdw>
                </a:effectLst>
                <a:cs typeface="Consolas" pitchFamily="49" charset="0"/>
              </a:rPr>
              <a:t>When given method is called for the first time</a:t>
            </a:r>
          </a:p>
        </p:txBody>
      </p:sp>
      <p:sp>
        <p:nvSpPr>
          <p:cNvPr id="40" name="AutoShape 7"/>
          <p:cNvSpPr>
            <a:spLocks noChangeArrowheads="1"/>
          </p:cNvSpPr>
          <p:nvPr/>
        </p:nvSpPr>
        <p:spPr bwMode="auto">
          <a:xfrm>
            <a:off x="6781800" y="4724400"/>
            <a:ext cx="2057400" cy="1106686"/>
          </a:xfrm>
          <a:prstGeom prst="wedgeRoundRectCallout">
            <a:avLst>
              <a:gd name="adj1" fmla="val -62092"/>
              <a:gd name="adj2" fmla="val -26688"/>
              <a:gd name="adj3" fmla="val 16667"/>
            </a:avLst>
          </a:prstGeom>
          <a:solidFill>
            <a:srgbClr val="9F8471"/>
          </a:solidFill>
          <a:ln w="6350">
            <a:solidFill>
              <a:schemeClr val="tx1">
                <a:lumMod val="20000"/>
                <a:lumOff val="80000"/>
              </a:schemeClr>
            </a:solidFill>
          </a:ln>
        </p:spPr>
        <p:txBody>
          <a:bodyPr wrap="square" lIns="36000" tIns="0" rIns="36000" bIns="0">
            <a:spAutoFit/>
          </a:bodyPr>
          <a:lstStyle/>
          <a:p>
            <a:pPr algn="ctr" eaLnBrk="0" hangingPunct="0">
              <a:lnSpc>
                <a:spcPts val="2600"/>
              </a:lnSpc>
              <a:spcBef>
                <a:spcPts val="0"/>
              </a:spcBef>
              <a:buClr>
                <a:schemeClr val="accent5">
                  <a:lumMod val="40000"/>
                  <a:lumOff val="60000"/>
                </a:schemeClr>
              </a:buClr>
              <a:buSzPct val="70000"/>
            </a:pPr>
            <a:r>
              <a:rPr lang="en-US" sz="2000" b="1" noProof="1" smtClean="0">
                <a:solidFill>
                  <a:srgbClr val="F7FFE7"/>
                </a:solidFill>
                <a:effectLst>
                  <a:outerShdw blurRad="38100" dist="38100" dir="2700000" algn="tl">
                    <a:srgbClr val="000000">
                      <a:alpha val="43137"/>
                    </a:srgbClr>
                  </a:outerShdw>
                </a:effectLst>
                <a:cs typeface="Consolas" pitchFamily="49" charset="0"/>
              </a:rPr>
              <a:t>Pre-compilation during the install (NGEN)</a:t>
            </a:r>
          </a:p>
        </p:txBody>
      </p:sp>
      <p:sp>
        <p:nvSpPr>
          <p:cNvPr id="36"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28</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62290"/>
                                        </p:tgtEl>
                                        <p:attrNameLst>
                                          <p:attrName>style.visibility</p:attrName>
                                        </p:attrNameLst>
                                      </p:cBhvr>
                                      <p:to>
                                        <p:strVal val="visible"/>
                                      </p:to>
                                    </p:set>
                                    <p:animEffect transition="in" filter="wipe(left)">
                                      <p:cBhvr>
                                        <p:cTn id="12" dur="500"/>
                                        <p:tgtEl>
                                          <p:spTgt spid="1462290"/>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62300"/>
                                        </p:tgtEl>
                                        <p:attrNameLst>
                                          <p:attrName>style.visibility</p:attrName>
                                        </p:attrNameLst>
                                      </p:cBhvr>
                                      <p:to>
                                        <p:strVal val="visible"/>
                                      </p:to>
                                    </p:set>
                                    <p:animEffect transition="in" filter="wipe(left)">
                                      <p:cBhvr>
                                        <p:cTn id="21" dur="500"/>
                                        <p:tgtEl>
                                          <p:spTgt spid="1462300"/>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500" fill="hold"/>
                                        <p:tgtEl>
                                          <p:spTgt spid="5"/>
                                        </p:tgtEl>
                                        <p:attrNameLst>
                                          <p:attrName>ppt_w</p:attrName>
                                        </p:attrNameLst>
                                      </p:cBhvr>
                                      <p:tavLst>
                                        <p:tav tm="0">
                                          <p:val>
                                            <p:fltVal val="0"/>
                                          </p:val>
                                        </p:tav>
                                        <p:tav tm="100000">
                                          <p:val>
                                            <p:strVal val="#ppt_w"/>
                                          </p:val>
                                        </p:tav>
                                      </p:tavLst>
                                    </p:anim>
                                    <p:anim calcmode="lin" valueType="num">
                                      <p:cBhvr>
                                        <p:cTn id="31" dur="500" fill="hold"/>
                                        <p:tgtEl>
                                          <p:spTgt spid="5"/>
                                        </p:tgtEl>
                                        <p:attrNameLst>
                                          <p:attrName>ppt_h</p:attrName>
                                        </p:attrNameLst>
                                      </p:cBhvr>
                                      <p:tavLst>
                                        <p:tav tm="0">
                                          <p:val>
                                            <p:fltVal val="0"/>
                                          </p:val>
                                        </p:tav>
                                        <p:tav tm="100000">
                                          <p:val>
                                            <p:strVal val="#ppt_h"/>
                                          </p:val>
                                        </p:tav>
                                      </p:tavLst>
                                    </p:anim>
                                    <p:animEffect transition="in" filter="fade">
                                      <p:cBhvr>
                                        <p:cTn id="32" dur="500"/>
                                        <p:tgtEl>
                                          <p:spTgt spid="5"/>
                                        </p:tgtEl>
                                      </p:cBhvr>
                                    </p:animEffect>
                                  </p:childTnLst>
                                </p:cTn>
                              </p:par>
                            </p:childTnLst>
                          </p:cTn>
                        </p:par>
                        <p:par>
                          <p:cTn id="33" fill="hold">
                            <p:stCondLst>
                              <p:cond delay="500"/>
                            </p:stCondLst>
                            <p:childTnLst>
                              <p:par>
                                <p:cTn id="34" presetID="53" presetClass="entr" presetSubtype="0"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p:cTn id="36" dur="500" fill="hold"/>
                                        <p:tgtEl>
                                          <p:spTgt spid="6"/>
                                        </p:tgtEl>
                                        <p:attrNameLst>
                                          <p:attrName>ppt_w</p:attrName>
                                        </p:attrNameLst>
                                      </p:cBhvr>
                                      <p:tavLst>
                                        <p:tav tm="0">
                                          <p:val>
                                            <p:fltVal val="0"/>
                                          </p:val>
                                        </p:tav>
                                        <p:tav tm="100000">
                                          <p:val>
                                            <p:strVal val="#ppt_w"/>
                                          </p:val>
                                        </p:tav>
                                      </p:tavLst>
                                    </p:anim>
                                    <p:anim calcmode="lin" valueType="num">
                                      <p:cBhvr>
                                        <p:cTn id="37" dur="500" fill="hold"/>
                                        <p:tgtEl>
                                          <p:spTgt spid="6"/>
                                        </p:tgtEl>
                                        <p:attrNameLst>
                                          <p:attrName>ppt_h</p:attrName>
                                        </p:attrNameLst>
                                      </p:cBhvr>
                                      <p:tavLst>
                                        <p:tav tm="0">
                                          <p:val>
                                            <p:fltVal val="0"/>
                                          </p:val>
                                        </p:tav>
                                        <p:tav tm="100000">
                                          <p:val>
                                            <p:strVal val="#ppt_h"/>
                                          </p:val>
                                        </p:tav>
                                      </p:tavLst>
                                    </p:anim>
                                    <p:animEffect transition="in" filter="fade">
                                      <p:cBhvr>
                                        <p:cTn id="38" dur="500"/>
                                        <p:tgtEl>
                                          <p:spTgt spid="6"/>
                                        </p:tgtEl>
                                      </p:cBhvr>
                                    </p:animEffect>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1462305"/>
                                        </p:tgtEl>
                                        <p:attrNameLst>
                                          <p:attrName>style.visibility</p:attrName>
                                        </p:attrNameLst>
                                      </p:cBhvr>
                                      <p:to>
                                        <p:strVal val="visible"/>
                                      </p:to>
                                    </p:set>
                                    <p:animEffect transition="in" filter="fade">
                                      <p:cBhvr>
                                        <p:cTn id="42" dur="500"/>
                                        <p:tgtEl>
                                          <p:spTgt spid="1462305"/>
                                        </p:tgtEl>
                                      </p:cBhvr>
                                    </p:animEffect>
                                  </p:childTnLst>
                                </p:cTn>
                              </p:par>
                            </p:childTnLst>
                          </p:cTn>
                        </p:par>
                        <p:par>
                          <p:cTn id="43" fill="hold">
                            <p:stCondLst>
                              <p:cond delay="1500"/>
                            </p:stCondLst>
                            <p:childTnLst>
                              <p:par>
                                <p:cTn id="44" presetID="1" presetClass="entr" presetSubtype="0" fill="hold" grpId="0" nodeType="afterEffect">
                                  <p:stCondLst>
                                    <p:cond delay="0"/>
                                  </p:stCondLst>
                                  <p:childTnLst>
                                    <p:set>
                                      <p:cBhvr>
                                        <p:cTn id="45" dur="1" fill="hold">
                                          <p:stCondLst>
                                            <p:cond delay="0"/>
                                          </p:stCondLst>
                                        </p:cTn>
                                        <p:tgtEl>
                                          <p:spTgt spid="3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1462278"/>
                                        </p:tgtEl>
                                        <p:attrNameLst>
                                          <p:attrName>style.visibility</p:attrName>
                                        </p:attrNameLst>
                                      </p:cBhvr>
                                      <p:to>
                                        <p:strVal val="visible"/>
                                      </p:to>
                                    </p:set>
                                    <p:animEffect transition="in" filter="wipe(up)">
                                      <p:cBhvr>
                                        <p:cTn id="50" dur="500"/>
                                        <p:tgtEl>
                                          <p:spTgt spid="1462278"/>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39"/>
                                        </p:tgtEl>
                                        <p:attrNameLst>
                                          <p:attrName>style.visibility</p:attrName>
                                        </p:attrNameLst>
                                      </p:cBhvr>
                                      <p:to>
                                        <p:strVal val="visible"/>
                                      </p:to>
                                    </p:set>
                                  </p:child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fade">
                                      <p:cBhvr>
                                        <p:cTn id="60" dur="500"/>
                                        <p:tgtEl>
                                          <p:spTgt spid="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2" fill="hold" grpId="0" nodeType="clickEffect">
                                  <p:stCondLst>
                                    <p:cond delay="0"/>
                                  </p:stCondLst>
                                  <p:childTnLst>
                                    <p:set>
                                      <p:cBhvr>
                                        <p:cTn id="64" dur="1" fill="hold">
                                          <p:stCondLst>
                                            <p:cond delay="0"/>
                                          </p:stCondLst>
                                        </p:cTn>
                                        <p:tgtEl>
                                          <p:spTgt spid="1462279"/>
                                        </p:tgtEl>
                                        <p:attrNameLst>
                                          <p:attrName>style.visibility</p:attrName>
                                        </p:attrNameLst>
                                      </p:cBhvr>
                                      <p:to>
                                        <p:strVal val="visible"/>
                                      </p:to>
                                    </p:set>
                                    <p:animEffect transition="in" filter="wipe(right)">
                                      <p:cBhvr>
                                        <p:cTn id="65" dur="500"/>
                                        <p:tgtEl>
                                          <p:spTgt spid="1462279"/>
                                        </p:tgtEl>
                                      </p:cBhvr>
                                    </p:animEffect>
                                  </p:childTnLst>
                                </p:cTn>
                              </p:par>
                            </p:childTnLst>
                          </p:cTn>
                        </p:par>
                        <p:par>
                          <p:cTn id="66" fill="hold">
                            <p:stCondLst>
                              <p:cond delay="500"/>
                            </p:stCondLst>
                            <p:childTnLst>
                              <p:par>
                                <p:cTn id="67" presetID="10" presetClass="entr" presetSubtype="0" fill="hold" nodeType="after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fade">
                                      <p:cBhvr>
                                        <p:cTn id="6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2278" grpId="0" animBg="1"/>
      <p:bldP spid="1462279" grpId="0" animBg="1"/>
      <p:bldP spid="1462290" grpId="0" animBg="1"/>
      <p:bldP spid="1462300" grpId="0" animBg="1"/>
      <p:bldP spid="1462305" grpId="0" animBg="1"/>
      <p:bldP spid="38" grpId="0" animBg="1"/>
      <p:bldP spid="39" grpId="0" animBg="1"/>
      <p:bldP spid="4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22" name="Rectangle 2"/>
          <p:cNvSpPr>
            <a:spLocks noGrp="1" noChangeArrowheads="1"/>
          </p:cNvSpPr>
          <p:nvPr>
            <p:ph type="title"/>
          </p:nvPr>
        </p:nvSpPr>
        <p:spPr>
          <a:xfrm>
            <a:off x="1828800" y="76200"/>
            <a:ext cx="7086600" cy="762000"/>
          </a:xfrm>
        </p:spPr>
        <p:txBody>
          <a:bodyPr/>
          <a:lstStyle/>
          <a:p>
            <a:r>
              <a:rPr lang="en-US" dirty="0"/>
              <a:t>How CLR Executes</a:t>
            </a:r>
            <a:r>
              <a:rPr lang="bg-BG" dirty="0"/>
              <a:t> </a:t>
            </a:r>
            <a:r>
              <a:rPr lang="en-US" dirty="0"/>
              <a:t>MSIL</a:t>
            </a:r>
            <a:r>
              <a:rPr lang="bg-BG" dirty="0"/>
              <a:t>?</a:t>
            </a:r>
          </a:p>
        </p:txBody>
      </p:sp>
      <p:grpSp>
        <p:nvGrpSpPr>
          <p:cNvPr id="2" name="Group 3"/>
          <p:cNvGrpSpPr>
            <a:grpSpLocks/>
          </p:cNvGrpSpPr>
          <p:nvPr/>
        </p:nvGrpSpPr>
        <p:grpSpPr bwMode="auto">
          <a:xfrm>
            <a:off x="3514725" y="765175"/>
            <a:ext cx="1830388" cy="560388"/>
            <a:chOff x="1592" y="654"/>
            <a:chExt cx="1239" cy="401"/>
          </a:xfrm>
        </p:grpSpPr>
        <p:pic>
          <p:nvPicPr>
            <p:cNvPr id="1464324" name="Picture 4" descr="box_blu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592" y="654"/>
              <a:ext cx="1239" cy="401"/>
            </a:xfrm>
            <a:prstGeom prst="rect">
              <a:avLst/>
            </a:prstGeom>
            <a:noFill/>
          </p:spPr>
        </p:pic>
        <p:sp>
          <p:nvSpPr>
            <p:cNvPr id="1464325" name="Text Box 5"/>
            <p:cNvSpPr txBox="1">
              <a:spLocks noChangeArrowheads="1"/>
            </p:cNvSpPr>
            <p:nvPr/>
          </p:nvSpPr>
          <p:spPr bwMode="auto">
            <a:xfrm>
              <a:off x="1723" y="720"/>
              <a:ext cx="982" cy="264"/>
            </a:xfrm>
            <a:prstGeom prst="rect">
              <a:avLst/>
            </a:prstGeom>
            <a:noFill/>
            <a:ln w="28575">
              <a:noFill/>
              <a:miter lim="800000"/>
              <a:headEnd/>
              <a:tailEnd type="none" w="med" len="lg"/>
            </a:ln>
            <a:effectLst/>
          </p:spPr>
          <p:txBody>
            <a:bodyPr>
              <a:spAutoFit/>
            </a:bodyPr>
            <a:lstStyle/>
            <a:p>
              <a:pPr algn="ctr">
                <a:lnSpc>
                  <a:spcPct val="90000"/>
                </a:lnSpc>
              </a:pPr>
              <a:r>
                <a:rPr kumimoji="0" lang="en-US" sz="2000" b="1" dirty="0">
                  <a:solidFill>
                    <a:schemeClr val="tx1">
                      <a:lumMod val="60000"/>
                      <a:lumOff val="40000"/>
                    </a:schemeClr>
                  </a:solidFill>
                  <a:effectLst>
                    <a:outerShdw blurRad="38100" dist="38100" dir="2700000" algn="tl">
                      <a:srgbClr val="000000">
                        <a:alpha val="43137"/>
                      </a:srgbClr>
                    </a:outerShdw>
                  </a:effectLst>
                </a:rPr>
                <a:t>.EXE </a:t>
              </a:r>
              <a:r>
                <a:rPr kumimoji="0" lang="bg-BG" sz="2000" b="1" dirty="0">
                  <a:solidFill>
                    <a:schemeClr val="tx1">
                      <a:lumMod val="60000"/>
                      <a:lumOff val="40000"/>
                    </a:schemeClr>
                  </a:solidFill>
                  <a:effectLst>
                    <a:outerShdw blurRad="38100" dist="38100" dir="2700000" algn="tl">
                      <a:srgbClr val="000000">
                        <a:alpha val="43137"/>
                      </a:srgbClr>
                    </a:outerShdw>
                  </a:effectLst>
                </a:rPr>
                <a:t>/ .</a:t>
              </a:r>
              <a:r>
                <a:rPr kumimoji="0" lang="en-US" sz="2000" b="1" dirty="0">
                  <a:solidFill>
                    <a:schemeClr val="tx1">
                      <a:lumMod val="60000"/>
                      <a:lumOff val="40000"/>
                    </a:schemeClr>
                  </a:solidFill>
                  <a:effectLst>
                    <a:outerShdw blurRad="38100" dist="38100" dir="2700000" algn="tl">
                      <a:srgbClr val="000000">
                        <a:alpha val="43137"/>
                      </a:srgbClr>
                    </a:outerShdw>
                  </a:effectLst>
                </a:rPr>
                <a:t>DLL</a:t>
              </a:r>
            </a:p>
          </p:txBody>
        </p:sp>
      </p:grpSp>
      <p:grpSp>
        <p:nvGrpSpPr>
          <p:cNvPr id="3" name="Group 6"/>
          <p:cNvGrpSpPr>
            <a:grpSpLocks/>
          </p:cNvGrpSpPr>
          <p:nvPr/>
        </p:nvGrpSpPr>
        <p:grpSpPr bwMode="auto">
          <a:xfrm>
            <a:off x="3481388" y="1606550"/>
            <a:ext cx="1920875" cy="600075"/>
            <a:chOff x="1833" y="1090"/>
            <a:chExt cx="1210" cy="378"/>
          </a:xfrm>
        </p:grpSpPr>
        <p:pic>
          <p:nvPicPr>
            <p:cNvPr id="1464327" name="Picture 7" descr="box_green"/>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833" y="1090"/>
              <a:ext cx="1210" cy="378"/>
            </a:xfrm>
            <a:prstGeom prst="rect">
              <a:avLst/>
            </a:prstGeom>
            <a:noFill/>
          </p:spPr>
        </p:pic>
        <p:sp>
          <p:nvSpPr>
            <p:cNvPr id="1464328" name="Text Box 8"/>
            <p:cNvSpPr txBox="1">
              <a:spLocks noChangeArrowheads="1"/>
            </p:cNvSpPr>
            <p:nvPr/>
          </p:nvSpPr>
          <p:spPr bwMode="auto">
            <a:xfrm>
              <a:off x="1904" y="1165"/>
              <a:ext cx="1027" cy="233"/>
            </a:xfrm>
            <a:prstGeom prst="rect">
              <a:avLst/>
            </a:prstGeom>
            <a:noFill/>
            <a:ln w="28575">
              <a:noFill/>
              <a:miter lim="800000"/>
              <a:headEnd/>
              <a:tailEnd type="none" w="med" len="lg"/>
            </a:ln>
            <a:effectLst/>
          </p:spPr>
          <p:txBody>
            <a:bodyPr wrap="square">
              <a:spAutoFit/>
            </a:bodyPr>
            <a:lstStyle/>
            <a:p>
              <a:pPr algn="ctr">
                <a:lnSpc>
                  <a:spcPct val="90000"/>
                </a:lnSpc>
              </a:pPr>
              <a:r>
                <a:rPr lang="en-US" sz="2000" b="1" dirty="0">
                  <a:solidFill>
                    <a:schemeClr val="tx1">
                      <a:lumMod val="60000"/>
                      <a:lumOff val="40000"/>
                    </a:schemeClr>
                  </a:solidFill>
                  <a:effectLst>
                    <a:outerShdw blurRad="38100" dist="38100" dir="2700000" algn="tl">
                      <a:srgbClr val="000000">
                        <a:alpha val="43137"/>
                      </a:srgbClr>
                    </a:outerShdw>
                  </a:effectLst>
                </a:rPr>
                <a:t>Class Loader</a:t>
              </a:r>
            </a:p>
          </p:txBody>
        </p:sp>
      </p:grpSp>
      <p:grpSp>
        <p:nvGrpSpPr>
          <p:cNvPr id="4" name="Group 9"/>
          <p:cNvGrpSpPr>
            <a:grpSpLocks/>
          </p:cNvGrpSpPr>
          <p:nvPr/>
        </p:nvGrpSpPr>
        <p:grpSpPr bwMode="auto">
          <a:xfrm>
            <a:off x="3527425" y="3392488"/>
            <a:ext cx="1916113" cy="858837"/>
            <a:chOff x="1601" y="1913"/>
            <a:chExt cx="1297" cy="628"/>
          </a:xfrm>
        </p:grpSpPr>
        <p:pic>
          <p:nvPicPr>
            <p:cNvPr id="1464330" name="Picture 10" descr="box_dkblue"/>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1601" y="1913"/>
              <a:ext cx="1297" cy="628"/>
            </a:xfrm>
            <a:prstGeom prst="rect">
              <a:avLst/>
            </a:prstGeom>
            <a:noFill/>
          </p:spPr>
        </p:pic>
        <p:sp>
          <p:nvSpPr>
            <p:cNvPr id="1464331" name="Text Box 11"/>
            <p:cNvSpPr txBox="1">
              <a:spLocks noChangeArrowheads="1"/>
            </p:cNvSpPr>
            <p:nvPr/>
          </p:nvSpPr>
          <p:spPr bwMode="auto">
            <a:xfrm>
              <a:off x="1658" y="1970"/>
              <a:ext cx="1099" cy="473"/>
            </a:xfrm>
            <a:prstGeom prst="rect">
              <a:avLst/>
            </a:prstGeom>
            <a:noFill/>
            <a:ln w="28575">
              <a:noFill/>
              <a:miter lim="800000"/>
              <a:headEnd/>
              <a:tailEnd type="none" w="med" len="lg"/>
            </a:ln>
            <a:effectLst/>
          </p:spPr>
          <p:txBody>
            <a:bodyPr>
              <a:spAutoFit/>
            </a:bodyPr>
            <a:lstStyle/>
            <a:p>
              <a:pPr algn="ctr">
                <a:lnSpc>
                  <a:spcPct val="90000"/>
                </a:lnSpc>
              </a:pPr>
              <a:r>
                <a:rPr lang="en-US" sz="2000" b="1" dirty="0">
                  <a:solidFill>
                    <a:schemeClr val="tx1">
                      <a:lumMod val="60000"/>
                      <a:lumOff val="40000"/>
                    </a:schemeClr>
                  </a:solidFill>
                  <a:effectLst>
                    <a:outerShdw blurRad="38100" dist="38100" dir="2700000" algn="tl">
                      <a:srgbClr val="000000">
                        <a:alpha val="43137"/>
                      </a:srgbClr>
                    </a:outerShdw>
                  </a:effectLst>
                </a:rPr>
                <a:t>JIT</a:t>
              </a:r>
            </a:p>
            <a:p>
              <a:pPr algn="ctr">
                <a:lnSpc>
                  <a:spcPct val="90000"/>
                </a:lnSpc>
              </a:pPr>
              <a:r>
                <a:rPr lang="en-US" sz="2000" b="1" dirty="0">
                  <a:solidFill>
                    <a:schemeClr val="tx1">
                      <a:lumMod val="60000"/>
                      <a:lumOff val="40000"/>
                    </a:schemeClr>
                  </a:solidFill>
                  <a:effectLst>
                    <a:outerShdw blurRad="38100" dist="38100" dir="2700000" algn="tl">
                      <a:srgbClr val="000000">
                        <a:alpha val="43137"/>
                      </a:srgbClr>
                    </a:outerShdw>
                  </a:effectLst>
                </a:rPr>
                <a:t> compiler</a:t>
              </a:r>
            </a:p>
          </p:txBody>
        </p:sp>
      </p:grpSp>
      <p:grpSp>
        <p:nvGrpSpPr>
          <p:cNvPr id="5" name="Group 12"/>
          <p:cNvGrpSpPr>
            <a:grpSpLocks/>
          </p:cNvGrpSpPr>
          <p:nvPr/>
        </p:nvGrpSpPr>
        <p:grpSpPr bwMode="auto">
          <a:xfrm>
            <a:off x="3425825" y="4487863"/>
            <a:ext cx="2122488" cy="836612"/>
            <a:chOff x="664" y="3272"/>
            <a:chExt cx="1062" cy="594"/>
          </a:xfrm>
        </p:grpSpPr>
        <p:pic>
          <p:nvPicPr>
            <p:cNvPr id="1464333" name="Picture 13" descr="box_purple"/>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664" y="3272"/>
              <a:ext cx="1062" cy="594"/>
            </a:xfrm>
            <a:prstGeom prst="rect">
              <a:avLst/>
            </a:prstGeom>
            <a:noFill/>
          </p:spPr>
        </p:pic>
        <p:sp>
          <p:nvSpPr>
            <p:cNvPr id="1464334" name="Text Box 14"/>
            <p:cNvSpPr txBox="1">
              <a:spLocks noChangeArrowheads="1"/>
            </p:cNvSpPr>
            <p:nvPr/>
          </p:nvSpPr>
          <p:spPr bwMode="auto">
            <a:xfrm>
              <a:off x="742" y="3323"/>
              <a:ext cx="864" cy="262"/>
            </a:xfrm>
            <a:prstGeom prst="rect">
              <a:avLst/>
            </a:prstGeom>
            <a:noFill/>
            <a:ln w="28575">
              <a:noFill/>
              <a:miter lim="800000"/>
              <a:headEnd/>
              <a:tailEnd type="none" w="med" len="lg"/>
            </a:ln>
            <a:effectLst/>
          </p:spPr>
          <p:txBody>
            <a:bodyPr>
              <a:spAutoFit/>
            </a:bodyPr>
            <a:lstStyle/>
            <a:p>
              <a:pPr algn="ctr">
                <a:lnSpc>
                  <a:spcPct val="90000"/>
                </a:lnSpc>
              </a:pPr>
              <a:r>
                <a:rPr lang="en-US" sz="2000" b="1" dirty="0" smtClean="0">
                  <a:solidFill>
                    <a:schemeClr val="tx1">
                      <a:lumMod val="60000"/>
                      <a:lumOff val="40000"/>
                    </a:schemeClr>
                  </a:solidFill>
                  <a:effectLst>
                    <a:outerShdw blurRad="38100" dist="38100" dir="2700000" algn="tl">
                      <a:srgbClr val="000000">
                        <a:alpha val="43137"/>
                      </a:srgbClr>
                    </a:outerShdw>
                  </a:effectLst>
                </a:rPr>
                <a:t>Machine code</a:t>
              </a:r>
              <a:endParaRPr lang="en-US" sz="2000" b="1" dirty="0">
                <a:solidFill>
                  <a:schemeClr val="tx1">
                    <a:lumMod val="60000"/>
                    <a:lumOff val="40000"/>
                  </a:schemeClr>
                </a:solidFill>
                <a:effectLst>
                  <a:outerShdw blurRad="38100" dist="38100" dir="2700000" algn="tl">
                    <a:srgbClr val="000000">
                      <a:alpha val="43137"/>
                    </a:srgbClr>
                  </a:outerShdw>
                </a:effectLst>
              </a:endParaRPr>
            </a:p>
          </p:txBody>
        </p:sp>
      </p:grpSp>
      <p:pic>
        <p:nvPicPr>
          <p:cNvPr id="1464335" name="Picture 15" descr="box_transparent"/>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3411538" y="5600700"/>
            <a:ext cx="2132012" cy="1065213"/>
          </a:xfrm>
          <a:prstGeom prst="rect">
            <a:avLst/>
          </a:prstGeom>
          <a:noFill/>
        </p:spPr>
      </p:pic>
      <p:sp>
        <p:nvSpPr>
          <p:cNvPr id="1464336" name="Freeform 16"/>
          <p:cNvSpPr>
            <a:spLocks/>
          </p:cNvSpPr>
          <p:nvPr/>
        </p:nvSpPr>
        <p:spPr bwMode="auto">
          <a:xfrm>
            <a:off x="3113088" y="1989138"/>
            <a:ext cx="461962" cy="1798637"/>
          </a:xfrm>
          <a:custGeom>
            <a:avLst/>
            <a:gdLst/>
            <a:ahLst/>
            <a:cxnLst>
              <a:cxn ang="0">
                <a:pos x="355" y="0"/>
              </a:cxn>
              <a:cxn ang="0">
                <a:pos x="0" y="0"/>
              </a:cxn>
              <a:cxn ang="0">
                <a:pos x="4" y="1155"/>
              </a:cxn>
              <a:cxn ang="0">
                <a:pos x="366" y="1155"/>
              </a:cxn>
            </a:cxnLst>
            <a:rect l="0" t="0" r="r" b="b"/>
            <a:pathLst>
              <a:path w="366" h="1155">
                <a:moveTo>
                  <a:pt x="355" y="0"/>
                </a:moveTo>
                <a:lnTo>
                  <a:pt x="0" y="0"/>
                </a:lnTo>
                <a:lnTo>
                  <a:pt x="4" y="1155"/>
                </a:lnTo>
                <a:lnTo>
                  <a:pt x="366" y="1155"/>
                </a:lnTo>
              </a:path>
            </a:pathLst>
          </a:custGeom>
          <a:noFill/>
          <a:ln w="38100" cap="flat" cmpd="sng">
            <a:solidFill>
              <a:schemeClr val="accent5">
                <a:lumMod val="20000"/>
                <a:lumOff val="80000"/>
              </a:schemeClr>
            </a:solidFill>
            <a:prstDash val="solid"/>
            <a:round/>
            <a:headEnd type="none" w="med" len="med"/>
            <a:tailEnd type="stealth" w="lg" len="lg"/>
          </a:ln>
          <a:effectLst/>
        </p:spPr>
        <p:txBody>
          <a:bodyPr wrap="none" anchor="ctr"/>
          <a:lstStyle/>
          <a:p>
            <a:endParaRPr lang="en-US"/>
          </a:p>
        </p:txBody>
      </p:sp>
      <p:sp>
        <p:nvSpPr>
          <p:cNvPr id="1464337" name="Text Box 17"/>
          <p:cNvSpPr txBox="1">
            <a:spLocks noChangeArrowheads="1"/>
          </p:cNvSpPr>
          <p:nvPr/>
        </p:nvSpPr>
        <p:spPr bwMode="auto">
          <a:xfrm>
            <a:off x="2255838" y="2601913"/>
            <a:ext cx="873125" cy="584775"/>
          </a:xfrm>
          <a:prstGeom prst="rect">
            <a:avLst/>
          </a:prstGeom>
          <a:noFill/>
          <a:ln w="9525" algn="ctr">
            <a:noFill/>
            <a:miter lim="800000"/>
            <a:headEnd/>
            <a:tailEnd/>
          </a:ln>
          <a:effectLst/>
        </p:spPr>
        <p:txBody>
          <a:bodyPr>
            <a:spAutoFit/>
          </a:bodyPr>
          <a:lstStyle/>
          <a:p>
            <a:pPr algn="ctr" eaLnBrk="1" hangingPunct="1">
              <a:lnSpc>
                <a:spcPct val="100000"/>
              </a:lnSpc>
            </a:pPr>
            <a:r>
              <a:rPr kumimoji="0" lang="en-US" sz="1600" b="1">
                <a:solidFill>
                  <a:schemeClr val="tx1">
                    <a:lumMod val="60000"/>
                    <a:lumOff val="40000"/>
                  </a:schemeClr>
                </a:solidFill>
                <a:effectLst/>
              </a:rPr>
              <a:t>trusted</a:t>
            </a:r>
          </a:p>
          <a:p>
            <a:pPr algn="ctr" eaLnBrk="1" hangingPunct="1">
              <a:lnSpc>
                <a:spcPct val="100000"/>
              </a:lnSpc>
            </a:pPr>
            <a:r>
              <a:rPr kumimoji="0" lang="en-US" sz="1600" b="1">
                <a:solidFill>
                  <a:schemeClr val="tx1">
                    <a:lumMod val="60000"/>
                    <a:lumOff val="40000"/>
                  </a:schemeClr>
                </a:solidFill>
                <a:effectLst/>
              </a:rPr>
              <a:t>code</a:t>
            </a:r>
            <a:endParaRPr kumimoji="0" lang="bg-BG" sz="1600" b="1">
              <a:solidFill>
                <a:schemeClr val="tx1">
                  <a:lumMod val="60000"/>
                  <a:lumOff val="40000"/>
                </a:schemeClr>
              </a:solidFill>
              <a:effectLst/>
            </a:endParaRPr>
          </a:p>
        </p:txBody>
      </p:sp>
      <p:sp>
        <p:nvSpPr>
          <p:cNvPr id="1464338" name="Freeform 18"/>
          <p:cNvSpPr>
            <a:spLocks/>
          </p:cNvSpPr>
          <p:nvPr/>
        </p:nvSpPr>
        <p:spPr bwMode="auto">
          <a:xfrm>
            <a:off x="5297488" y="3775075"/>
            <a:ext cx="1162050" cy="2116138"/>
          </a:xfrm>
          <a:custGeom>
            <a:avLst/>
            <a:gdLst/>
            <a:ahLst/>
            <a:cxnLst>
              <a:cxn ang="0">
                <a:pos x="140" y="1333"/>
              </a:cxn>
              <a:cxn ang="0">
                <a:pos x="731" y="1332"/>
              </a:cxn>
              <a:cxn ang="0">
                <a:pos x="732" y="0"/>
              </a:cxn>
              <a:cxn ang="0">
                <a:pos x="0" y="0"/>
              </a:cxn>
            </a:cxnLst>
            <a:rect l="0" t="0" r="r" b="b"/>
            <a:pathLst>
              <a:path w="732" h="1333">
                <a:moveTo>
                  <a:pt x="140" y="1333"/>
                </a:moveTo>
                <a:lnTo>
                  <a:pt x="731" y="1332"/>
                </a:lnTo>
                <a:lnTo>
                  <a:pt x="732" y="0"/>
                </a:lnTo>
                <a:lnTo>
                  <a:pt x="0" y="0"/>
                </a:lnTo>
              </a:path>
            </a:pathLst>
          </a:custGeom>
          <a:noFill/>
          <a:ln w="38100" cap="flat" cmpd="sng">
            <a:solidFill>
              <a:schemeClr val="accent5">
                <a:lumMod val="20000"/>
                <a:lumOff val="80000"/>
              </a:schemeClr>
            </a:solidFill>
            <a:prstDash val="solid"/>
            <a:round/>
            <a:headEnd type="none" w="med" len="med"/>
            <a:tailEnd type="stealth" w="lg" len="lg"/>
          </a:ln>
          <a:effectLst/>
        </p:spPr>
        <p:txBody>
          <a:bodyPr wrap="none" anchor="ctr"/>
          <a:lstStyle/>
          <a:p>
            <a:endParaRPr lang="en-US"/>
          </a:p>
        </p:txBody>
      </p:sp>
      <p:sp>
        <p:nvSpPr>
          <p:cNvPr id="1464339" name="Text Box 19"/>
          <p:cNvSpPr txBox="1">
            <a:spLocks noChangeArrowheads="1"/>
          </p:cNvSpPr>
          <p:nvPr/>
        </p:nvSpPr>
        <p:spPr bwMode="auto">
          <a:xfrm>
            <a:off x="6477000" y="4191000"/>
            <a:ext cx="1143000" cy="830997"/>
          </a:xfrm>
          <a:prstGeom prst="rect">
            <a:avLst/>
          </a:prstGeom>
          <a:noFill/>
          <a:ln w="9525" algn="ctr">
            <a:noFill/>
            <a:miter lim="800000"/>
            <a:headEnd/>
            <a:tailEnd/>
          </a:ln>
          <a:effectLst/>
        </p:spPr>
        <p:txBody>
          <a:bodyPr wrap="square">
            <a:spAutoFit/>
          </a:bodyPr>
          <a:lstStyle/>
          <a:p>
            <a:pPr algn="ctr" eaLnBrk="1" hangingPunct="1">
              <a:lnSpc>
                <a:spcPct val="100000"/>
              </a:lnSpc>
            </a:pPr>
            <a:r>
              <a:rPr kumimoji="0" lang="en-US" sz="1600" b="1" dirty="0">
                <a:solidFill>
                  <a:schemeClr val="tx1">
                    <a:lumMod val="60000"/>
                    <a:lumOff val="40000"/>
                  </a:schemeClr>
                </a:solidFill>
                <a:effectLst/>
              </a:rPr>
              <a:t>Call un-compiled method</a:t>
            </a:r>
            <a:endParaRPr kumimoji="0" lang="bg-BG" sz="1600" b="1" dirty="0">
              <a:solidFill>
                <a:schemeClr val="tx1">
                  <a:lumMod val="60000"/>
                  <a:lumOff val="40000"/>
                </a:schemeClr>
              </a:solidFill>
              <a:effectLst/>
            </a:endParaRPr>
          </a:p>
        </p:txBody>
      </p:sp>
      <p:grpSp>
        <p:nvGrpSpPr>
          <p:cNvPr id="6" name="Group 20"/>
          <p:cNvGrpSpPr>
            <a:grpSpLocks/>
          </p:cNvGrpSpPr>
          <p:nvPr/>
        </p:nvGrpSpPr>
        <p:grpSpPr bwMode="auto">
          <a:xfrm>
            <a:off x="6743700" y="5670550"/>
            <a:ext cx="1435100" cy="911225"/>
            <a:chOff x="3936" y="3658"/>
            <a:chExt cx="904" cy="574"/>
          </a:xfrm>
        </p:grpSpPr>
        <p:pic>
          <p:nvPicPr>
            <p:cNvPr id="1464341" name="Picture 21" descr="red-block"/>
            <p:cNvPicPr>
              <a:picLocks noChangeAspect="1" noChangeArrowheads="1"/>
            </p:cNvPicPr>
            <p:nvPr/>
          </p:nvPicPr>
          <p:blipFill>
            <a:blip r:embed="rId8" cstate="print">
              <a:extLst>
                <a:ext uri="{28A0092B-C50C-407E-A947-70E740481C1C}">
                  <a14:useLocalDpi xmlns="" xmlns:a14="http://schemas.microsoft.com/office/drawing/2010/main" val="0"/>
                </a:ext>
              </a:extLst>
            </a:blip>
            <a:srcRect/>
            <a:stretch>
              <a:fillRect/>
            </a:stretch>
          </p:blipFill>
          <p:spPr bwMode="auto">
            <a:xfrm>
              <a:off x="3936" y="3658"/>
              <a:ext cx="904" cy="574"/>
            </a:xfrm>
            <a:prstGeom prst="rect">
              <a:avLst/>
            </a:prstGeom>
            <a:noFill/>
          </p:spPr>
        </p:pic>
        <p:sp>
          <p:nvSpPr>
            <p:cNvPr id="1464342" name="Text Box 22"/>
            <p:cNvSpPr txBox="1">
              <a:spLocks noChangeArrowheads="1"/>
            </p:cNvSpPr>
            <p:nvPr/>
          </p:nvSpPr>
          <p:spPr bwMode="auto">
            <a:xfrm>
              <a:off x="4005" y="3726"/>
              <a:ext cx="746" cy="407"/>
            </a:xfrm>
            <a:prstGeom prst="rect">
              <a:avLst/>
            </a:prstGeom>
            <a:noFill/>
            <a:ln w="28575">
              <a:noFill/>
              <a:miter lim="800000"/>
              <a:headEnd/>
              <a:tailEnd type="none" w="med" len="lg"/>
            </a:ln>
            <a:effectLst/>
          </p:spPr>
          <p:txBody>
            <a:bodyPr wrap="square">
              <a:spAutoFit/>
            </a:bodyPr>
            <a:lstStyle/>
            <a:p>
              <a:pPr algn="ctr">
                <a:lnSpc>
                  <a:spcPct val="90000"/>
                </a:lnSpc>
              </a:pPr>
              <a:r>
                <a:rPr lang="en-US" sz="2000" b="1" dirty="0">
                  <a:solidFill>
                    <a:schemeClr val="tx1">
                      <a:lumMod val="60000"/>
                      <a:lumOff val="40000"/>
                    </a:schemeClr>
                  </a:solidFill>
                  <a:effectLst>
                    <a:outerShdw blurRad="38100" dist="38100" dir="2700000" algn="tl">
                      <a:srgbClr val="000000">
                        <a:alpha val="43137"/>
                      </a:srgbClr>
                    </a:outerShdw>
                  </a:effectLst>
                </a:rPr>
                <a:t>Security</a:t>
              </a:r>
            </a:p>
            <a:p>
              <a:pPr algn="ctr">
                <a:lnSpc>
                  <a:spcPct val="90000"/>
                </a:lnSpc>
              </a:pPr>
              <a:r>
                <a:rPr lang="en-US" sz="2000" b="1" dirty="0">
                  <a:solidFill>
                    <a:schemeClr val="tx1">
                      <a:lumMod val="60000"/>
                      <a:lumOff val="40000"/>
                    </a:schemeClr>
                  </a:solidFill>
                  <a:effectLst>
                    <a:outerShdw blurRad="38100" dist="38100" dir="2700000" algn="tl">
                      <a:srgbClr val="000000">
                        <a:alpha val="43137"/>
                      </a:srgbClr>
                    </a:outerShdw>
                  </a:effectLst>
                </a:rPr>
                <a:t>Engine</a:t>
              </a:r>
            </a:p>
          </p:txBody>
        </p:sp>
      </p:grpSp>
      <p:sp>
        <p:nvSpPr>
          <p:cNvPr id="1464343" name="Line 23"/>
          <p:cNvSpPr>
            <a:spLocks noChangeShapeType="1"/>
          </p:cNvSpPr>
          <p:nvPr/>
        </p:nvSpPr>
        <p:spPr bwMode="auto">
          <a:xfrm flipH="1" flipV="1">
            <a:off x="5518150" y="6129338"/>
            <a:ext cx="1271588" cy="0"/>
          </a:xfrm>
          <a:prstGeom prst="line">
            <a:avLst/>
          </a:prstGeom>
          <a:noFill/>
          <a:ln w="38100">
            <a:solidFill>
              <a:schemeClr val="accent5">
                <a:lumMod val="20000"/>
                <a:lumOff val="80000"/>
              </a:schemeClr>
            </a:solidFill>
            <a:round/>
            <a:headEnd type="stealth" w="lg" len="lg"/>
            <a:tailEnd type="stealth" w="lg" len="lg"/>
          </a:ln>
          <a:effectLst/>
        </p:spPr>
        <p:txBody>
          <a:bodyPr wrap="none" anchor="ctr"/>
          <a:lstStyle/>
          <a:p>
            <a:endParaRPr lang="en-US"/>
          </a:p>
        </p:txBody>
      </p:sp>
      <p:sp>
        <p:nvSpPr>
          <p:cNvPr id="1464345" name="Text Box 25"/>
          <p:cNvSpPr txBox="1">
            <a:spLocks noChangeArrowheads="1"/>
          </p:cNvSpPr>
          <p:nvPr/>
        </p:nvSpPr>
        <p:spPr bwMode="auto">
          <a:xfrm>
            <a:off x="3529013" y="6249988"/>
            <a:ext cx="1878012" cy="369332"/>
          </a:xfrm>
          <a:prstGeom prst="rect">
            <a:avLst/>
          </a:prstGeom>
          <a:noFill/>
          <a:ln w="9525" algn="ctr">
            <a:noFill/>
            <a:miter lim="800000"/>
            <a:headEnd/>
            <a:tailEnd/>
          </a:ln>
          <a:effectLst/>
        </p:spPr>
        <p:txBody>
          <a:bodyPr>
            <a:spAutoFit/>
          </a:bodyPr>
          <a:lstStyle/>
          <a:p>
            <a:pPr algn="ctr">
              <a:lnSpc>
                <a:spcPct val="90000"/>
              </a:lnSpc>
            </a:pPr>
            <a:r>
              <a:rPr lang="en-US" sz="2000" b="1" dirty="0">
                <a:solidFill>
                  <a:schemeClr val="tx1">
                    <a:lumMod val="60000"/>
                    <a:lumOff val="40000"/>
                  </a:schemeClr>
                </a:solidFill>
                <a:effectLst>
                  <a:outerShdw blurRad="38100" dist="38100" dir="2700000" algn="tl">
                    <a:srgbClr val="000000">
                      <a:alpha val="43137"/>
                    </a:srgbClr>
                  </a:outerShdw>
                </a:effectLst>
              </a:rPr>
              <a:t>Execution</a:t>
            </a:r>
          </a:p>
        </p:txBody>
      </p:sp>
      <p:sp>
        <p:nvSpPr>
          <p:cNvPr id="1464346" name="Freeform 26"/>
          <p:cNvSpPr>
            <a:spLocks/>
          </p:cNvSpPr>
          <p:nvPr/>
        </p:nvSpPr>
        <p:spPr bwMode="auto">
          <a:xfrm>
            <a:off x="2057400" y="1825625"/>
            <a:ext cx="1500188" cy="3079750"/>
          </a:xfrm>
          <a:custGeom>
            <a:avLst/>
            <a:gdLst/>
            <a:ahLst/>
            <a:cxnLst>
              <a:cxn ang="0">
                <a:pos x="945" y="1"/>
              </a:cxn>
              <a:cxn ang="0">
                <a:pos x="0" y="0"/>
              </a:cxn>
              <a:cxn ang="0">
                <a:pos x="5" y="1940"/>
              </a:cxn>
              <a:cxn ang="0">
                <a:pos x="888" y="1940"/>
              </a:cxn>
            </a:cxnLst>
            <a:rect l="0" t="0" r="r" b="b"/>
            <a:pathLst>
              <a:path w="945" h="1940">
                <a:moveTo>
                  <a:pt x="945" y="1"/>
                </a:moveTo>
                <a:lnTo>
                  <a:pt x="0" y="0"/>
                </a:lnTo>
                <a:lnTo>
                  <a:pt x="5" y="1940"/>
                </a:lnTo>
                <a:lnTo>
                  <a:pt x="888" y="1940"/>
                </a:lnTo>
              </a:path>
            </a:pathLst>
          </a:custGeom>
          <a:noFill/>
          <a:ln w="38100" cap="flat" cmpd="sng">
            <a:solidFill>
              <a:schemeClr val="accent5">
                <a:lumMod val="20000"/>
                <a:lumOff val="80000"/>
              </a:schemeClr>
            </a:solidFill>
            <a:prstDash val="solid"/>
            <a:round/>
            <a:headEnd type="none" w="med" len="med"/>
            <a:tailEnd type="stealth" w="lg" len="lg"/>
          </a:ln>
          <a:effectLst/>
        </p:spPr>
        <p:txBody>
          <a:bodyPr wrap="none" anchor="ctr"/>
          <a:lstStyle/>
          <a:p>
            <a:endParaRPr lang="en-US"/>
          </a:p>
        </p:txBody>
      </p:sp>
      <p:grpSp>
        <p:nvGrpSpPr>
          <p:cNvPr id="7" name="Group 27"/>
          <p:cNvGrpSpPr>
            <a:grpSpLocks/>
          </p:cNvGrpSpPr>
          <p:nvPr/>
        </p:nvGrpSpPr>
        <p:grpSpPr bwMode="auto">
          <a:xfrm>
            <a:off x="3521075" y="2486025"/>
            <a:ext cx="1833563" cy="600075"/>
            <a:chOff x="1858" y="1644"/>
            <a:chExt cx="1155" cy="378"/>
          </a:xfrm>
        </p:grpSpPr>
        <p:pic>
          <p:nvPicPr>
            <p:cNvPr id="1464348" name="Picture 28" descr="red-block"/>
            <p:cNvPicPr>
              <a:picLocks noChangeAspect="1" noChangeArrowheads="1"/>
            </p:cNvPicPr>
            <p:nvPr/>
          </p:nvPicPr>
          <p:blipFill>
            <a:blip r:embed="rId8" cstate="print">
              <a:extLst>
                <a:ext uri="{28A0092B-C50C-407E-A947-70E740481C1C}">
                  <a14:useLocalDpi xmlns="" xmlns:a14="http://schemas.microsoft.com/office/drawing/2010/main" val="0"/>
                </a:ext>
              </a:extLst>
            </a:blip>
            <a:srcRect/>
            <a:stretch>
              <a:fillRect/>
            </a:stretch>
          </p:blipFill>
          <p:spPr bwMode="auto">
            <a:xfrm>
              <a:off x="1858" y="1644"/>
              <a:ext cx="1155" cy="378"/>
            </a:xfrm>
            <a:prstGeom prst="rect">
              <a:avLst/>
            </a:prstGeom>
            <a:noFill/>
          </p:spPr>
        </p:pic>
        <p:sp>
          <p:nvSpPr>
            <p:cNvPr id="1464349" name="Text Box 29"/>
            <p:cNvSpPr txBox="1">
              <a:spLocks noChangeArrowheads="1"/>
            </p:cNvSpPr>
            <p:nvPr/>
          </p:nvSpPr>
          <p:spPr bwMode="auto">
            <a:xfrm>
              <a:off x="2071" y="1709"/>
              <a:ext cx="736" cy="233"/>
            </a:xfrm>
            <a:prstGeom prst="rect">
              <a:avLst/>
            </a:prstGeom>
            <a:noFill/>
            <a:ln w="28575">
              <a:noFill/>
              <a:miter lim="800000"/>
              <a:headEnd/>
              <a:tailEnd type="none" w="med" len="lg"/>
            </a:ln>
            <a:effectLst/>
          </p:spPr>
          <p:txBody>
            <a:bodyPr>
              <a:spAutoFit/>
            </a:bodyPr>
            <a:lstStyle/>
            <a:p>
              <a:pPr algn="ctr">
                <a:lnSpc>
                  <a:spcPct val="90000"/>
                </a:lnSpc>
              </a:pPr>
              <a:r>
                <a:rPr lang="en-US" sz="2000" b="1" dirty="0">
                  <a:solidFill>
                    <a:schemeClr val="tx1">
                      <a:lumMod val="60000"/>
                      <a:lumOff val="40000"/>
                    </a:schemeClr>
                  </a:solidFill>
                  <a:effectLst>
                    <a:outerShdw blurRad="38100" dist="38100" dir="2700000" algn="tl">
                      <a:srgbClr val="000000">
                        <a:alpha val="43137"/>
                      </a:srgbClr>
                    </a:outerShdw>
                  </a:effectLst>
                </a:rPr>
                <a:t>Verifier</a:t>
              </a:r>
            </a:p>
          </p:txBody>
        </p:sp>
      </p:grpSp>
      <p:sp>
        <p:nvSpPr>
          <p:cNvPr id="1464350" name="Line 30"/>
          <p:cNvSpPr>
            <a:spLocks noChangeShapeType="1"/>
          </p:cNvSpPr>
          <p:nvPr/>
        </p:nvSpPr>
        <p:spPr bwMode="auto">
          <a:xfrm>
            <a:off x="4384675" y="1262063"/>
            <a:ext cx="0" cy="395287"/>
          </a:xfrm>
          <a:prstGeom prst="line">
            <a:avLst/>
          </a:prstGeom>
          <a:noFill/>
          <a:ln w="38100">
            <a:solidFill>
              <a:schemeClr val="accent5">
                <a:lumMod val="20000"/>
                <a:lumOff val="80000"/>
              </a:schemeClr>
            </a:solidFill>
            <a:round/>
            <a:headEnd/>
            <a:tailEnd type="stealth" w="lg" len="lg"/>
          </a:ln>
          <a:effectLst/>
        </p:spPr>
        <p:txBody>
          <a:bodyPr wrap="none" anchor="ctr"/>
          <a:lstStyle/>
          <a:p>
            <a:endParaRPr lang="en-US"/>
          </a:p>
        </p:txBody>
      </p:sp>
      <p:grpSp>
        <p:nvGrpSpPr>
          <p:cNvPr id="8" name="Group 31"/>
          <p:cNvGrpSpPr>
            <a:grpSpLocks/>
          </p:cNvGrpSpPr>
          <p:nvPr/>
        </p:nvGrpSpPr>
        <p:grpSpPr bwMode="auto">
          <a:xfrm>
            <a:off x="868363" y="5672138"/>
            <a:ext cx="1435100" cy="911225"/>
            <a:chOff x="3936" y="3658"/>
            <a:chExt cx="904" cy="574"/>
          </a:xfrm>
        </p:grpSpPr>
        <p:pic>
          <p:nvPicPr>
            <p:cNvPr id="1464352" name="Picture 32" descr="red-block"/>
            <p:cNvPicPr>
              <a:picLocks noChangeAspect="1" noChangeArrowheads="1"/>
            </p:cNvPicPr>
            <p:nvPr/>
          </p:nvPicPr>
          <p:blipFill>
            <a:blip r:embed="rId8" cstate="print">
              <a:extLst>
                <a:ext uri="{28A0092B-C50C-407E-A947-70E740481C1C}">
                  <a14:useLocalDpi xmlns="" xmlns:a14="http://schemas.microsoft.com/office/drawing/2010/main" val="0"/>
                </a:ext>
              </a:extLst>
            </a:blip>
            <a:srcRect/>
            <a:stretch>
              <a:fillRect/>
            </a:stretch>
          </p:blipFill>
          <p:spPr bwMode="auto">
            <a:xfrm>
              <a:off x="3936" y="3658"/>
              <a:ext cx="904" cy="574"/>
            </a:xfrm>
            <a:prstGeom prst="rect">
              <a:avLst/>
            </a:prstGeom>
            <a:noFill/>
          </p:spPr>
        </p:pic>
        <p:sp>
          <p:nvSpPr>
            <p:cNvPr id="1464353" name="Text Box 33"/>
            <p:cNvSpPr txBox="1">
              <a:spLocks noChangeArrowheads="1"/>
            </p:cNvSpPr>
            <p:nvPr/>
          </p:nvSpPr>
          <p:spPr bwMode="auto">
            <a:xfrm>
              <a:off x="3990" y="3725"/>
              <a:ext cx="779" cy="407"/>
            </a:xfrm>
            <a:prstGeom prst="rect">
              <a:avLst/>
            </a:prstGeom>
            <a:noFill/>
            <a:ln w="28575">
              <a:noFill/>
              <a:miter lim="800000"/>
              <a:headEnd/>
              <a:tailEnd type="none" w="med" len="lg"/>
            </a:ln>
            <a:effectLst/>
          </p:spPr>
          <p:txBody>
            <a:bodyPr wrap="square">
              <a:spAutoFit/>
            </a:bodyPr>
            <a:lstStyle/>
            <a:p>
              <a:pPr algn="ctr">
                <a:lnSpc>
                  <a:spcPct val="90000"/>
                </a:lnSpc>
              </a:pPr>
              <a:r>
                <a:rPr lang="en-US" sz="2000" b="1" dirty="0">
                  <a:solidFill>
                    <a:schemeClr val="tx1">
                      <a:lumMod val="60000"/>
                      <a:lumOff val="40000"/>
                    </a:schemeClr>
                  </a:solidFill>
                  <a:effectLst>
                    <a:outerShdw blurRad="38100" dist="38100" dir="2700000" algn="tl">
                      <a:srgbClr val="000000">
                        <a:alpha val="43137"/>
                      </a:srgbClr>
                    </a:outerShdw>
                  </a:effectLst>
                </a:rPr>
                <a:t>Code</a:t>
              </a:r>
            </a:p>
            <a:p>
              <a:pPr algn="ctr">
                <a:lnSpc>
                  <a:spcPct val="90000"/>
                </a:lnSpc>
              </a:pPr>
              <a:r>
                <a:rPr lang="en-US" sz="2000" b="1" dirty="0">
                  <a:solidFill>
                    <a:schemeClr val="tx1">
                      <a:lumMod val="60000"/>
                      <a:lumOff val="40000"/>
                    </a:schemeClr>
                  </a:solidFill>
                  <a:effectLst>
                    <a:outerShdw blurRad="38100" dist="38100" dir="2700000" algn="tl">
                      <a:srgbClr val="000000">
                        <a:alpha val="43137"/>
                      </a:srgbClr>
                    </a:outerShdw>
                  </a:effectLst>
                </a:rPr>
                <a:t>Manager</a:t>
              </a:r>
            </a:p>
          </p:txBody>
        </p:sp>
      </p:grpSp>
      <p:sp>
        <p:nvSpPr>
          <p:cNvPr id="1464354" name="Line 34"/>
          <p:cNvSpPr>
            <a:spLocks noChangeShapeType="1"/>
          </p:cNvSpPr>
          <p:nvPr/>
        </p:nvSpPr>
        <p:spPr bwMode="auto">
          <a:xfrm flipH="1" flipV="1">
            <a:off x="2227263" y="6129338"/>
            <a:ext cx="1198562" cy="1587"/>
          </a:xfrm>
          <a:prstGeom prst="line">
            <a:avLst/>
          </a:prstGeom>
          <a:noFill/>
          <a:ln w="38100">
            <a:solidFill>
              <a:schemeClr val="accent5">
                <a:lumMod val="20000"/>
                <a:lumOff val="80000"/>
              </a:schemeClr>
            </a:solidFill>
            <a:round/>
            <a:headEnd type="stealth" w="lg" len="lg"/>
            <a:tailEnd type="stealth" w="lg" len="lg"/>
          </a:ln>
          <a:effectLst/>
        </p:spPr>
        <p:txBody>
          <a:bodyPr wrap="none" anchor="ctr"/>
          <a:lstStyle/>
          <a:p>
            <a:endParaRPr lang="en-US"/>
          </a:p>
        </p:txBody>
      </p:sp>
      <p:sp>
        <p:nvSpPr>
          <p:cNvPr id="1464355" name="Text Box 35"/>
          <p:cNvSpPr txBox="1">
            <a:spLocks noChangeArrowheads="1"/>
          </p:cNvSpPr>
          <p:nvPr/>
        </p:nvSpPr>
        <p:spPr bwMode="auto">
          <a:xfrm>
            <a:off x="684213" y="2852738"/>
            <a:ext cx="1254125" cy="830997"/>
          </a:xfrm>
          <a:prstGeom prst="rect">
            <a:avLst/>
          </a:prstGeom>
          <a:noFill/>
          <a:ln w="9525" algn="ctr">
            <a:noFill/>
            <a:miter lim="800000"/>
            <a:headEnd/>
            <a:tailEnd/>
          </a:ln>
          <a:effectLst/>
        </p:spPr>
        <p:txBody>
          <a:bodyPr>
            <a:spAutoFit/>
          </a:bodyPr>
          <a:lstStyle/>
          <a:p>
            <a:pPr algn="ctr" eaLnBrk="1" hangingPunct="1">
              <a:lnSpc>
                <a:spcPct val="100000"/>
              </a:lnSpc>
            </a:pPr>
            <a:r>
              <a:rPr kumimoji="0" lang="en-US" sz="1600" b="1" dirty="0">
                <a:solidFill>
                  <a:schemeClr val="tx1">
                    <a:lumMod val="60000"/>
                    <a:lumOff val="40000"/>
                  </a:schemeClr>
                </a:solidFill>
                <a:effectLst/>
              </a:rPr>
              <a:t>already compiled code</a:t>
            </a:r>
            <a:endParaRPr kumimoji="0" lang="bg-BG" sz="1600" b="1" dirty="0">
              <a:solidFill>
                <a:schemeClr val="tx1">
                  <a:lumMod val="60000"/>
                  <a:lumOff val="40000"/>
                </a:schemeClr>
              </a:solidFill>
              <a:effectLst/>
            </a:endParaRPr>
          </a:p>
        </p:txBody>
      </p:sp>
      <p:sp>
        <p:nvSpPr>
          <p:cNvPr id="1464356" name="Line 36"/>
          <p:cNvSpPr>
            <a:spLocks noChangeShapeType="1"/>
          </p:cNvSpPr>
          <p:nvPr/>
        </p:nvSpPr>
        <p:spPr bwMode="auto">
          <a:xfrm>
            <a:off x="4408488" y="2141538"/>
            <a:ext cx="1587" cy="385762"/>
          </a:xfrm>
          <a:prstGeom prst="line">
            <a:avLst/>
          </a:prstGeom>
          <a:noFill/>
          <a:ln w="38100">
            <a:solidFill>
              <a:schemeClr val="accent5">
                <a:lumMod val="20000"/>
                <a:lumOff val="80000"/>
              </a:schemeClr>
            </a:solidFill>
            <a:round/>
            <a:headEnd/>
            <a:tailEnd type="stealth" w="lg" len="lg"/>
          </a:ln>
          <a:effectLst/>
        </p:spPr>
        <p:txBody>
          <a:bodyPr wrap="none" anchor="ctr"/>
          <a:lstStyle/>
          <a:p>
            <a:endParaRPr lang="en-US"/>
          </a:p>
        </p:txBody>
      </p:sp>
      <p:sp>
        <p:nvSpPr>
          <p:cNvPr id="1464357" name="Line 37"/>
          <p:cNvSpPr>
            <a:spLocks noChangeShapeType="1"/>
          </p:cNvSpPr>
          <p:nvPr/>
        </p:nvSpPr>
        <p:spPr bwMode="auto">
          <a:xfrm>
            <a:off x="4410075" y="3041650"/>
            <a:ext cx="1588" cy="385763"/>
          </a:xfrm>
          <a:prstGeom prst="line">
            <a:avLst/>
          </a:prstGeom>
          <a:noFill/>
          <a:ln w="38100">
            <a:solidFill>
              <a:schemeClr val="accent5">
                <a:lumMod val="20000"/>
                <a:lumOff val="80000"/>
              </a:schemeClr>
            </a:solidFill>
            <a:round/>
            <a:headEnd/>
            <a:tailEnd type="stealth" w="lg" len="lg"/>
          </a:ln>
          <a:effectLst/>
        </p:spPr>
        <p:txBody>
          <a:bodyPr wrap="none" anchor="ctr"/>
          <a:lstStyle/>
          <a:p>
            <a:endParaRPr lang="en-US"/>
          </a:p>
        </p:txBody>
      </p:sp>
      <p:sp>
        <p:nvSpPr>
          <p:cNvPr id="1464358" name="Line 38"/>
          <p:cNvSpPr>
            <a:spLocks noChangeShapeType="1"/>
          </p:cNvSpPr>
          <p:nvPr/>
        </p:nvSpPr>
        <p:spPr bwMode="auto">
          <a:xfrm>
            <a:off x="4411663" y="4137025"/>
            <a:ext cx="1587" cy="385763"/>
          </a:xfrm>
          <a:prstGeom prst="line">
            <a:avLst/>
          </a:prstGeom>
          <a:noFill/>
          <a:ln w="38100">
            <a:solidFill>
              <a:schemeClr val="accent5">
                <a:lumMod val="20000"/>
                <a:lumOff val="80000"/>
              </a:schemeClr>
            </a:solidFill>
            <a:round/>
            <a:headEnd/>
            <a:tailEnd type="stealth" w="lg" len="lg"/>
          </a:ln>
          <a:effectLst/>
        </p:spPr>
        <p:txBody>
          <a:bodyPr wrap="none" anchor="ctr"/>
          <a:lstStyle/>
          <a:p>
            <a:endParaRPr lang="en-US"/>
          </a:p>
        </p:txBody>
      </p:sp>
      <p:sp>
        <p:nvSpPr>
          <p:cNvPr id="1464359" name="Line 39"/>
          <p:cNvSpPr>
            <a:spLocks noChangeShapeType="1"/>
          </p:cNvSpPr>
          <p:nvPr/>
        </p:nvSpPr>
        <p:spPr bwMode="auto">
          <a:xfrm>
            <a:off x="4413250" y="5230813"/>
            <a:ext cx="1588" cy="387350"/>
          </a:xfrm>
          <a:prstGeom prst="line">
            <a:avLst/>
          </a:prstGeom>
          <a:noFill/>
          <a:ln w="38100">
            <a:solidFill>
              <a:schemeClr val="accent5">
                <a:lumMod val="20000"/>
                <a:lumOff val="80000"/>
              </a:schemeClr>
            </a:solidFill>
            <a:round/>
            <a:headEnd/>
            <a:tailEnd type="stealth" w="lg" len="lg"/>
          </a:ln>
          <a:effectLst/>
        </p:spPr>
        <p:txBody>
          <a:bodyPr wrap="none" anchor="ctr"/>
          <a:lstStyle/>
          <a:p>
            <a:endParaRPr lang="en-US"/>
          </a:p>
        </p:txBody>
      </p:sp>
      <p:grpSp>
        <p:nvGrpSpPr>
          <p:cNvPr id="9" name="Group 40"/>
          <p:cNvGrpSpPr>
            <a:grpSpLocks/>
          </p:cNvGrpSpPr>
          <p:nvPr/>
        </p:nvGrpSpPr>
        <p:grpSpPr bwMode="auto">
          <a:xfrm>
            <a:off x="5981700" y="1395413"/>
            <a:ext cx="1963738" cy="1027112"/>
            <a:chOff x="1592" y="654"/>
            <a:chExt cx="1239" cy="401"/>
          </a:xfrm>
        </p:grpSpPr>
        <p:pic>
          <p:nvPicPr>
            <p:cNvPr id="1464361" name="Picture 41" descr="box_blu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592" y="654"/>
              <a:ext cx="1239" cy="401"/>
            </a:xfrm>
            <a:prstGeom prst="rect">
              <a:avLst/>
            </a:prstGeom>
            <a:noFill/>
          </p:spPr>
        </p:pic>
        <p:sp>
          <p:nvSpPr>
            <p:cNvPr id="1464362" name="Text Box 42"/>
            <p:cNvSpPr txBox="1">
              <a:spLocks noChangeArrowheads="1"/>
            </p:cNvSpPr>
            <p:nvPr/>
          </p:nvSpPr>
          <p:spPr bwMode="auto">
            <a:xfrm>
              <a:off x="1709" y="712"/>
              <a:ext cx="982" cy="274"/>
            </a:xfrm>
            <a:prstGeom prst="rect">
              <a:avLst/>
            </a:prstGeom>
            <a:noFill/>
            <a:ln w="28575">
              <a:noFill/>
              <a:miter lim="800000"/>
              <a:headEnd/>
              <a:tailEnd type="none" w="med" len="lg"/>
            </a:ln>
            <a:effectLst/>
          </p:spPr>
          <p:txBody>
            <a:bodyPr wrap="square">
              <a:spAutoFit/>
            </a:bodyPr>
            <a:lstStyle/>
            <a:p>
              <a:pPr algn="ctr">
                <a:lnSpc>
                  <a:spcPct val="90000"/>
                </a:lnSpc>
              </a:pPr>
              <a:r>
                <a:rPr lang="en-US" sz="2200" b="1" dirty="0">
                  <a:solidFill>
                    <a:schemeClr val="tx1">
                      <a:lumMod val="60000"/>
                      <a:lumOff val="40000"/>
                    </a:schemeClr>
                  </a:solidFill>
                  <a:effectLst>
                    <a:outerShdw blurRad="38100" dist="38100" dir="2700000" algn="tl">
                      <a:srgbClr val="000000">
                        <a:alpha val="43137"/>
                      </a:srgbClr>
                    </a:outerShdw>
                  </a:effectLst>
                </a:rPr>
                <a:t>Class libraries</a:t>
              </a:r>
            </a:p>
          </p:txBody>
        </p:sp>
      </p:grpSp>
      <p:sp>
        <p:nvSpPr>
          <p:cNvPr id="1464363" name="Line 43"/>
          <p:cNvSpPr>
            <a:spLocks noChangeShapeType="1"/>
          </p:cNvSpPr>
          <p:nvPr/>
        </p:nvSpPr>
        <p:spPr bwMode="auto">
          <a:xfrm flipH="1" flipV="1">
            <a:off x="5326063" y="1912938"/>
            <a:ext cx="744537" cy="1587"/>
          </a:xfrm>
          <a:prstGeom prst="line">
            <a:avLst/>
          </a:prstGeom>
          <a:noFill/>
          <a:ln w="38100">
            <a:solidFill>
              <a:schemeClr val="accent5">
                <a:lumMod val="20000"/>
                <a:lumOff val="80000"/>
              </a:schemeClr>
            </a:solidFill>
            <a:round/>
            <a:headEnd/>
            <a:tailEnd type="stealth" w="lg" len="lg"/>
          </a:ln>
          <a:effectLst/>
        </p:spPr>
        <p:txBody>
          <a:bodyPr wrap="none" anchor="ctr"/>
          <a:lstStyle/>
          <a:p>
            <a:endParaRPr lang="en-US"/>
          </a:p>
        </p:txBody>
      </p:sp>
      <p:pic>
        <p:nvPicPr>
          <p:cNvPr id="1464344" name="Picture 24" descr="BD18212_"/>
          <p:cNvPicPr>
            <a:picLocks noChangeAspect="1" noChangeArrowheads="1"/>
          </p:cNvPicPr>
          <p:nvPr/>
        </p:nvPicPr>
        <p:blipFill>
          <a:blip r:embed="rId9" cstate="print">
            <a:lum bright="10000" contrast="30000"/>
            <a:extLst>
              <a:ext uri="{28A0092B-C50C-407E-A947-70E740481C1C}">
                <a14:useLocalDpi xmlns="" xmlns:a14="http://schemas.microsoft.com/office/drawing/2010/main" val="0"/>
              </a:ext>
            </a:extLst>
          </a:blip>
          <a:srcRect/>
          <a:stretch>
            <a:fillRect/>
          </a:stretch>
        </p:blipFill>
        <p:spPr bwMode="auto">
          <a:xfrm>
            <a:off x="3992563" y="5641975"/>
            <a:ext cx="820737" cy="698500"/>
          </a:xfrm>
          <a:prstGeom prst="rect">
            <a:avLst/>
          </a:prstGeom>
          <a:noFill/>
          <a:ln w="9525">
            <a:noFill/>
            <a:miter lim="800000"/>
            <a:headEnd/>
            <a:tailEnd/>
          </a:ln>
          <a:effectLst/>
        </p:spPr>
      </p:pic>
      <p:sp>
        <p:nvSpPr>
          <p:cNvPr id="4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29</a:t>
            </a:fld>
            <a:endParaRPr lang="en-US" dirty="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4914" name="Rectangle 2"/>
          <p:cNvSpPr>
            <a:spLocks noGrp="1" noChangeArrowheads="1"/>
          </p:cNvSpPr>
          <p:nvPr>
            <p:ph type="ctrTitle"/>
          </p:nvPr>
        </p:nvSpPr>
        <p:spPr>
          <a:xfrm>
            <a:off x="1246692" y="4260058"/>
            <a:ext cx="6480175" cy="736600"/>
          </a:xfrm>
        </p:spPr>
        <p:txBody>
          <a:bodyPr/>
          <a:lstStyle/>
          <a:p>
            <a:pPr>
              <a:lnSpc>
                <a:spcPct val="110000"/>
              </a:lnSpc>
            </a:pPr>
            <a:r>
              <a:rPr lang="en-US" dirty="0"/>
              <a:t>.NET Applications</a:t>
            </a:r>
            <a:endParaRPr lang="bg-BG" dirty="0"/>
          </a:p>
        </p:txBody>
      </p:sp>
      <p:sp>
        <p:nvSpPr>
          <p:cNvPr id="3" name="Subtitle 5"/>
          <p:cNvSpPr>
            <a:spLocks noGrp="1"/>
          </p:cNvSpPr>
          <p:nvPr>
            <p:ph type="subTitle" idx="1"/>
          </p:nvPr>
        </p:nvSpPr>
        <p:spPr>
          <a:xfrm>
            <a:off x="914400" y="5141120"/>
            <a:ext cx="7145842" cy="497680"/>
          </a:xfrm>
        </p:spPr>
        <p:txBody>
          <a:bodyPr/>
          <a:lstStyle/>
          <a:p>
            <a:r>
              <a:rPr lang="en-US" dirty="0" smtClean="0"/>
              <a:t>Assemblies, Metadata and Applications</a:t>
            </a:r>
            <a:endParaRPr lang="en-US" dirty="0"/>
          </a:p>
        </p:txBody>
      </p:sp>
      <p:grpSp>
        <p:nvGrpSpPr>
          <p:cNvPr id="2" name="Group 1"/>
          <p:cNvGrpSpPr/>
          <p:nvPr/>
        </p:nvGrpSpPr>
        <p:grpSpPr>
          <a:xfrm>
            <a:off x="2438400" y="1195718"/>
            <a:ext cx="4114800" cy="2622380"/>
            <a:chOff x="2438400" y="1195718"/>
            <a:chExt cx="4114800" cy="2622380"/>
          </a:xfrm>
        </p:grpSpPr>
        <p:pic>
          <p:nvPicPr>
            <p:cNvPr id="50178" name="Picture 2" descr="http://it.bluent.com/images/software-application.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438400" y="1516858"/>
              <a:ext cx="4114800" cy="2301240"/>
            </a:xfrm>
            <a:prstGeom prst="roundRect">
              <a:avLst>
                <a:gd name="adj" fmla="val 8283"/>
              </a:avLst>
            </a:prstGeom>
            <a:noFill/>
          </p:spPr>
        </p:pic>
        <p:pic>
          <p:nvPicPr>
            <p:cNvPr id="50179" name="Picture 3" descr="C:\Trash\ms.net-logo-blue.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345856" y="1195718"/>
              <a:ext cx="1838510" cy="895350"/>
            </a:xfrm>
            <a:prstGeom prst="roundRect">
              <a:avLst/>
            </a:prstGeom>
            <a:noFill/>
            <a:effectLst>
              <a:outerShdw blurRad="50800" dist="38100" dir="2700000" algn="tl" rotWithShape="0">
                <a:prstClr val="black">
                  <a:alpha val="40000"/>
                </a:prstClr>
              </a:outerShdw>
            </a:effectLst>
          </p:spPr>
        </p:pic>
      </p:gr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6370" name="Rectangle 2"/>
          <p:cNvSpPr>
            <a:spLocks noGrp="1" noChangeArrowheads="1"/>
          </p:cNvSpPr>
          <p:nvPr>
            <p:ph type="title"/>
          </p:nvPr>
        </p:nvSpPr>
        <p:spPr/>
        <p:txBody>
          <a:bodyPr/>
          <a:lstStyle/>
          <a:p>
            <a:r>
              <a:rPr lang="en-US" dirty="0"/>
              <a:t>.NET Assemblies</a:t>
            </a:r>
            <a:endParaRPr lang="bg-BG" dirty="0"/>
          </a:p>
        </p:txBody>
      </p:sp>
      <p:sp>
        <p:nvSpPr>
          <p:cNvPr id="1466371" name="Rectangle 3"/>
          <p:cNvSpPr>
            <a:spLocks noGrp="1" noChangeArrowheads="1"/>
          </p:cNvSpPr>
          <p:nvPr>
            <p:ph idx="1"/>
          </p:nvPr>
        </p:nvSpPr>
        <p:spPr>
          <a:xfrm>
            <a:off x="228600" y="838200"/>
            <a:ext cx="8720138" cy="5867400"/>
          </a:xfrm>
        </p:spPr>
        <p:txBody>
          <a:bodyPr/>
          <a:lstStyle/>
          <a:p>
            <a:pPr>
              <a:lnSpc>
                <a:spcPct val="100000"/>
              </a:lnSpc>
            </a:pPr>
            <a:r>
              <a:rPr lang="en-US" dirty="0" smtClean="0"/>
              <a:t>.NET assemblies:</a:t>
            </a:r>
          </a:p>
          <a:p>
            <a:pPr lvl="1">
              <a:lnSpc>
                <a:spcPct val="100000"/>
              </a:lnSpc>
            </a:pPr>
            <a:r>
              <a:rPr lang="en-US" dirty="0" smtClean="0"/>
              <a:t>Self-containing .NET components</a:t>
            </a:r>
          </a:p>
          <a:p>
            <a:pPr lvl="2">
              <a:lnSpc>
                <a:spcPct val="100000"/>
              </a:lnSpc>
            </a:pPr>
            <a:r>
              <a:rPr lang="en-US" dirty="0" smtClean="0"/>
              <a:t>Stored in .DLL and .EXE files</a:t>
            </a:r>
          </a:p>
          <a:p>
            <a:pPr lvl="1">
              <a:lnSpc>
                <a:spcPct val="100000"/>
              </a:lnSpc>
            </a:pPr>
            <a:r>
              <a:rPr lang="en-US" dirty="0" smtClean="0"/>
              <a:t>Contain list of classes, types and resources</a:t>
            </a:r>
          </a:p>
          <a:p>
            <a:pPr lvl="1">
              <a:lnSpc>
                <a:spcPct val="100000"/>
              </a:lnSpc>
            </a:pPr>
            <a:r>
              <a:rPr lang="en-US" dirty="0" smtClean="0"/>
              <a:t>Smallest deployment unit in </a:t>
            </a:r>
            <a:r>
              <a:rPr lang="en-US" dirty="0"/>
              <a:t>CLR</a:t>
            </a:r>
          </a:p>
          <a:p>
            <a:pPr lvl="1">
              <a:lnSpc>
                <a:spcPct val="100000"/>
              </a:lnSpc>
            </a:pPr>
            <a:r>
              <a:rPr lang="en-US" dirty="0"/>
              <a:t>Have unique version number</a:t>
            </a:r>
          </a:p>
          <a:p>
            <a:pPr>
              <a:lnSpc>
                <a:spcPct val="100000"/>
              </a:lnSpc>
            </a:pPr>
            <a:r>
              <a:rPr lang="en-US" dirty="0" smtClean="0"/>
              <a:t>.NET deployment model</a:t>
            </a:r>
          </a:p>
          <a:p>
            <a:pPr lvl="1">
              <a:lnSpc>
                <a:spcPct val="100000"/>
              </a:lnSpc>
            </a:pPr>
            <a:r>
              <a:rPr lang="en-US" dirty="0" smtClean="0"/>
              <a:t>No </a:t>
            </a:r>
            <a:r>
              <a:rPr lang="en-US" dirty="0"/>
              <a:t>version conflicts </a:t>
            </a:r>
            <a:r>
              <a:rPr lang="en-US" dirty="0" smtClean="0"/>
              <a:t>(forget the "DLL hell")</a:t>
            </a:r>
            <a:endParaRPr lang="bg-BG" dirty="0"/>
          </a:p>
          <a:p>
            <a:pPr lvl="1">
              <a:lnSpc>
                <a:spcPct val="100000"/>
              </a:lnSpc>
            </a:pPr>
            <a:r>
              <a:rPr lang="en-US" dirty="0"/>
              <a:t>Supports </a:t>
            </a:r>
            <a:r>
              <a:rPr lang="en-US" dirty="0" smtClean="0"/>
              <a:t>side-by-side execution of different </a:t>
            </a:r>
            <a:r>
              <a:rPr lang="en-US" dirty="0"/>
              <a:t>versions of </a:t>
            </a:r>
            <a:r>
              <a:rPr lang="en-US" dirty="0" smtClean="0"/>
              <a:t>the same assembly</a:t>
            </a:r>
            <a:endParaRPr lang="bg-BG"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31</a:t>
            </a:fld>
            <a:endParaRPr lang="en-US" dirty="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6370" name="Rectangle 2"/>
          <p:cNvSpPr>
            <a:spLocks noGrp="1" noChangeArrowheads="1"/>
          </p:cNvSpPr>
          <p:nvPr>
            <p:ph type="title"/>
          </p:nvPr>
        </p:nvSpPr>
        <p:spPr/>
        <p:txBody>
          <a:bodyPr/>
          <a:lstStyle/>
          <a:p>
            <a:r>
              <a:rPr lang="en-US" dirty="0"/>
              <a:t>Side-by-side execution</a:t>
            </a:r>
            <a:endParaRPr lang="bg-BG" dirty="0"/>
          </a:p>
        </p:txBody>
      </p:sp>
      <p:sp>
        <p:nvSpPr>
          <p:cNvPr id="1466371" name="Rectangle 3"/>
          <p:cNvSpPr>
            <a:spLocks noGrp="1" noChangeArrowheads="1"/>
          </p:cNvSpPr>
          <p:nvPr>
            <p:ph idx="1"/>
          </p:nvPr>
        </p:nvSpPr>
        <p:spPr>
          <a:xfrm>
            <a:off x="228600" y="838200"/>
            <a:ext cx="8720138" cy="5867400"/>
          </a:xfrm>
        </p:spPr>
        <p:txBody>
          <a:bodyPr/>
          <a:lstStyle/>
          <a:p>
            <a:pPr algn="just">
              <a:lnSpc>
                <a:spcPct val="100000"/>
              </a:lnSpc>
            </a:pPr>
            <a:r>
              <a:rPr lang="en-US" sz="3000" dirty="0">
                <a:solidFill>
                  <a:schemeClr val="tx1">
                    <a:lumMod val="40000"/>
                    <a:lumOff val="60000"/>
                  </a:schemeClr>
                </a:solidFill>
              </a:rPr>
              <a:t>Ability to run multiple versions of an application or component on the same computer. </a:t>
            </a:r>
            <a:endParaRPr lang="bg-BG" sz="3000" dirty="0">
              <a:solidFill>
                <a:schemeClr val="tx1">
                  <a:lumMod val="40000"/>
                  <a:lumOff val="60000"/>
                </a:schemeClr>
              </a:solidFill>
            </a:endParaRPr>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32</a:t>
            </a:fld>
            <a:endParaRPr lang="en-US" dirty="0"/>
          </a:p>
        </p:txBody>
      </p:sp>
      <p:pic>
        <p:nvPicPr>
          <p:cNvPr id="1026" name="Picture 2" descr="Side-by-side execution"/>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09600" y="2133600"/>
            <a:ext cx="8001000" cy="4347984"/>
          </a:xfrm>
          <a:prstGeom prst="rect">
            <a:avLst/>
          </a:prstGeom>
          <a:ln>
            <a:noFill/>
          </a:ln>
          <a:effectLst>
            <a:softEdge rad="112500"/>
          </a:effectLst>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073620850"/>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6370" name="Rectangle 2"/>
          <p:cNvSpPr>
            <a:spLocks noGrp="1" noChangeArrowheads="1"/>
          </p:cNvSpPr>
          <p:nvPr>
            <p:ph type="title"/>
          </p:nvPr>
        </p:nvSpPr>
        <p:spPr/>
        <p:txBody>
          <a:bodyPr/>
          <a:lstStyle/>
          <a:p>
            <a:r>
              <a:rPr lang="en-US" dirty="0" smtClean="0"/>
              <a:t>Versioning</a:t>
            </a:r>
            <a:endParaRPr lang="bg-BG" dirty="0"/>
          </a:p>
        </p:txBody>
      </p:sp>
      <p:sp>
        <p:nvSpPr>
          <p:cNvPr id="1466371" name="Rectangle 3"/>
          <p:cNvSpPr>
            <a:spLocks noGrp="1" noChangeArrowheads="1"/>
          </p:cNvSpPr>
          <p:nvPr>
            <p:ph idx="1"/>
          </p:nvPr>
        </p:nvSpPr>
        <p:spPr>
          <a:xfrm>
            <a:off x="228600" y="838200"/>
            <a:ext cx="8720138" cy="5867400"/>
          </a:xfrm>
        </p:spPr>
        <p:txBody>
          <a:bodyPr/>
          <a:lstStyle/>
          <a:p>
            <a:pPr algn="just">
              <a:lnSpc>
                <a:spcPct val="100000"/>
              </a:lnSpc>
            </a:pPr>
            <a:r>
              <a:rPr lang="en-US" sz="3000" dirty="0">
                <a:solidFill>
                  <a:schemeClr val="tx1">
                    <a:lumMod val="40000"/>
                    <a:lumOff val="60000"/>
                  </a:schemeClr>
                </a:solidFill>
              </a:rPr>
              <a:t>Each assembly has a version number as part of its identity. The version number is stored in the assembly manifest along with other identity information like relationships and identities of other assemblies connected with the application.</a:t>
            </a:r>
          </a:p>
          <a:p>
            <a:pPr algn="just">
              <a:lnSpc>
                <a:spcPct val="100000"/>
              </a:lnSpc>
            </a:pPr>
            <a:endParaRPr lang="en-US" sz="3000" dirty="0">
              <a:solidFill>
                <a:schemeClr val="tx1">
                  <a:lumMod val="40000"/>
                  <a:lumOff val="60000"/>
                </a:schemeClr>
              </a:solidFill>
            </a:endParaRPr>
          </a:p>
          <a:p>
            <a:pPr>
              <a:lnSpc>
                <a:spcPct val="100000"/>
              </a:lnSpc>
            </a:pPr>
            <a:r>
              <a:rPr lang="en-US" sz="3000" dirty="0">
                <a:solidFill>
                  <a:schemeClr val="tx1">
                    <a:lumMod val="40000"/>
                    <a:lumOff val="60000"/>
                  </a:schemeClr>
                </a:solidFill>
              </a:rPr>
              <a:t>&lt;major version&gt;.&lt;minor version&gt;.&lt;build number&gt;.&lt;revision&gt; </a:t>
            </a:r>
            <a:endParaRPr lang="en-US" sz="3000" dirty="0" smtClean="0">
              <a:solidFill>
                <a:schemeClr val="tx1">
                  <a:lumMod val="40000"/>
                  <a:lumOff val="60000"/>
                </a:schemeClr>
              </a:solidFill>
            </a:endParaRPr>
          </a:p>
          <a:p>
            <a:pPr>
              <a:lnSpc>
                <a:spcPct val="100000"/>
              </a:lnSpc>
            </a:pPr>
            <a:endParaRPr lang="en-US" sz="3000" dirty="0">
              <a:solidFill>
                <a:schemeClr val="tx1">
                  <a:lumMod val="40000"/>
                  <a:lumOff val="60000"/>
                </a:schemeClr>
              </a:solidFill>
            </a:endParaRPr>
          </a:p>
          <a:p>
            <a:pPr>
              <a:lnSpc>
                <a:spcPct val="100000"/>
              </a:lnSpc>
            </a:pPr>
            <a:r>
              <a:rPr lang="en-US" sz="3000" dirty="0">
                <a:solidFill>
                  <a:schemeClr val="tx1">
                    <a:lumMod val="40000"/>
                    <a:lumOff val="60000"/>
                  </a:schemeClr>
                </a:solidFill>
              </a:rPr>
              <a:t>1.21.123.1</a:t>
            </a:r>
            <a:endParaRPr lang="bg-BG" sz="3000" dirty="0">
              <a:solidFill>
                <a:schemeClr val="tx1">
                  <a:lumMod val="40000"/>
                  <a:lumOff val="60000"/>
                </a:schemeClr>
              </a:solidFill>
            </a:endParaRPr>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33</a:t>
            </a:fld>
            <a:endParaRPr lang="en-US" dirty="0"/>
          </a:p>
        </p:txBody>
      </p:sp>
    </p:spTree>
    <p:extLst>
      <p:ext uri="{BB962C8B-B14F-4D97-AF65-F5344CB8AC3E}">
        <p14:creationId xmlns="" xmlns:p14="http://schemas.microsoft.com/office/powerpoint/2010/main" val="1673435671"/>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010" name="Rectangle 2"/>
          <p:cNvSpPr>
            <a:spLocks noGrp="1" noChangeArrowheads="1"/>
          </p:cNvSpPr>
          <p:nvPr>
            <p:ph type="title"/>
          </p:nvPr>
        </p:nvSpPr>
        <p:spPr/>
        <p:txBody>
          <a:bodyPr/>
          <a:lstStyle/>
          <a:p>
            <a:r>
              <a:rPr lang="en-US" dirty="0" smtClean="0"/>
              <a:t>Metadata in the Assemblies</a:t>
            </a:r>
            <a:endParaRPr lang="en-US" dirty="0"/>
          </a:p>
        </p:txBody>
      </p:sp>
      <p:sp>
        <p:nvSpPr>
          <p:cNvPr id="1579011" name="Rectangle 3"/>
          <p:cNvSpPr>
            <a:spLocks noGrp="1" noChangeArrowheads="1"/>
          </p:cNvSpPr>
          <p:nvPr>
            <p:ph idx="1"/>
          </p:nvPr>
        </p:nvSpPr>
        <p:spPr/>
        <p:txBody>
          <a:bodyPr/>
          <a:lstStyle/>
          <a:p>
            <a:pPr>
              <a:lnSpc>
                <a:spcPct val="100000"/>
              </a:lnSpc>
            </a:pPr>
            <a:r>
              <a:rPr lang="en-US" dirty="0" smtClean="0"/>
              <a:t>Metadata in the .NET assemblies</a:t>
            </a:r>
          </a:p>
          <a:p>
            <a:pPr lvl="1">
              <a:lnSpc>
                <a:spcPct val="100000"/>
              </a:lnSpc>
            </a:pPr>
            <a:r>
              <a:rPr lang="en-US" dirty="0" smtClean="0"/>
              <a:t>Data </a:t>
            </a:r>
            <a:r>
              <a:rPr lang="en-US" dirty="0"/>
              <a:t>about </a:t>
            </a:r>
            <a:r>
              <a:rPr lang="en-US" dirty="0" smtClean="0"/>
              <a:t>data contained in the assembly</a:t>
            </a:r>
            <a:endParaRPr lang="en-US" dirty="0"/>
          </a:p>
          <a:p>
            <a:pPr lvl="1">
              <a:lnSpc>
                <a:spcPct val="100000"/>
              </a:lnSpc>
            </a:pPr>
            <a:r>
              <a:rPr lang="en-US" dirty="0" smtClean="0"/>
              <a:t>Generated </a:t>
            </a:r>
            <a:r>
              <a:rPr lang="en-US" dirty="0"/>
              <a:t>by </a:t>
            </a:r>
            <a:r>
              <a:rPr lang="en-US" dirty="0" smtClean="0"/>
              <a:t>the .NET languages compiler</a:t>
            </a:r>
            <a:endParaRPr lang="en-US" dirty="0"/>
          </a:p>
          <a:p>
            <a:pPr lvl="1">
              <a:lnSpc>
                <a:spcPct val="100000"/>
              </a:lnSpc>
            </a:pPr>
            <a:r>
              <a:rPr lang="en-US" dirty="0"/>
              <a:t>Describes all </a:t>
            </a:r>
            <a:r>
              <a:rPr lang="en-US" dirty="0" smtClean="0"/>
              <a:t>classes, their class members, versions, resources, etc.</a:t>
            </a:r>
            <a:endParaRPr lang="en-US" dirty="0"/>
          </a:p>
        </p:txBody>
      </p:sp>
      <p:pic>
        <p:nvPicPr>
          <p:cNvPr id="45058" name="Picture 2" descr="http://www.jwz.org/xscreensaver/screenshots/abstractile.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981200" y="4953000"/>
            <a:ext cx="5181600" cy="1393902"/>
          </a:xfrm>
          <a:prstGeom prst="roundRect">
            <a:avLst>
              <a:gd name="adj" fmla="val 6821"/>
            </a:avLst>
          </a:prstGeom>
          <a:noFill/>
          <a:ln>
            <a:solidFill>
              <a:srgbClr val="FFFF00">
                <a:alpha val="25000"/>
              </a:srgbClr>
            </a:solidFill>
          </a:ln>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34</a:t>
            </a:fld>
            <a:endParaRPr lang="en-US" dirty="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8418" name="Rectangle 2"/>
          <p:cNvSpPr>
            <a:spLocks noGrp="1" noChangeArrowheads="1"/>
          </p:cNvSpPr>
          <p:nvPr>
            <p:ph type="title"/>
          </p:nvPr>
        </p:nvSpPr>
        <p:spPr/>
        <p:txBody>
          <a:bodyPr/>
          <a:lstStyle/>
          <a:p>
            <a:r>
              <a:rPr lang="en-US"/>
              <a:t>Metadata in Assemblies</a:t>
            </a:r>
            <a:endParaRPr lang="bg-BG"/>
          </a:p>
        </p:txBody>
      </p:sp>
      <p:grpSp>
        <p:nvGrpSpPr>
          <p:cNvPr id="16" name="Group 15"/>
          <p:cNvGrpSpPr/>
          <p:nvPr/>
        </p:nvGrpSpPr>
        <p:grpSpPr>
          <a:xfrm>
            <a:off x="2097592" y="1030792"/>
            <a:ext cx="4954676" cy="5460441"/>
            <a:chOff x="2209800" y="1030792"/>
            <a:chExt cx="4954676" cy="5460441"/>
          </a:xfrm>
        </p:grpSpPr>
        <p:sp>
          <p:nvSpPr>
            <p:cNvPr id="1468419" name="Rectangle 3"/>
            <p:cNvSpPr>
              <a:spLocks noChangeArrowheads="1"/>
            </p:cNvSpPr>
            <p:nvPr/>
          </p:nvSpPr>
          <p:spPr bwMode="auto">
            <a:xfrm>
              <a:off x="2209800" y="1030792"/>
              <a:ext cx="4954676" cy="546044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noAutofit/>
            </a:bodyPr>
            <a:lstStyle/>
            <a:p>
              <a:pPr eaLnBrk="0" hangingPunct="0">
                <a:lnSpc>
                  <a:spcPct val="100000"/>
                </a:lnSpc>
                <a:spcBef>
                  <a:spcPts val="0"/>
                </a:spcBef>
                <a:buClr>
                  <a:schemeClr val="accent5">
                    <a:lumMod val="40000"/>
                    <a:lumOff val="60000"/>
                  </a:schemeClr>
                </a:buClr>
                <a:buSzPct val="70000"/>
              </a:pPr>
              <a:endParaRPr lang="bg-BG"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1468420" name="Text Box 4"/>
            <p:cNvSpPr txBox="1">
              <a:spLocks noChangeArrowheads="1"/>
            </p:cNvSpPr>
            <p:nvPr/>
          </p:nvSpPr>
          <p:spPr bwMode="auto">
            <a:xfrm>
              <a:off x="2365375" y="1106992"/>
              <a:ext cx="2228239" cy="430887"/>
            </a:xfrm>
            <a:prstGeom prst="rect">
              <a:avLst/>
            </a:prstGeom>
            <a:noFill/>
            <a:ln w="9525">
              <a:noFill/>
              <a:miter lim="800000"/>
              <a:headEnd/>
              <a:tailEnd/>
            </a:ln>
            <a:effectLst/>
          </p:spPr>
          <p:txBody>
            <a:bodyPr wrap="none">
              <a:spAutoFit/>
            </a:bodyPr>
            <a:lstStyle/>
            <a:p>
              <a:pPr>
                <a:lnSpc>
                  <a:spcPct val="100000"/>
                </a:lnSpc>
              </a:pPr>
              <a:r>
                <a:rPr kumimoji="0" lang="en-US" sz="2200" b="1" dirty="0">
                  <a:solidFill>
                    <a:schemeClr val="tx1">
                      <a:lumMod val="40000"/>
                      <a:lumOff val="60000"/>
                    </a:schemeClr>
                  </a:solidFill>
                  <a:effectLst>
                    <a:outerShdw blurRad="38100" dist="38100" dir="2700000" algn="tl">
                      <a:srgbClr val="000000">
                        <a:alpha val="43137"/>
                      </a:srgbClr>
                    </a:outerShdw>
                  </a:effectLst>
                </a:rPr>
                <a:t>Type Description</a:t>
              </a:r>
              <a:endParaRPr kumimoji="0" lang="en-GB" sz="2200" b="1" dirty="0">
                <a:solidFill>
                  <a:schemeClr val="tx1">
                    <a:lumMod val="40000"/>
                    <a:lumOff val="60000"/>
                  </a:schemeClr>
                </a:solidFill>
                <a:effectLst>
                  <a:outerShdw blurRad="38100" dist="38100" dir="2700000" algn="tl">
                    <a:srgbClr val="000000">
                      <a:alpha val="43137"/>
                    </a:srgbClr>
                  </a:outerShdw>
                </a:effectLst>
              </a:endParaRPr>
            </a:p>
          </p:txBody>
        </p:sp>
        <p:sp>
          <p:nvSpPr>
            <p:cNvPr id="1468423" name="Text Box 7"/>
            <p:cNvSpPr txBox="1">
              <a:spLocks noChangeArrowheads="1"/>
            </p:cNvSpPr>
            <p:nvPr/>
          </p:nvSpPr>
          <p:spPr bwMode="auto">
            <a:xfrm>
              <a:off x="2362200" y="3447881"/>
              <a:ext cx="2824812" cy="430887"/>
            </a:xfrm>
            <a:prstGeom prst="rect">
              <a:avLst/>
            </a:prstGeom>
            <a:noFill/>
            <a:ln w="9525">
              <a:noFill/>
              <a:miter lim="800000"/>
              <a:headEnd/>
              <a:tailEnd/>
            </a:ln>
            <a:effectLst/>
          </p:spPr>
          <p:txBody>
            <a:bodyPr wrap="none">
              <a:spAutoFit/>
            </a:bodyPr>
            <a:lstStyle/>
            <a:p>
              <a:pPr>
                <a:lnSpc>
                  <a:spcPct val="100000"/>
                </a:lnSpc>
              </a:pPr>
              <a:r>
                <a:rPr kumimoji="0" lang="en-US" sz="2200" b="1" dirty="0">
                  <a:solidFill>
                    <a:schemeClr val="tx1">
                      <a:lumMod val="40000"/>
                      <a:lumOff val="60000"/>
                    </a:schemeClr>
                  </a:solidFill>
                  <a:effectLst>
                    <a:outerShdw blurRad="38100" dist="38100" dir="2700000" algn="tl">
                      <a:srgbClr val="000000">
                        <a:alpha val="43137"/>
                      </a:srgbClr>
                    </a:outerShdw>
                  </a:effectLst>
                </a:rPr>
                <a:t>Assembly Description</a:t>
              </a:r>
              <a:endParaRPr kumimoji="0" lang="en-GB" sz="2200" b="1" dirty="0">
                <a:solidFill>
                  <a:schemeClr val="tx1">
                    <a:lumMod val="40000"/>
                    <a:lumOff val="60000"/>
                  </a:schemeClr>
                </a:solidFill>
                <a:effectLst>
                  <a:outerShdw blurRad="38100" dist="38100" dir="2700000" algn="tl">
                    <a:srgbClr val="000000">
                      <a:alpha val="43137"/>
                    </a:srgbClr>
                  </a:outerShdw>
                </a:effectLst>
              </a:endParaRPr>
            </a:p>
          </p:txBody>
        </p:sp>
        <p:sp>
          <p:nvSpPr>
            <p:cNvPr id="11" name="Rounded Rectangle 10"/>
            <p:cNvSpPr/>
            <p:nvPr/>
          </p:nvSpPr>
          <p:spPr>
            <a:xfrm>
              <a:off x="2487612" y="1611816"/>
              <a:ext cx="4419600" cy="1752600"/>
            </a:xfrm>
            <a:prstGeom prst="roundRect">
              <a:avLst>
                <a:gd name="adj" fmla="val 5277"/>
              </a:avLst>
            </a:prstGeom>
            <a:gradFill flip="none" rotWithShape="1">
              <a:gsLst>
                <a:gs pos="0">
                  <a:schemeClr val="accent5">
                    <a:lumMod val="20000"/>
                    <a:lumOff val="80000"/>
                  </a:schemeClr>
                </a:gs>
                <a:gs pos="39999">
                  <a:schemeClr val="tx2">
                    <a:lumMod val="60000"/>
                    <a:lumOff val="40000"/>
                  </a:schemeClr>
                </a:gs>
                <a:gs pos="100000">
                  <a:schemeClr val="tx2">
                    <a:lumMod val="75000"/>
                  </a:schemeClr>
                </a:gs>
              </a:gsLst>
              <a:lin ang="4800000" scaled="0"/>
              <a:tileRect/>
            </a:gradFill>
            <a:ln>
              <a:noFill/>
            </a:ln>
            <a:effectLst>
              <a:outerShdw blurRad="50800" dist="38100" dir="2700000" algn="tl" rotWithShape="0">
                <a:schemeClr val="bg2">
                  <a:lumMod val="60000"/>
                  <a:lumOff val="40000"/>
                  <a:alpha val="40000"/>
                </a:schemeClr>
              </a:outerShdw>
            </a:effectLst>
            <a:scene3d>
              <a:camera prst="orthographicFront"/>
              <a:lightRig rig="threePt" dir="t"/>
            </a:scene3d>
            <a:sp3d extrusionH="76200" contourW="12700">
              <a:bevelT/>
              <a:extrusionClr>
                <a:schemeClr val="accent5">
                  <a:lumMod val="20000"/>
                  <a:lumOff val="80000"/>
                </a:schemeClr>
              </a:extrusionClr>
              <a:contourClr>
                <a:schemeClr val="bg2">
                  <a:lumMod val="40000"/>
                  <a:lumOff val="60000"/>
                </a:schemeClr>
              </a:contourClr>
            </a:sp3d>
          </p:spPr>
          <p:style>
            <a:lnRef idx="2">
              <a:scrgbClr r="0" g="0" b="0"/>
            </a:lnRef>
            <a:fillRef idx="1">
              <a:scrgbClr r="0" g="0" b="0"/>
            </a:fillRef>
            <a:effectRef idx="0">
              <a:scrgbClr r="0" g="0" b="0"/>
            </a:effectRef>
            <a:fontRef idx="minor">
              <a:schemeClr val="dk1">
                <a:hueOff val="0"/>
                <a:satOff val="0"/>
                <a:lumOff val="0"/>
                <a:alphaOff val="0"/>
              </a:schemeClr>
            </a:fontRef>
          </p:style>
          <p:txBody>
            <a:bodyPr/>
            <a:lstStyle/>
            <a:p>
              <a:r>
                <a:rPr lang="en-US" sz="2000" b="1" dirty="0" smtClean="0"/>
                <a:t>Classes, interfaces, inner types, base classes, implemented interfaces, member fields,  properties, methods, method parameters, return value,</a:t>
              </a:r>
            </a:p>
            <a:p>
              <a:r>
                <a:rPr lang="en-US" sz="2000" b="1" dirty="0" smtClean="0"/>
                <a:t>attributes, etc.</a:t>
              </a:r>
              <a:endParaRPr lang="en-US" sz="2000" b="1" dirty="0"/>
            </a:p>
          </p:txBody>
        </p:sp>
        <p:sp>
          <p:nvSpPr>
            <p:cNvPr id="13" name="Rounded Rectangle 12"/>
            <p:cNvSpPr/>
            <p:nvPr/>
          </p:nvSpPr>
          <p:spPr>
            <a:xfrm>
              <a:off x="2487612" y="3954967"/>
              <a:ext cx="4419600" cy="2355397"/>
            </a:xfrm>
            <a:prstGeom prst="roundRect">
              <a:avLst>
                <a:gd name="adj" fmla="val 5277"/>
              </a:avLst>
            </a:prstGeom>
            <a:gradFill flip="none" rotWithShape="1">
              <a:gsLst>
                <a:gs pos="0">
                  <a:schemeClr val="accent5">
                    <a:lumMod val="20000"/>
                    <a:lumOff val="80000"/>
                  </a:schemeClr>
                </a:gs>
                <a:gs pos="39999">
                  <a:schemeClr val="tx2">
                    <a:lumMod val="60000"/>
                    <a:lumOff val="40000"/>
                  </a:schemeClr>
                </a:gs>
                <a:gs pos="100000">
                  <a:schemeClr val="tx2">
                    <a:lumMod val="75000"/>
                  </a:schemeClr>
                </a:gs>
              </a:gsLst>
              <a:lin ang="4800000" scaled="0"/>
              <a:tileRect/>
            </a:gradFill>
            <a:ln>
              <a:noFill/>
            </a:ln>
            <a:effectLst>
              <a:outerShdw blurRad="50800" dist="38100" dir="2700000" algn="tl" rotWithShape="0">
                <a:schemeClr val="bg2">
                  <a:lumMod val="60000"/>
                  <a:lumOff val="40000"/>
                  <a:alpha val="40000"/>
                </a:schemeClr>
              </a:outerShdw>
            </a:effectLst>
            <a:scene3d>
              <a:camera prst="orthographicFront"/>
              <a:lightRig rig="threePt" dir="t"/>
            </a:scene3d>
            <a:sp3d extrusionH="76200" contourW="12700">
              <a:bevelT/>
              <a:extrusionClr>
                <a:schemeClr val="accent5">
                  <a:lumMod val="20000"/>
                  <a:lumOff val="80000"/>
                </a:schemeClr>
              </a:extrusionClr>
              <a:contourClr>
                <a:schemeClr val="bg2">
                  <a:lumMod val="40000"/>
                  <a:lumOff val="60000"/>
                </a:schemeClr>
              </a:contourClr>
            </a:sp3d>
          </p:spPr>
          <p:style>
            <a:lnRef idx="2">
              <a:scrgbClr r="0" g="0" b="0"/>
            </a:lnRef>
            <a:fillRef idx="1">
              <a:scrgbClr r="0" g="0" b="0"/>
            </a:fillRef>
            <a:effectRef idx="0">
              <a:scrgbClr r="0" g="0" b="0"/>
            </a:effectRef>
            <a:fontRef idx="minor">
              <a:schemeClr val="dk1">
                <a:hueOff val="0"/>
                <a:satOff val="0"/>
                <a:lumOff val="0"/>
                <a:alphaOff val="0"/>
              </a:schemeClr>
            </a:fontRef>
          </p:style>
          <p:txBody>
            <a:bodyPr/>
            <a:lstStyle/>
            <a:p>
              <a:pPr indent="90488"/>
              <a:endParaRPr lang="bg-BG" sz="2000" b="1" dirty="0" smtClean="0"/>
            </a:p>
          </p:txBody>
        </p:sp>
        <p:sp>
          <p:nvSpPr>
            <p:cNvPr id="15" name="Rounded Rectangle 14"/>
            <p:cNvSpPr/>
            <p:nvPr/>
          </p:nvSpPr>
          <p:spPr>
            <a:xfrm>
              <a:off x="2667000" y="5141408"/>
              <a:ext cx="4038600" cy="990600"/>
            </a:xfrm>
            <a:prstGeom prst="roundRect">
              <a:avLst/>
            </a:prstGeom>
            <a:gradFill rotWithShape="1">
              <a:gsLst>
                <a:gs pos="0">
                  <a:srgbClr val="808000"/>
                </a:gs>
                <a:gs pos="100000">
                  <a:srgbClr val="808000">
                    <a:gamma/>
                    <a:tint val="73725"/>
                    <a:invGamma/>
                  </a:srgbClr>
                </a:gs>
              </a:gsLst>
              <a:lin ang="2700000" scaled="1"/>
            </a:gradFill>
            <a:ln w="9525">
              <a:noFill/>
              <a:miter lim="800000"/>
              <a:headEnd/>
              <a:tailEnd/>
            </a:ln>
            <a:effectLst>
              <a:prstShdw prst="shdw17" dist="17961" dir="2700000">
                <a:srgbClr val="808000">
                  <a:gamma/>
                  <a:shade val="60000"/>
                  <a:invGamma/>
                </a:srgbClr>
              </a:prstShdw>
            </a:effectLst>
          </p:spPr>
          <p:txBody>
            <a:bodyPr wrap="none"/>
            <a:lstStyle/>
            <a:p>
              <a:pPr>
                <a:lnSpc>
                  <a:spcPct val="100000"/>
                </a:lnSpc>
              </a:pPr>
              <a:r>
                <a:rPr lang="en-US" sz="1800" b="1" dirty="0" smtClean="0">
                  <a:solidFill>
                    <a:srgbClr val="FFFFFF"/>
                  </a:solidFill>
                  <a:effectLst>
                    <a:outerShdw blurRad="38100" dist="38100" dir="2700000" algn="tl">
                      <a:srgbClr val="000000">
                        <a:alpha val="43137"/>
                      </a:srgbClr>
                    </a:outerShdw>
                  </a:effectLst>
                </a:rPr>
                <a:t>Dependencies on other assemblies</a:t>
              </a:r>
              <a:endParaRPr lang="bg-BG" sz="1800" b="1" dirty="0" smtClean="0">
                <a:solidFill>
                  <a:srgbClr val="FFFFFF"/>
                </a:solidFill>
                <a:effectLst>
                  <a:outerShdw blurRad="38100" dist="38100" dir="2700000" algn="tl">
                    <a:srgbClr val="000000">
                      <a:alpha val="43137"/>
                    </a:srgbClr>
                  </a:outerShdw>
                </a:effectLst>
              </a:endParaRPr>
            </a:p>
            <a:p>
              <a:pPr>
                <a:lnSpc>
                  <a:spcPct val="100000"/>
                </a:lnSpc>
              </a:pPr>
              <a:r>
                <a:rPr lang="en-US" sz="1800" b="1" dirty="0" smtClean="0">
                  <a:solidFill>
                    <a:srgbClr val="FFFFFF"/>
                  </a:solidFill>
                  <a:effectLst>
                    <a:outerShdw blurRad="38100" dist="38100" dir="2700000" algn="tl">
                      <a:srgbClr val="000000">
                        <a:alpha val="43137"/>
                      </a:srgbClr>
                    </a:outerShdw>
                  </a:effectLst>
                </a:rPr>
                <a:t>Security</a:t>
              </a:r>
              <a:r>
                <a:rPr lang="en-GB" sz="1800" b="1" dirty="0" smtClean="0">
                  <a:solidFill>
                    <a:srgbClr val="FFFFFF"/>
                  </a:solidFill>
                  <a:effectLst>
                    <a:outerShdw blurRad="38100" dist="38100" dir="2700000" algn="tl">
                      <a:srgbClr val="000000">
                        <a:alpha val="43137"/>
                      </a:srgbClr>
                    </a:outerShdw>
                  </a:effectLst>
                </a:rPr>
                <a:t> permissions</a:t>
              </a:r>
            </a:p>
            <a:p>
              <a:pPr>
                <a:lnSpc>
                  <a:spcPct val="100000"/>
                </a:lnSpc>
              </a:pPr>
              <a:r>
                <a:rPr lang="en-US" sz="1800" b="1" dirty="0" smtClean="0">
                  <a:solidFill>
                    <a:srgbClr val="FFFFFF"/>
                  </a:solidFill>
                  <a:effectLst>
                    <a:outerShdw blurRad="38100" dist="38100" dir="2700000" algn="tl">
                      <a:srgbClr val="000000">
                        <a:alpha val="43137"/>
                      </a:srgbClr>
                    </a:outerShdw>
                  </a:effectLst>
                </a:rPr>
                <a:t>Exported types</a:t>
              </a:r>
              <a:endParaRPr lang="en-GB" sz="1800" b="1" dirty="0">
                <a:solidFill>
                  <a:srgbClr val="FFFFFF"/>
                </a:solidFill>
                <a:effectLst>
                  <a:outerShdw blurRad="38100" dist="38100" dir="2700000" algn="tl">
                    <a:srgbClr val="000000">
                      <a:alpha val="43137"/>
                    </a:srgbClr>
                  </a:outerShdw>
                </a:effectLst>
              </a:endParaRPr>
            </a:p>
          </p:txBody>
        </p:sp>
      </p:grpSp>
      <p:grpSp>
        <p:nvGrpSpPr>
          <p:cNvPr id="20" name="Group 19"/>
          <p:cNvGrpSpPr/>
          <p:nvPr/>
        </p:nvGrpSpPr>
        <p:grpSpPr>
          <a:xfrm>
            <a:off x="4916992" y="4094704"/>
            <a:ext cx="1676400" cy="914400"/>
            <a:chOff x="4876800" y="4114800"/>
            <a:chExt cx="1676400" cy="914400"/>
          </a:xfrm>
        </p:grpSpPr>
        <p:sp>
          <p:nvSpPr>
            <p:cNvPr id="18" name="Rounded Rectangle 17"/>
            <p:cNvSpPr/>
            <p:nvPr/>
          </p:nvSpPr>
          <p:spPr>
            <a:xfrm>
              <a:off x="4876800" y="4114800"/>
              <a:ext cx="1676400" cy="914400"/>
            </a:xfrm>
            <a:prstGeom prst="roundRect">
              <a:avLst/>
            </a:prstGeom>
            <a:gradFill rotWithShape="1">
              <a:gsLst>
                <a:gs pos="0">
                  <a:srgbClr val="808000"/>
                </a:gs>
                <a:gs pos="100000">
                  <a:srgbClr val="808000">
                    <a:gamma/>
                    <a:tint val="73725"/>
                    <a:invGamma/>
                  </a:srgbClr>
                </a:gs>
              </a:gsLst>
              <a:lin ang="2700000" scaled="1"/>
            </a:gradFill>
            <a:ln w="9525">
              <a:noFill/>
              <a:miter lim="800000"/>
              <a:headEnd/>
              <a:tailEnd/>
            </a:ln>
            <a:effectLst>
              <a:prstShdw prst="shdw17" dist="17961" dir="2700000">
                <a:srgbClr val="808000">
                  <a:gamma/>
                  <a:shade val="60000"/>
                  <a:invGamma/>
                </a:srgbClr>
              </a:prstShdw>
            </a:effectLst>
          </p:spPr>
          <p:txBody>
            <a:bodyPr wrap="none" tIns="180000"/>
            <a:lstStyle/>
            <a:p>
              <a:pPr>
                <a:lnSpc>
                  <a:spcPts val="2200"/>
                </a:lnSpc>
                <a:spcBef>
                  <a:spcPts val="0"/>
                </a:spcBef>
              </a:pPr>
              <a:r>
                <a:rPr lang="en-US" sz="1800" b="1" dirty="0" smtClean="0">
                  <a:solidFill>
                    <a:srgbClr val="FFFFFF"/>
                  </a:solidFill>
                  <a:effectLst>
                    <a:outerShdw blurRad="38100" dist="38100" dir="2700000" algn="tl">
                      <a:srgbClr val="000000">
                        <a:alpha val="43137"/>
                      </a:srgbClr>
                    </a:outerShdw>
                  </a:effectLst>
                </a:rPr>
                <a:t>[digital</a:t>
              </a:r>
            </a:p>
            <a:p>
              <a:pPr>
                <a:lnSpc>
                  <a:spcPts val="2200"/>
                </a:lnSpc>
                <a:spcBef>
                  <a:spcPts val="0"/>
                </a:spcBef>
              </a:pPr>
              <a:r>
                <a:rPr lang="en-US" sz="1800" b="1" dirty="0" smtClean="0">
                  <a:solidFill>
                    <a:srgbClr val="FFFFFF"/>
                  </a:solidFill>
                  <a:effectLst>
                    <a:outerShdw blurRad="38100" dist="38100" dir="2700000" algn="tl">
                      <a:srgbClr val="000000">
                        <a:alpha val="43137"/>
                      </a:srgbClr>
                    </a:outerShdw>
                  </a:effectLst>
                </a:rPr>
                <a:t>signature]</a:t>
              </a:r>
              <a:endParaRPr lang="en-GB" sz="1800" b="1" dirty="0">
                <a:solidFill>
                  <a:srgbClr val="FFFFFF"/>
                </a:solidFill>
                <a:effectLst>
                  <a:outerShdw blurRad="38100" dist="38100" dir="2700000" algn="tl">
                    <a:srgbClr val="000000">
                      <a:alpha val="43137"/>
                    </a:srgbClr>
                  </a:outerShdw>
                </a:effectLst>
              </a:endParaRPr>
            </a:p>
          </p:txBody>
        </p:sp>
        <p:pic>
          <p:nvPicPr>
            <p:cNvPr id="48131" name="Picture 3" descr="C:\Trash\lock.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116096" y="4211096"/>
              <a:ext cx="319668" cy="409575"/>
            </a:xfrm>
            <a:prstGeom prst="rect">
              <a:avLst/>
            </a:prstGeom>
            <a:noFill/>
          </p:spPr>
        </p:pic>
      </p:grpSp>
      <p:sp>
        <p:nvSpPr>
          <p:cNvPr id="19" name="Rounded Rectangle 18"/>
          <p:cNvSpPr/>
          <p:nvPr/>
        </p:nvSpPr>
        <p:spPr>
          <a:xfrm>
            <a:off x="2554792" y="4094704"/>
            <a:ext cx="2209800" cy="914400"/>
          </a:xfrm>
          <a:prstGeom prst="roundRect">
            <a:avLst/>
          </a:prstGeom>
          <a:gradFill rotWithShape="1">
            <a:gsLst>
              <a:gs pos="0">
                <a:srgbClr val="808000"/>
              </a:gs>
              <a:gs pos="100000">
                <a:srgbClr val="808000">
                  <a:gamma/>
                  <a:tint val="73725"/>
                  <a:invGamma/>
                </a:srgbClr>
              </a:gs>
            </a:gsLst>
            <a:lin ang="2700000" scaled="1"/>
          </a:gradFill>
          <a:ln w="9525">
            <a:noFill/>
            <a:miter lim="800000"/>
            <a:headEnd/>
            <a:tailEnd/>
          </a:ln>
          <a:effectLst>
            <a:prstShdw prst="shdw17" dist="17961" dir="2700000">
              <a:srgbClr val="808000">
                <a:gamma/>
                <a:shade val="60000"/>
                <a:invGamma/>
              </a:srgbClr>
            </a:prstShdw>
          </a:effectLst>
        </p:spPr>
        <p:txBody>
          <a:bodyPr wrap="none" tIns="0" bIns="36000"/>
          <a:lstStyle/>
          <a:p>
            <a:pPr>
              <a:lnSpc>
                <a:spcPts val="2200"/>
              </a:lnSpc>
              <a:spcBef>
                <a:spcPts val="0"/>
              </a:spcBef>
            </a:pPr>
            <a:r>
              <a:rPr lang="en-US" sz="1800" b="1" dirty="0" smtClean="0">
                <a:solidFill>
                  <a:srgbClr val="FFFFFF"/>
                </a:solidFill>
                <a:effectLst>
                  <a:outerShdw blurRad="38100" dist="38100" dir="2700000" algn="tl">
                    <a:srgbClr val="000000">
                      <a:alpha val="43137"/>
                    </a:srgbClr>
                  </a:outerShdw>
                </a:effectLst>
              </a:rPr>
              <a:t>Name</a:t>
            </a:r>
          </a:p>
          <a:p>
            <a:pPr>
              <a:lnSpc>
                <a:spcPts val="2200"/>
              </a:lnSpc>
              <a:spcBef>
                <a:spcPts val="0"/>
              </a:spcBef>
            </a:pPr>
            <a:r>
              <a:rPr lang="en-US" sz="1800" b="1" dirty="0" smtClean="0">
                <a:solidFill>
                  <a:srgbClr val="FFFFFF"/>
                </a:solidFill>
                <a:effectLst>
                  <a:outerShdw blurRad="38100" dist="38100" dir="2700000" algn="tl">
                    <a:srgbClr val="000000">
                      <a:alpha val="43137"/>
                    </a:srgbClr>
                  </a:outerShdw>
                </a:effectLst>
              </a:rPr>
              <a:t>Version</a:t>
            </a:r>
          </a:p>
          <a:p>
            <a:pPr>
              <a:lnSpc>
                <a:spcPts val="2200"/>
              </a:lnSpc>
              <a:spcBef>
                <a:spcPts val="0"/>
              </a:spcBef>
            </a:pPr>
            <a:r>
              <a:rPr lang="en-US" sz="1800" b="1" dirty="0" smtClean="0">
                <a:solidFill>
                  <a:srgbClr val="FFFFFF"/>
                </a:solidFill>
                <a:effectLst>
                  <a:outerShdw blurRad="38100" dist="38100" dir="2700000" algn="tl">
                    <a:srgbClr val="000000">
                      <a:alpha val="43137"/>
                    </a:srgbClr>
                  </a:outerShdw>
                </a:effectLst>
              </a:rPr>
              <a:t>Localization</a:t>
            </a:r>
          </a:p>
        </p:txBody>
      </p:sp>
      <p:sp>
        <p:nvSpPr>
          <p:cNvPr id="1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35</a:t>
            </a:fld>
            <a:endParaRPr lang="en-US" dirty="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010" name="Rectangle 2"/>
          <p:cNvSpPr>
            <a:spLocks noGrp="1" noChangeArrowheads="1"/>
          </p:cNvSpPr>
          <p:nvPr>
            <p:ph type="title"/>
          </p:nvPr>
        </p:nvSpPr>
        <p:spPr/>
        <p:txBody>
          <a:bodyPr/>
          <a:lstStyle/>
          <a:p>
            <a:r>
              <a:rPr lang="en-US" dirty="0"/>
              <a:t>Global Assembly Cache</a:t>
            </a:r>
          </a:p>
        </p:txBody>
      </p:sp>
      <p:sp>
        <p:nvSpPr>
          <p:cNvPr id="1579011" name="Rectangle 3"/>
          <p:cNvSpPr>
            <a:spLocks noGrp="1" noChangeArrowheads="1"/>
          </p:cNvSpPr>
          <p:nvPr>
            <p:ph idx="1"/>
          </p:nvPr>
        </p:nvSpPr>
        <p:spPr/>
        <p:txBody>
          <a:bodyPr/>
          <a:lstStyle/>
          <a:p>
            <a:pPr algn="just">
              <a:lnSpc>
                <a:spcPct val="100000"/>
              </a:lnSpc>
            </a:pPr>
            <a:r>
              <a:rPr lang="en-US" dirty="0"/>
              <a:t>Assemblies can be either private or shared. </a:t>
            </a:r>
            <a:endParaRPr lang="en-US" dirty="0" smtClean="0"/>
          </a:p>
          <a:p>
            <a:pPr algn="just">
              <a:lnSpc>
                <a:spcPct val="100000"/>
              </a:lnSpc>
            </a:pPr>
            <a:r>
              <a:rPr lang="en-US" dirty="0" smtClean="0"/>
              <a:t>By </a:t>
            </a:r>
            <a:r>
              <a:rPr lang="en-US" dirty="0"/>
              <a:t>default, assemblies are private, and types contained within those assemblies are only available to applications in the same directory as the assembly. </a:t>
            </a:r>
            <a:endParaRPr lang="en-US" dirty="0" smtClean="0"/>
          </a:p>
          <a:p>
            <a:pPr algn="just">
              <a:lnSpc>
                <a:spcPct val="100000"/>
              </a:lnSpc>
            </a:pPr>
            <a:r>
              <a:rPr lang="en-US" dirty="0" smtClean="0"/>
              <a:t>But </a:t>
            </a:r>
            <a:r>
              <a:rPr lang="en-US" dirty="0"/>
              <a:t>every computer with the .NET Framework installed also has a global assembly cache (GAC) containing assemblies that are designed to be shared by multiple </a:t>
            </a:r>
            <a:r>
              <a:rPr lang="en-US" dirty="0" smtClean="0"/>
              <a:t>applications.</a:t>
            </a:r>
            <a:endParaRPr lang="en-US" dirty="0"/>
          </a:p>
        </p:txBody>
      </p:sp>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36</a:t>
            </a:fld>
            <a:endParaRPr lang="en-US" dirty="0"/>
          </a:p>
        </p:txBody>
      </p:sp>
    </p:spTree>
    <p:extLst>
      <p:ext uri="{BB962C8B-B14F-4D97-AF65-F5344CB8AC3E}">
        <p14:creationId xmlns="" xmlns:p14="http://schemas.microsoft.com/office/powerpoint/2010/main" val="3388121801"/>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2450" name="Rectangle 2"/>
          <p:cNvSpPr>
            <a:spLocks noGrp="1" noChangeArrowheads="1"/>
          </p:cNvSpPr>
          <p:nvPr>
            <p:ph type="title"/>
          </p:nvPr>
        </p:nvSpPr>
        <p:spPr/>
        <p:txBody>
          <a:bodyPr/>
          <a:lstStyle/>
          <a:p>
            <a:r>
              <a:rPr lang="bg-BG" dirty="0"/>
              <a:t>.</a:t>
            </a:r>
            <a:r>
              <a:rPr lang="en-US" dirty="0"/>
              <a:t>NET</a:t>
            </a:r>
            <a:r>
              <a:rPr lang="bg-BG" dirty="0"/>
              <a:t> </a:t>
            </a:r>
            <a:r>
              <a:rPr lang="en-US" dirty="0"/>
              <a:t>Applications</a:t>
            </a:r>
            <a:endParaRPr lang="bg-BG" dirty="0"/>
          </a:p>
        </p:txBody>
      </p:sp>
      <p:sp>
        <p:nvSpPr>
          <p:cNvPr id="1512451" name="Rectangle 3"/>
          <p:cNvSpPr>
            <a:spLocks noGrp="1" noChangeArrowheads="1"/>
          </p:cNvSpPr>
          <p:nvPr>
            <p:ph idx="1"/>
          </p:nvPr>
        </p:nvSpPr>
        <p:spPr/>
        <p:txBody>
          <a:bodyPr/>
          <a:lstStyle/>
          <a:p>
            <a:pPr>
              <a:lnSpc>
                <a:spcPct val="100000"/>
              </a:lnSpc>
            </a:pPr>
            <a:r>
              <a:rPr lang="en-US" dirty="0" smtClean="0"/>
              <a:t>Configurable </a:t>
            </a:r>
            <a:r>
              <a:rPr lang="en-US" dirty="0"/>
              <a:t>executable </a:t>
            </a:r>
            <a:r>
              <a:rPr lang="en-US" dirty="0" smtClean="0"/>
              <a:t>.NET units</a:t>
            </a:r>
            <a:endParaRPr lang="bg-BG" dirty="0"/>
          </a:p>
          <a:p>
            <a:pPr>
              <a:lnSpc>
                <a:spcPct val="100000"/>
              </a:lnSpc>
            </a:pPr>
            <a:r>
              <a:rPr lang="en-US" dirty="0"/>
              <a:t>Consist of one or more assemblies</a:t>
            </a:r>
          </a:p>
          <a:p>
            <a:pPr>
              <a:lnSpc>
                <a:spcPct val="100000"/>
              </a:lnSpc>
            </a:pPr>
            <a:r>
              <a:rPr lang="en-US" dirty="0"/>
              <a:t>Installed by </a:t>
            </a:r>
            <a:r>
              <a:rPr lang="en-US" dirty="0" smtClean="0"/>
              <a:t>"copy / paste"</a:t>
            </a:r>
          </a:p>
          <a:p>
            <a:pPr lvl="1">
              <a:lnSpc>
                <a:spcPct val="100000"/>
              </a:lnSpc>
            </a:pPr>
            <a:r>
              <a:rPr lang="en-US" dirty="0" smtClean="0"/>
              <a:t>No </a:t>
            </a:r>
            <a:r>
              <a:rPr lang="en-US" dirty="0"/>
              <a:t>complex registration of </a:t>
            </a:r>
            <a:r>
              <a:rPr lang="en-US" dirty="0" smtClean="0"/>
              <a:t>components</a:t>
            </a:r>
          </a:p>
          <a:p>
            <a:pPr>
              <a:lnSpc>
                <a:spcPct val="100000"/>
              </a:lnSpc>
            </a:pPr>
            <a:r>
              <a:rPr lang="en-US" dirty="0" smtClean="0"/>
              <a:t>Different </a:t>
            </a:r>
            <a:r>
              <a:rPr lang="en-US" dirty="0"/>
              <a:t>applications use different versions of common assemblies</a:t>
            </a:r>
            <a:endParaRPr lang="bg-BG" dirty="0"/>
          </a:p>
          <a:p>
            <a:pPr lvl="1">
              <a:lnSpc>
                <a:spcPct val="100000"/>
              </a:lnSpc>
            </a:pPr>
            <a:r>
              <a:rPr lang="en-US" dirty="0"/>
              <a:t>No </a:t>
            </a:r>
            <a:r>
              <a:rPr lang="en-US" dirty="0" smtClean="0"/>
              <a:t>conflicts due to their "strong name"</a:t>
            </a:r>
            <a:endParaRPr lang="bg-BG" dirty="0"/>
          </a:p>
          <a:p>
            <a:pPr>
              <a:lnSpc>
                <a:spcPct val="100000"/>
              </a:lnSpc>
            </a:pPr>
            <a:r>
              <a:rPr lang="en-US" dirty="0"/>
              <a:t>Easy installation</a:t>
            </a:r>
            <a:r>
              <a:rPr lang="bg-BG" dirty="0"/>
              <a:t>, </a:t>
            </a:r>
            <a:r>
              <a:rPr lang="en-US" dirty="0" smtClean="0"/>
              <a:t>un-installation and </a:t>
            </a:r>
            <a:r>
              <a:rPr lang="en-US" dirty="0"/>
              <a:t>update</a:t>
            </a:r>
            <a:endParaRPr lang="bg-BG"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37</a:t>
            </a:fld>
            <a:endParaRPr lang="en-US" dirty="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http://www.bull.us/bull_services/outsourcing/profserv/infrastructure.gif"/>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133600" y="990600"/>
            <a:ext cx="4800600" cy="2743200"/>
          </a:xfrm>
          <a:prstGeom prst="roundRect">
            <a:avLst>
              <a:gd name="adj" fmla="val 5664"/>
            </a:avLst>
          </a:prstGeom>
          <a:solidFill>
            <a:srgbClr val="FFFFFF">
              <a:shade val="85000"/>
            </a:srgbClr>
          </a:solidFill>
          <a:ln>
            <a:noFill/>
          </a:ln>
          <a:effectLst>
            <a:reflection blurRad="12700" stA="38000" endPos="28000" dist="5000" dir="5400000" sy="-100000" algn="bl" rotWithShape="0"/>
          </a:effectLst>
        </p:spPr>
      </p:pic>
      <p:sp>
        <p:nvSpPr>
          <p:cNvPr id="1576962" name="Rectangle 2"/>
          <p:cNvSpPr>
            <a:spLocks noGrp="1" noChangeArrowheads="1"/>
          </p:cNvSpPr>
          <p:nvPr>
            <p:ph type="ctrTitle"/>
          </p:nvPr>
        </p:nvSpPr>
        <p:spPr>
          <a:xfrm>
            <a:off x="1216025" y="4015583"/>
            <a:ext cx="6480175" cy="1473200"/>
          </a:xfrm>
        </p:spPr>
        <p:txBody>
          <a:bodyPr/>
          <a:lstStyle/>
          <a:p>
            <a:pPr>
              <a:lnSpc>
                <a:spcPct val="100000"/>
              </a:lnSpc>
            </a:pPr>
            <a:r>
              <a:rPr lang="en-US" dirty="0"/>
              <a:t>Common Language Infrastructure</a:t>
            </a:r>
            <a:endParaRPr lang="bg-BG" dirty="0"/>
          </a:p>
        </p:txBody>
      </p:sp>
      <p:sp>
        <p:nvSpPr>
          <p:cNvPr id="3" name="Subtitle 5"/>
          <p:cNvSpPr>
            <a:spLocks noGrp="1"/>
          </p:cNvSpPr>
          <p:nvPr>
            <p:ph type="subTitle" idx="1"/>
          </p:nvPr>
        </p:nvSpPr>
        <p:spPr>
          <a:xfrm>
            <a:off x="914400" y="5674520"/>
            <a:ext cx="7145842" cy="497680"/>
          </a:xfrm>
        </p:spPr>
        <p:txBody>
          <a:bodyPr/>
          <a:lstStyle/>
          <a:p>
            <a:r>
              <a:rPr lang="en-US" dirty="0" smtClean="0"/>
              <a:t>How .NET Supports Multiple Languages?</a:t>
            </a:r>
            <a:endParaRPr lang="en-US" dirty="0"/>
          </a:p>
        </p:txBody>
      </p:sp>
      <p:sp>
        <p:nvSpPr>
          <p:cNvPr id="2" name="TextBox 1"/>
          <p:cNvSpPr txBox="1"/>
          <p:nvPr/>
        </p:nvSpPr>
        <p:spPr>
          <a:xfrm rot="21171699">
            <a:off x="2145477" y="916572"/>
            <a:ext cx="1313180" cy="830997"/>
          </a:xfrm>
          <a:prstGeom prst="rect">
            <a:avLst/>
          </a:prstGeom>
          <a:noFill/>
        </p:spPr>
        <p:txBody>
          <a:bodyPr wrap="none" rtlCol="0">
            <a:spAutoFit/>
          </a:bodyPr>
          <a:lstStyle/>
          <a:p>
            <a:r>
              <a:rPr lang="en-US" sz="4800" b="1"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Arial Black" pitchFamily="34" charset="0"/>
              </a:rPr>
              <a:t>CLI</a:t>
            </a:r>
            <a:endPar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Arial Black" pitchFamily="34" charset="0"/>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610" name="Rectangle 2"/>
          <p:cNvSpPr>
            <a:spLocks noGrp="1" noChangeArrowheads="1"/>
          </p:cNvSpPr>
          <p:nvPr>
            <p:ph type="title"/>
          </p:nvPr>
        </p:nvSpPr>
        <p:spPr/>
        <p:txBody>
          <a:bodyPr/>
          <a:lstStyle/>
          <a:p>
            <a:r>
              <a:rPr lang="en-US" sz="3700" dirty="0"/>
              <a:t>Common Language Infrastructure</a:t>
            </a:r>
            <a:endParaRPr lang="bg-BG" sz="3700" dirty="0"/>
          </a:p>
        </p:txBody>
      </p:sp>
      <p:sp>
        <p:nvSpPr>
          <p:cNvPr id="1476611" name="Rectangle 3"/>
          <p:cNvSpPr>
            <a:spLocks noGrp="1" noChangeArrowheads="1"/>
          </p:cNvSpPr>
          <p:nvPr>
            <p:ph idx="1"/>
          </p:nvPr>
        </p:nvSpPr>
        <p:spPr>
          <a:xfrm>
            <a:off x="228600" y="990600"/>
            <a:ext cx="8686800" cy="5715000"/>
          </a:xfrm>
        </p:spPr>
        <p:txBody>
          <a:bodyPr/>
          <a:lstStyle/>
          <a:p>
            <a:pPr>
              <a:lnSpc>
                <a:spcPct val="100000"/>
              </a:lnSpc>
            </a:pPr>
            <a:r>
              <a:rPr lang="en-US" dirty="0" smtClean="0"/>
              <a:t>Common Language Infrastructure (CLI)</a:t>
            </a:r>
          </a:p>
          <a:p>
            <a:pPr lvl="1">
              <a:lnSpc>
                <a:spcPct val="100000"/>
              </a:lnSpc>
            </a:pPr>
            <a:r>
              <a:rPr lang="en-US" dirty="0" smtClean="0"/>
              <a:t>Open </a:t>
            </a:r>
            <a:r>
              <a:rPr lang="en-US" dirty="0"/>
              <a:t>specification developed by Microsoft (ECMA – 335)</a:t>
            </a:r>
          </a:p>
          <a:p>
            <a:pPr lvl="1">
              <a:lnSpc>
                <a:spcPct val="100000"/>
              </a:lnSpc>
            </a:pPr>
            <a:r>
              <a:rPr lang="en-US" dirty="0"/>
              <a:t>Multiple high-level languages </a:t>
            </a:r>
            <a:r>
              <a:rPr lang="en-US" dirty="0" smtClean="0"/>
              <a:t>run on </a:t>
            </a:r>
            <a:r>
              <a:rPr lang="en-US" dirty="0"/>
              <a:t>different platforms without </a:t>
            </a:r>
            <a:r>
              <a:rPr lang="en-US" dirty="0" smtClean="0"/>
              <a:t>changes in the source code or pre-compilation</a:t>
            </a:r>
            <a:endParaRPr lang="en-US" dirty="0"/>
          </a:p>
          <a:p>
            <a:pPr lvl="1">
              <a:lnSpc>
                <a:spcPct val="100000"/>
              </a:lnSpc>
            </a:pPr>
            <a:r>
              <a:rPr lang="en-US" dirty="0"/>
              <a:t>Standardized part of CLR</a:t>
            </a:r>
          </a:p>
          <a:p>
            <a:pPr lvl="1">
              <a:lnSpc>
                <a:spcPct val="100000"/>
              </a:lnSpc>
            </a:pPr>
            <a:r>
              <a:rPr lang="en-US" dirty="0"/>
              <a:t>.NET Framework is </a:t>
            </a:r>
            <a:r>
              <a:rPr lang="en-US" dirty="0" smtClean="0"/>
              <a:t>CLI implementation for Windows</a:t>
            </a:r>
          </a:p>
          <a:p>
            <a:pPr lvl="1">
              <a:lnSpc>
                <a:spcPct val="100000"/>
              </a:lnSpc>
            </a:pPr>
            <a:r>
              <a:rPr lang="en-US" dirty="0" smtClean="0"/>
              <a:t>Mono is CLI implementation for Linux</a:t>
            </a:r>
            <a:endParaRPr lang="bg-BG"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39</a:t>
            </a:fld>
            <a:endParaRPr lang="en-US" dirty="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9314" name="Rectangle 2"/>
          <p:cNvSpPr>
            <a:spLocks noGrp="1" noChangeArrowheads="1"/>
          </p:cNvSpPr>
          <p:nvPr>
            <p:ph type="title"/>
          </p:nvPr>
        </p:nvSpPr>
        <p:spPr>
          <a:xfrm>
            <a:off x="3962400" y="76200"/>
            <a:ext cx="4953000" cy="914400"/>
          </a:xfrm>
        </p:spPr>
        <p:txBody>
          <a:bodyPr/>
          <a:lstStyle/>
          <a:p>
            <a:r>
              <a:rPr lang="en-US" sz="3600" dirty="0"/>
              <a:t>Common </a:t>
            </a:r>
            <a:r>
              <a:rPr lang="en-US" sz="3600" dirty="0" smtClean="0"/>
              <a:t>Language Infrastructure </a:t>
            </a:r>
            <a:r>
              <a:rPr lang="en-US" sz="3600" dirty="0"/>
              <a:t>(2)</a:t>
            </a:r>
            <a:endParaRPr lang="bg-BG" sz="3600" dirty="0"/>
          </a:p>
        </p:txBody>
      </p:sp>
      <p:sp>
        <p:nvSpPr>
          <p:cNvPr id="1549315" name="Rectangle 3"/>
          <p:cNvSpPr>
            <a:spLocks noGrp="1" noChangeArrowheads="1"/>
          </p:cNvSpPr>
          <p:nvPr>
            <p:ph idx="1"/>
          </p:nvPr>
        </p:nvSpPr>
        <p:spPr>
          <a:xfrm>
            <a:off x="228600" y="1143000"/>
            <a:ext cx="8686800" cy="5562600"/>
          </a:xfrm>
        </p:spPr>
        <p:txBody>
          <a:bodyPr/>
          <a:lstStyle/>
          <a:p>
            <a:pPr>
              <a:lnSpc>
                <a:spcPct val="100000"/>
              </a:lnSpc>
              <a:spcBef>
                <a:spcPct val="35000"/>
              </a:spcBef>
            </a:pPr>
            <a:r>
              <a:rPr lang="en-US" dirty="0"/>
              <a:t>CLI describes </a:t>
            </a:r>
            <a:r>
              <a:rPr lang="en-US" dirty="0" smtClean="0"/>
              <a:t>following aspects:</a:t>
            </a:r>
            <a:endParaRPr lang="en-US" dirty="0"/>
          </a:p>
          <a:p>
            <a:pPr lvl="1">
              <a:lnSpc>
                <a:spcPct val="100000"/>
              </a:lnSpc>
              <a:spcBef>
                <a:spcPct val="35000"/>
              </a:spcBef>
            </a:pPr>
            <a:r>
              <a:rPr lang="en-US" dirty="0"/>
              <a:t>The Common Type System (CTS)</a:t>
            </a:r>
          </a:p>
          <a:p>
            <a:pPr lvl="1">
              <a:lnSpc>
                <a:spcPct val="100000"/>
              </a:lnSpc>
              <a:spcBef>
                <a:spcPct val="35000"/>
              </a:spcBef>
            </a:pPr>
            <a:r>
              <a:rPr lang="en-US" dirty="0" smtClean="0"/>
              <a:t>Assemblies and metadata</a:t>
            </a:r>
            <a:endParaRPr lang="en-US" dirty="0"/>
          </a:p>
          <a:p>
            <a:pPr lvl="1">
              <a:lnSpc>
                <a:spcPct val="100000"/>
              </a:lnSpc>
              <a:spcBef>
                <a:spcPct val="35000"/>
              </a:spcBef>
            </a:pPr>
            <a:r>
              <a:rPr lang="en-US" dirty="0"/>
              <a:t>Common Language Specification (CLS</a:t>
            </a:r>
            <a:r>
              <a:rPr lang="en-US" dirty="0" smtClean="0"/>
              <a:t>)</a:t>
            </a:r>
            <a:endParaRPr lang="en-US" dirty="0"/>
          </a:p>
        </p:txBody>
      </p:sp>
      <p:pic>
        <p:nvPicPr>
          <p:cNvPr id="34818" name="Picture 2" descr="http://cn.thebigword.com/admin/editoruploads/image/TechnicalSpecification.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858000" y="4648200"/>
            <a:ext cx="1724025" cy="1724025"/>
          </a:xfrm>
          <a:prstGeom prst="roundRect">
            <a:avLst>
              <a:gd name="adj" fmla="val 6758"/>
            </a:avLst>
          </a:prstGeom>
          <a:noFill/>
        </p:spPr>
      </p:pic>
      <p:pic>
        <p:nvPicPr>
          <p:cNvPr id="4098" name="Picture 2" descr="http://images.digitalcamerainfo.com/images/upload/Image/new/blog/digitalcamerarawcompatibility23_20081104123612.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 xmlns:a14="http://schemas.microsoft.com/office/drawing/2010/main" val="0"/>
              </a:ext>
            </a:extLst>
          </a:blip>
          <a:srcRect/>
          <a:stretch>
            <a:fillRect/>
          </a:stretch>
        </p:blipFill>
        <p:spPr bwMode="auto">
          <a:xfrm>
            <a:off x="2514600" y="4550847"/>
            <a:ext cx="1897578" cy="1897578"/>
          </a:xfrm>
          <a:prstGeom prst="rect">
            <a:avLst/>
          </a:prstGeom>
          <a:noFill/>
          <a:effectLst>
            <a:softEdge rad="63500"/>
          </a:effectLst>
          <a:extLst>
            <a:ext uri="{909E8E84-426E-40DD-AFC4-6F175D3DCCD1}">
              <a14:hiddenFill xmlns="" xmlns:a14="http://schemas.microsoft.com/office/drawing/2010/main">
                <a:solidFill>
                  <a:srgbClr val="FFFFFF"/>
                </a:solidFill>
              </a14:hiddenFill>
            </a:ext>
          </a:extLst>
        </p:spPr>
      </p:pic>
      <p:sp>
        <p:nvSpPr>
          <p:cNvPr id="6"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40</a:t>
            </a:fld>
            <a:endParaRPr lang="en-US" dirty="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3410" name="Rectangle 2"/>
          <p:cNvSpPr>
            <a:spLocks noGrp="1" noChangeArrowheads="1"/>
          </p:cNvSpPr>
          <p:nvPr>
            <p:ph type="title"/>
          </p:nvPr>
        </p:nvSpPr>
        <p:spPr>
          <a:xfrm>
            <a:off x="4114800" y="152400"/>
            <a:ext cx="4800600" cy="914400"/>
          </a:xfrm>
        </p:spPr>
        <p:txBody>
          <a:bodyPr/>
          <a:lstStyle/>
          <a:p>
            <a:r>
              <a:rPr lang="en-US" sz="3600" dirty="0"/>
              <a:t>.NET Code Compilation and Execution</a:t>
            </a:r>
          </a:p>
        </p:txBody>
      </p:sp>
      <p:pic>
        <p:nvPicPr>
          <p:cNvPr id="1553412" name="Picture 4" descr="800px-Common_Language_Runtime_diagram"/>
          <p:cNvPicPr>
            <a:picLocks noChangeAspect="1" noChangeArrowheads="1"/>
          </p:cNvPicPr>
          <p:nvPr/>
        </p:nvPicPr>
        <p:blipFill>
          <a:blip r:embed="rId2" cstate="print">
            <a:extLst>
              <a:ext uri="{28A0092B-C50C-407E-A947-70E740481C1C}">
                <a14:useLocalDpi xmlns="" xmlns:a14="http://schemas.microsoft.com/office/drawing/2010/main" val="0"/>
              </a:ext>
            </a:extLst>
          </a:blip>
          <a:srcRect l="-989" t="-3891" r="-1875" b="-1946"/>
          <a:stretch>
            <a:fillRect/>
          </a:stretch>
        </p:blipFill>
        <p:spPr bwMode="auto">
          <a:xfrm>
            <a:off x="838200" y="1447800"/>
            <a:ext cx="7548282" cy="4935414"/>
          </a:xfrm>
          <a:prstGeom prst="roundRect">
            <a:avLst>
              <a:gd name="adj" fmla="val 2123"/>
            </a:avLst>
          </a:prstGeom>
          <a:solidFill>
            <a:srgbClr val="FFFFFF"/>
          </a:solidFill>
        </p:spPr>
      </p:pic>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41</a:t>
            </a:fld>
            <a:endParaRPr lang="en-US" dirty="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82" name="Rectangle 2"/>
          <p:cNvSpPr>
            <a:spLocks noGrp="1" noChangeArrowheads="1"/>
          </p:cNvSpPr>
          <p:nvPr>
            <p:ph type="title"/>
          </p:nvPr>
        </p:nvSpPr>
        <p:spPr/>
        <p:txBody>
          <a:bodyPr/>
          <a:lstStyle/>
          <a:p>
            <a:r>
              <a:rPr lang="en-US" dirty="0"/>
              <a:t>Common Type System (CTS)</a:t>
            </a:r>
            <a:endParaRPr lang="bg-BG" dirty="0"/>
          </a:p>
        </p:txBody>
      </p:sp>
      <p:sp>
        <p:nvSpPr>
          <p:cNvPr id="1556483" name="Rectangle 3"/>
          <p:cNvSpPr>
            <a:spLocks noGrp="1" noChangeArrowheads="1"/>
          </p:cNvSpPr>
          <p:nvPr>
            <p:ph idx="1"/>
          </p:nvPr>
        </p:nvSpPr>
        <p:spPr>
          <a:xfrm>
            <a:off x="323850" y="1268413"/>
            <a:ext cx="8256588" cy="5329237"/>
          </a:xfrm>
        </p:spPr>
        <p:txBody>
          <a:bodyPr/>
          <a:lstStyle/>
          <a:p>
            <a:pPr>
              <a:lnSpc>
                <a:spcPct val="100000"/>
              </a:lnSpc>
            </a:pPr>
            <a:r>
              <a:rPr lang="en-US" dirty="0" smtClean="0"/>
              <a:t>CTS defines the CLR</a:t>
            </a:r>
            <a:r>
              <a:rPr lang="bg-BG" dirty="0" smtClean="0"/>
              <a:t> </a:t>
            </a:r>
            <a:r>
              <a:rPr lang="en-US" dirty="0"/>
              <a:t>supported types of data and the operations over them</a:t>
            </a:r>
            <a:endParaRPr lang="bg-BG" dirty="0"/>
          </a:p>
          <a:p>
            <a:pPr>
              <a:lnSpc>
                <a:spcPct val="100000"/>
              </a:lnSpc>
            </a:pPr>
            <a:r>
              <a:rPr lang="en-US" dirty="0"/>
              <a:t>Ensures </a:t>
            </a:r>
            <a:r>
              <a:rPr lang="en-US" dirty="0" smtClean="0"/>
              <a:t>data level compatibility between </a:t>
            </a:r>
            <a:r>
              <a:rPr lang="en-US" dirty="0"/>
              <a:t>different .NET</a:t>
            </a:r>
            <a:r>
              <a:rPr lang="bg-BG" dirty="0"/>
              <a:t> </a:t>
            </a:r>
            <a:r>
              <a:rPr lang="en-US" dirty="0" smtClean="0"/>
              <a:t>languages</a:t>
            </a:r>
          </a:p>
          <a:p>
            <a:pPr lvl="1">
              <a:lnSpc>
                <a:spcPct val="100000"/>
              </a:lnSpc>
            </a:pPr>
            <a:r>
              <a:rPr lang="en-US" dirty="0" smtClean="0"/>
              <a:t>E.g. </a:t>
            </a:r>
            <a:r>
              <a:rPr lang="en-US" dirty="0" smtClean="0">
                <a:solidFill>
                  <a:schemeClr val="accent5">
                    <a:lumMod val="20000"/>
                    <a:lumOff val="80000"/>
                  </a:schemeClr>
                </a:solidFill>
                <a:latin typeface="Consolas" pitchFamily="49" charset="0"/>
                <a:cs typeface="Consolas" pitchFamily="49" charset="0"/>
              </a:rPr>
              <a:t>string</a:t>
            </a:r>
            <a:r>
              <a:rPr lang="en-US" dirty="0" smtClean="0"/>
              <a:t> </a:t>
            </a:r>
            <a:r>
              <a:rPr lang="en-US" dirty="0"/>
              <a:t>in</a:t>
            </a:r>
            <a:r>
              <a:rPr lang="bg-BG" dirty="0"/>
              <a:t> </a:t>
            </a:r>
            <a:r>
              <a:rPr lang="en-US" dirty="0"/>
              <a:t>C#</a:t>
            </a:r>
            <a:r>
              <a:rPr lang="bg-BG" dirty="0"/>
              <a:t> </a:t>
            </a:r>
            <a:r>
              <a:rPr lang="en-US" dirty="0"/>
              <a:t>is </a:t>
            </a:r>
            <a:r>
              <a:rPr lang="en-US" dirty="0" smtClean="0"/>
              <a:t>the same </a:t>
            </a:r>
            <a:r>
              <a:rPr lang="en-US" dirty="0"/>
              <a:t>like</a:t>
            </a:r>
            <a:r>
              <a:rPr lang="bg-BG" dirty="0"/>
              <a:t> </a:t>
            </a:r>
            <a:r>
              <a:rPr lang="en-US" dirty="0">
                <a:solidFill>
                  <a:schemeClr val="accent5">
                    <a:lumMod val="20000"/>
                    <a:lumOff val="80000"/>
                  </a:schemeClr>
                </a:solidFill>
                <a:latin typeface="Consolas" pitchFamily="49" charset="0"/>
                <a:cs typeface="Consolas" pitchFamily="49" charset="0"/>
              </a:rPr>
              <a:t>String</a:t>
            </a:r>
            <a:r>
              <a:rPr lang="en-US" dirty="0"/>
              <a:t> </a:t>
            </a:r>
            <a:r>
              <a:rPr lang="en-US" dirty="0" smtClean="0"/>
              <a:t>in</a:t>
            </a:r>
            <a:r>
              <a:rPr lang="bg-BG" dirty="0" smtClean="0"/>
              <a:t> </a:t>
            </a:r>
            <a:r>
              <a:rPr lang="en-US" dirty="0"/>
              <a:t>VB.NET</a:t>
            </a:r>
            <a:r>
              <a:rPr lang="bg-BG" dirty="0"/>
              <a:t> </a:t>
            </a:r>
            <a:r>
              <a:rPr lang="en-US" dirty="0"/>
              <a:t>and in</a:t>
            </a:r>
            <a:r>
              <a:rPr lang="bg-BG" dirty="0"/>
              <a:t> </a:t>
            </a:r>
            <a:r>
              <a:rPr lang="en-US" dirty="0"/>
              <a:t>J#</a:t>
            </a:r>
          </a:p>
          <a:p>
            <a:pPr>
              <a:lnSpc>
                <a:spcPct val="100000"/>
              </a:lnSpc>
            </a:pPr>
            <a:r>
              <a:rPr lang="en-US" dirty="0"/>
              <a:t>Value </a:t>
            </a:r>
            <a:r>
              <a:rPr lang="en-US" dirty="0" smtClean="0"/>
              <a:t>types and </a:t>
            </a:r>
            <a:r>
              <a:rPr lang="en-US" dirty="0"/>
              <a:t>reference </a:t>
            </a:r>
            <a:r>
              <a:rPr lang="en-US" dirty="0" smtClean="0"/>
              <a:t>types</a:t>
            </a:r>
            <a:endParaRPr lang="en-US" dirty="0"/>
          </a:p>
          <a:p>
            <a:pPr>
              <a:lnSpc>
                <a:spcPct val="100000"/>
              </a:lnSpc>
            </a:pPr>
            <a:r>
              <a:rPr lang="en-US" dirty="0"/>
              <a:t>All types derive from</a:t>
            </a:r>
            <a:r>
              <a:rPr lang="bg-BG" dirty="0"/>
              <a:t> </a:t>
            </a:r>
            <a:r>
              <a:rPr lang="en-US" noProof="1" smtClean="0">
                <a:solidFill>
                  <a:schemeClr val="accent5">
                    <a:lumMod val="20000"/>
                    <a:lumOff val="80000"/>
                  </a:schemeClr>
                </a:solidFill>
                <a:latin typeface="Consolas" pitchFamily="49" charset="0"/>
                <a:cs typeface="Consolas" pitchFamily="49" charset="0"/>
              </a:rPr>
              <a:t>System.Object</a:t>
            </a:r>
            <a:endParaRPr lang="en-US" noProof="1">
              <a:solidFill>
                <a:schemeClr val="accent5">
                  <a:lumMod val="20000"/>
                  <a:lumOff val="80000"/>
                </a:schemeClr>
              </a:solidFill>
              <a:latin typeface="Consolas" pitchFamily="49" charset="0"/>
              <a:cs typeface="Consolas" pitchFamily="49" charset="0"/>
            </a:endParaRPr>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42</a:t>
            </a:fld>
            <a:endParaRPr lang="en-US" dirty="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4434" name="Rectangle 2"/>
          <p:cNvSpPr>
            <a:spLocks noGrp="1" noChangeArrowheads="1"/>
          </p:cNvSpPr>
          <p:nvPr>
            <p:ph type="title"/>
          </p:nvPr>
        </p:nvSpPr>
        <p:spPr>
          <a:xfrm>
            <a:off x="1828800" y="152400"/>
            <a:ext cx="7086600" cy="914400"/>
          </a:xfrm>
        </p:spPr>
        <p:txBody>
          <a:bodyPr/>
          <a:lstStyle/>
          <a:p>
            <a:r>
              <a:rPr lang="en-US" dirty="0"/>
              <a:t>Common Language Specification (CLS)</a:t>
            </a:r>
            <a:endParaRPr lang="bg-BG" dirty="0"/>
          </a:p>
        </p:txBody>
      </p:sp>
      <p:sp>
        <p:nvSpPr>
          <p:cNvPr id="1554435" name="Rectangle 3"/>
          <p:cNvSpPr>
            <a:spLocks noGrp="1" noChangeArrowheads="1"/>
          </p:cNvSpPr>
          <p:nvPr>
            <p:ph idx="1"/>
          </p:nvPr>
        </p:nvSpPr>
        <p:spPr>
          <a:xfrm>
            <a:off x="268792" y="1371600"/>
            <a:ext cx="8602663" cy="5189538"/>
          </a:xfrm>
        </p:spPr>
        <p:txBody>
          <a:bodyPr/>
          <a:lstStyle/>
          <a:p>
            <a:pPr>
              <a:lnSpc>
                <a:spcPct val="100000"/>
              </a:lnSpc>
            </a:pPr>
            <a:r>
              <a:rPr lang="en-US" dirty="0" smtClean="0"/>
              <a:t>CLS is a system </a:t>
            </a:r>
            <a:r>
              <a:rPr lang="en-US" dirty="0"/>
              <a:t>of </a:t>
            </a:r>
            <a:r>
              <a:rPr lang="en-US" dirty="0" smtClean="0"/>
              <a:t>rules and obligations</a:t>
            </a:r>
            <a:r>
              <a:rPr lang="bg-BG" dirty="0" smtClean="0"/>
              <a:t>, </a:t>
            </a:r>
            <a:r>
              <a:rPr lang="en-US" dirty="0" smtClean="0"/>
              <a:t>that all</a:t>
            </a:r>
            <a:r>
              <a:rPr lang="bg-BG" dirty="0" smtClean="0"/>
              <a:t> </a:t>
            </a:r>
            <a:r>
              <a:rPr lang="en-US" dirty="0"/>
              <a:t>.NET languages </a:t>
            </a:r>
            <a:r>
              <a:rPr lang="en-US" dirty="0" smtClean="0"/>
              <a:t>must obey</a:t>
            </a:r>
            <a:endParaRPr lang="bg-BG" dirty="0"/>
          </a:p>
          <a:p>
            <a:pPr lvl="1">
              <a:lnSpc>
                <a:spcPct val="100000"/>
              </a:lnSpc>
            </a:pPr>
            <a:r>
              <a:rPr lang="en-US" dirty="0" smtClean="0"/>
              <a:t>Ensures </a:t>
            </a:r>
            <a:r>
              <a:rPr lang="bg-BG" dirty="0" smtClean="0"/>
              <a:t> </a:t>
            </a:r>
            <a:r>
              <a:rPr lang="en-US" dirty="0"/>
              <a:t>compatibility and </a:t>
            </a:r>
            <a:r>
              <a:rPr lang="en-US" dirty="0" smtClean="0"/>
              <a:t>ease of interaction between </a:t>
            </a:r>
            <a:r>
              <a:rPr lang="en-US" dirty="0"/>
              <a:t>.NET</a:t>
            </a:r>
            <a:r>
              <a:rPr lang="bg-BG" dirty="0"/>
              <a:t> </a:t>
            </a:r>
            <a:r>
              <a:rPr lang="en-US" dirty="0"/>
              <a:t>languages</a:t>
            </a:r>
            <a:endParaRPr lang="bg-BG" dirty="0"/>
          </a:p>
          <a:p>
            <a:pPr>
              <a:lnSpc>
                <a:spcPct val="100000"/>
              </a:lnSpc>
            </a:pPr>
            <a:r>
              <a:rPr lang="en-US" dirty="0"/>
              <a:t>Example:</a:t>
            </a:r>
            <a:r>
              <a:rPr lang="bg-BG" dirty="0"/>
              <a:t> </a:t>
            </a:r>
            <a:r>
              <a:rPr lang="en-US" dirty="0"/>
              <a:t>CLS enforces</a:t>
            </a:r>
            <a:r>
              <a:rPr lang="bg-BG" dirty="0"/>
              <a:t> </a:t>
            </a:r>
            <a:r>
              <a:rPr lang="en-US" dirty="0"/>
              <a:t>all</a:t>
            </a:r>
            <a:r>
              <a:rPr lang="bg-BG" dirty="0"/>
              <a:t> </a:t>
            </a:r>
            <a:r>
              <a:rPr lang="en-US" dirty="0"/>
              <a:t>.NET</a:t>
            </a:r>
            <a:r>
              <a:rPr lang="bg-BG" dirty="0"/>
              <a:t> </a:t>
            </a:r>
            <a:r>
              <a:rPr lang="en-US" dirty="0"/>
              <a:t>languages to be object-oriented</a:t>
            </a:r>
            <a:endParaRPr lang="bg-BG" dirty="0"/>
          </a:p>
          <a:p>
            <a:pPr>
              <a:lnSpc>
                <a:spcPct val="100000"/>
              </a:lnSpc>
            </a:pPr>
            <a:r>
              <a:rPr lang="en-US" dirty="0"/>
              <a:t>When using </a:t>
            </a:r>
            <a:r>
              <a:rPr lang="en-US" dirty="0" smtClean="0"/>
              <a:t>non-CLS-compliant </a:t>
            </a:r>
            <a:r>
              <a:rPr lang="en-US" dirty="0"/>
              <a:t>programming </a:t>
            </a:r>
            <a:r>
              <a:rPr lang="en-US" dirty="0" smtClean="0"/>
              <a:t>techniques you </a:t>
            </a:r>
            <a:r>
              <a:rPr lang="en-US" dirty="0"/>
              <a:t>lose </a:t>
            </a:r>
            <a:r>
              <a:rPr lang="en-US" dirty="0" smtClean="0"/>
              <a:t>compatibility with </a:t>
            </a:r>
            <a:r>
              <a:rPr lang="en-US" dirty="0"/>
              <a:t>the other .NET languages</a:t>
            </a:r>
            <a:endParaRPr lang="bg-BG"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43</a:t>
            </a:fld>
            <a:endParaRPr lang="en-US"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http://triton.towson.edu/users/bhendr1/pics/programming.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790700" y="820370"/>
            <a:ext cx="5295900" cy="3531336"/>
          </a:xfrm>
          <a:prstGeom prst="roundRect">
            <a:avLst>
              <a:gd name="adj" fmla="val 2810"/>
            </a:avLst>
          </a:prstGeom>
          <a:solidFill>
            <a:srgbClr val="FFFFFF">
              <a:shade val="85000"/>
            </a:srgbClr>
          </a:solidFill>
          <a:ln>
            <a:noFill/>
          </a:ln>
          <a:effectLst>
            <a:reflection blurRad="12700" stA="38000" endPos="28000" dist="5000" dir="5400000" sy="-100000" algn="bl" rotWithShape="0"/>
          </a:effectLst>
        </p:spPr>
      </p:pic>
      <p:sp>
        <p:nvSpPr>
          <p:cNvPr id="1581058" name="Rectangle 2"/>
          <p:cNvSpPr>
            <a:spLocks noGrp="1" noChangeArrowheads="1"/>
          </p:cNvSpPr>
          <p:nvPr>
            <p:ph type="ctrTitle"/>
          </p:nvPr>
        </p:nvSpPr>
        <p:spPr>
          <a:xfrm>
            <a:off x="924448" y="4648200"/>
            <a:ext cx="7153276" cy="965200"/>
          </a:xfrm>
        </p:spPr>
        <p:txBody>
          <a:bodyPr/>
          <a:lstStyle/>
          <a:p>
            <a:pPr>
              <a:lnSpc>
                <a:spcPct val="110000"/>
              </a:lnSpc>
            </a:pPr>
            <a:r>
              <a:rPr lang="en-US" dirty="0" smtClean="0"/>
              <a:t>The .NET Languages</a:t>
            </a:r>
            <a:endParaRPr lang="bg-BG" dirty="0"/>
          </a:p>
        </p:txBody>
      </p:sp>
      <p:sp>
        <p:nvSpPr>
          <p:cNvPr id="3" name="Subtitle 5"/>
          <p:cNvSpPr>
            <a:spLocks noGrp="1"/>
          </p:cNvSpPr>
          <p:nvPr>
            <p:ph type="subTitle" idx="1"/>
          </p:nvPr>
        </p:nvSpPr>
        <p:spPr>
          <a:xfrm>
            <a:off x="924971" y="5638800"/>
            <a:ext cx="7145842" cy="497680"/>
          </a:xfrm>
        </p:spPr>
        <p:txBody>
          <a:bodyPr/>
          <a:lstStyle/>
          <a:p>
            <a:r>
              <a:rPr lang="en-US" dirty="0" smtClean="0"/>
              <a:t>C#, VB.NET, C++, J#, F#, etc. </a:t>
            </a:r>
            <a:endParaRPr lang="en-US" dirty="0"/>
          </a:p>
        </p:txBody>
      </p:sp>
      <p:sp>
        <p:nvSpPr>
          <p:cNvPr id="5" name="TextBox 4"/>
          <p:cNvSpPr txBox="1"/>
          <p:nvPr/>
        </p:nvSpPr>
        <p:spPr>
          <a:xfrm rot="21171699">
            <a:off x="2153127" y="996381"/>
            <a:ext cx="1511952" cy="1200329"/>
          </a:xfrm>
          <a:prstGeom prst="rect">
            <a:avLst/>
          </a:prstGeom>
          <a:noFill/>
        </p:spPr>
        <p:txBody>
          <a:bodyPr wrap="none" rtlCol="0">
            <a:spAutoFit/>
          </a:bodyPr>
          <a:lstStyle/>
          <a:p>
            <a:r>
              <a:rPr lang="en-US" sz="7200" b="1"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Arial Black" pitchFamily="34" charset="0"/>
              </a:rPr>
              <a:t>C#</a:t>
            </a:r>
            <a:endParaRPr lang="en-US" sz="72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Arial Black" pitchFamily="34" charset="0"/>
            </a:endParaRPr>
          </a:p>
        </p:txBody>
      </p:sp>
      <p:sp>
        <p:nvSpPr>
          <p:cNvPr id="6" name="TextBox 5"/>
          <p:cNvSpPr txBox="1"/>
          <p:nvPr/>
        </p:nvSpPr>
        <p:spPr>
          <a:xfrm rot="443825">
            <a:off x="4315002" y="1450642"/>
            <a:ext cx="2331344" cy="707886"/>
          </a:xfrm>
          <a:prstGeom prst="rect">
            <a:avLst/>
          </a:prstGeom>
          <a:noFill/>
          <a:effectLst>
            <a:glow rad="127000">
              <a:schemeClr val="accent4">
                <a:lumMod val="40000"/>
                <a:lumOff val="60000"/>
              </a:schemeClr>
            </a:glow>
          </a:effectLst>
        </p:spPr>
        <p:txBody>
          <a:bodyPr wrap="none" rtlCol="0">
            <a:spAutoFit/>
            <a:scene3d>
              <a:camera prst="orthographicFront"/>
              <a:lightRig rig="threePt" dir="t"/>
            </a:scene3d>
            <a:sp3d extrusionH="57150">
              <a:bevelT h="25400" prst="softRound"/>
            </a:sp3d>
          </a:bodyPr>
          <a:lstStyle/>
          <a:p>
            <a:r>
              <a:rPr lang="en-US" sz="4000" b="1" dirty="0" smtClean="0">
                <a:ln w="31550" cmpd="sng">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solidFill>
                  <a:schemeClr val="accent4">
                    <a:lumMod val="20000"/>
                    <a:lumOff val="80000"/>
                  </a:schemeClr>
                </a:solidFill>
                <a:effectLst>
                  <a:outerShdw blurRad="50800" dist="40000" dir="5400000" algn="tl" rotWithShape="0">
                    <a:srgbClr val="000000">
                      <a:shade val="5000"/>
                      <a:satMod val="120000"/>
                      <a:alpha val="33000"/>
                    </a:srgbClr>
                  </a:outerShdw>
                </a:effectLst>
                <a:latin typeface="Arial Black" pitchFamily="34" charset="0"/>
              </a:rPr>
              <a:t>VB.NET</a:t>
            </a:r>
            <a:endParaRPr lang="en-US" sz="4000" b="1" dirty="0">
              <a:ln w="31550" cmpd="sng">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solidFill>
                <a:schemeClr val="accent4">
                  <a:lumMod val="20000"/>
                  <a:lumOff val="80000"/>
                </a:schemeClr>
              </a:solidFill>
              <a:effectLst>
                <a:outerShdw blurRad="50800" dist="40000" dir="5400000" algn="tl" rotWithShape="0">
                  <a:srgbClr val="000000">
                    <a:shade val="5000"/>
                    <a:satMod val="120000"/>
                    <a:alpha val="33000"/>
                  </a:srgbClr>
                </a:outerShdw>
              </a:effectLst>
              <a:latin typeface="Arial Black" pitchFamily="34" charset="0"/>
            </a:endParaRPr>
          </a:p>
        </p:txBody>
      </p:sp>
      <p:sp>
        <p:nvSpPr>
          <p:cNvPr id="7" name="TextBox 6"/>
          <p:cNvSpPr txBox="1"/>
          <p:nvPr/>
        </p:nvSpPr>
        <p:spPr>
          <a:xfrm rot="20639308">
            <a:off x="2081251" y="3023676"/>
            <a:ext cx="3220946" cy="584775"/>
          </a:xfrm>
          <a:prstGeom prst="rect">
            <a:avLst/>
          </a:prstGeom>
          <a:noFill/>
        </p:spPr>
        <p:txBody>
          <a:bodyPr wrap="none" rtlCol="0">
            <a:spAutoFit/>
          </a:bodyPr>
          <a:lstStyle/>
          <a:p>
            <a:r>
              <a:rPr lang="en-US" sz="3200" b="1" dirty="0" smtClean="0">
                <a:ln w="19050" cmpd="sng">
                  <a:gradFill>
                    <a:gsLst>
                      <a:gs pos="0">
                        <a:srgbClr val="DDEBCF"/>
                      </a:gs>
                      <a:gs pos="50000">
                        <a:srgbClr val="9CB86E"/>
                      </a:gs>
                      <a:gs pos="100000">
                        <a:srgbClr val="156B13"/>
                      </a:gs>
                    </a:gsLst>
                    <a:lin ang="5400000" scaled="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Arial Black" pitchFamily="34" charset="0"/>
              </a:rPr>
              <a:t>Managed C++</a:t>
            </a:r>
            <a:endParaRPr lang="en-US" sz="3200" b="1" dirty="0">
              <a:ln w="19050" cmpd="sng">
                <a:gradFill>
                  <a:gsLst>
                    <a:gs pos="0">
                      <a:srgbClr val="DDEBCF"/>
                    </a:gs>
                    <a:gs pos="50000">
                      <a:srgbClr val="9CB86E"/>
                    </a:gs>
                    <a:gs pos="100000">
                      <a:srgbClr val="156B13"/>
                    </a:gs>
                  </a:gsLst>
                  <a:lin ang="5400000" scaled="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Arial Black" pitchFamily="34" charset="0"/>
            </a:endParaRPr>
          </a:p>
        </p:txBody>
      </p:sp>
      <p:sp>
        <p:nvSpPr>
          <p:cNvPr id="8" name="TextBox 7"/>
          <p:cNvSpPr txBox="1"/>
          <p:nvPr/>
        </p:nvSpPr>
        <p:spPr>
          <a:xfrm>
            <a:off x="4787259" y="3738435"/>
            <a:ext cx="660758" cy="523220"/>
          </a:xfrm>
          <a:prstGeom prst="rect">
            <a:avLst/>
          </a:prstGeom>
          <a:noFill/>
        </p:spPr>
        <p:txBody>
          <a:bodyPr wrap="none" rtlCol="0">
            <a:spAutoFit/>
          </a:bodyPr>
          <a:lstStyle/>
          <a:p>
            <a:r>
              <a:rPr lang="en-US" sz="2800"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Arial Black" pitchFamily="34" charset="0"/>
              </a:rPr>
              <a:t>J#</a:t>
            </a:r>
            <a:endParaRPr lang="en-US" sz="2800"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Arial Black" pitchFamily="34" charset="0"/>
            </a:endParaRPr>
          </a:p>
        </p:txBody>
      </p:sp>
      <p:sp>
        <p:nvSpPr>
          <p:cNvPr id="9" name="TextBox 8"/>
          <p:cNvSpPr txBox="1"/>
          <p:nvPr/>
        </p:nvSpPr>
        <p:spPr>
          <a:xfrm rot="633840">
            <a:off x="6231496" y="3526558"/>
            <a:ext cx="729687" cy="584775"/>
          </a:xfrm>
          <a:prstGeom prst="rect">
            <a:avLst/>
          </a:prstGeom>
          <a:noFill/>
        </p:spPr>
        <p:txBody>
          <a:bodyPr wrap="none" rtlCol="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en-US" sz="3200"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Arial Black" pitchFamily="34" charset="0"/>
              </a:rPr>
              <a:t>F#</a:t>
            </a:r>
            <a:endParaRPr lang="en-US" sz="3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Arial Black" pitchFamily="34" charset="0"/>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0706" name="Rectangle 2"/>
          <p:cNvSpPr>
            <a:spLocks noGrp="1" noChangeArrowheads="1"/>
          </p:cNvSpPr>
          <p:nvPr>
            <p:ph type="title"/>
          </p:nvPr>
        </p:nvSpPr>
        <p:spPr/>
        <p:txBody>
          <a:bodyPr/>
          <a:lstStyle/>
          <a:p>
            <a:r>
              <a:rPr lang="bg-BG"/>
              <a:t>.</a:t>
            </a:r>
            <a:r>
              <a:rPr lang="en-US"/>
              <a:t>NET Languages</a:t>
            </a:r>
            <a:endParaRPr lang="bg-BG"/>
          </a:p>
        </p:txBody>
      </p:sp>
      <p:sp>
        <p:nvSpPr>
          <p:cNvPr id="1480707" name="Rectangle 3"/>
          <p:cNvSpPr>
            <a:spLocks noGrp="1" noChangeArrowheads="1"/>
          </p:cNvSpPr>
          <p:nvPr>
            <p:ph idx="1"/>
          </p:nvPr>
        </p:nvSpPr>
        <p:spPr>
          <a:xfrm>
            <a:off x="188408" y="1143001"/>
            <a:ext cx="8739188" cy="5454650"/>
          </a:xfrm>
        </p:spPr>
        <p:txBody>
          <a:bodyPr/>
          <a:lstStyle/>
          <a:p>
            <a:pPr>
              <a:lnSpc>
                <a:spcPct val="100000"/>
              </a:lnSpc>
            </a:pPr>
            <a:r>
              <a:rPr lang="en-US" dirty="0" smtClean="0"/>
              <a:t>.NET languages </a:t>
            </a:r>
            <a:r>
              <a:rPr lang="en-US" dirty="0"/>
              <a:t>by Microsoft</a:t>
            </a:r>
          </a:p>
          <a:p>
            <a:pPr lvl="1">
              <a:lnSpc>
                <a:spcPct val="100000"/>
              </a:lnSpc>
            </a:pPr>
            <a:r>
              <a:rPr lang="en-US" dirty="0"/>
              <a:t>C#, </a:t>
            </a:r>
            <a:r>
              <a:rPr lang="en-US" dirty="0" smtClean="0"/>
              <a:t>VB.NET, Managed C</a:t>
            </a:r>
            <a:r>
              <a:rPr lang="en-US" dirty="0"/>
              <a:t>++, J#, </a:t>
            </a:r>
            <a:r>
              <a:rPr lang="en-US" dirty="0" smtClean="0"/>
              <a:t>F#, </a:t>
            </a:r>
            <a:r>
              <a:rPr lang="en-US" noProof="1" smtClean="0"/>
              <a:t>JScript</a:t>
            </a:r>
            <a:endParaRPr lang="en-US" noProof="1"/>
          </a:p>
          <a:p>
            <a:pPr>
              <a:lnSpc>
                <a:spcPct val="100000"/>
              </a:lnSpc>
            </a:pPr>
            <a:r>
              <a:rPr lang="en-US" dirty="0" smtClean="0"/>
              <a:t>.NET languages</a:t>
            </a:r>
            <a:r>
              <a:rPr lang="bg-BG" dirty="0" smtClean="0"/>
              <a:t> </a:t>
            </a:r>
            <a:r>
              <a:rPr lang="en-US" dirty="0"/>
              <a:t>by third </a:t>
            </a:r>
            <a:r>
              <a:rPr lang="en-US" dirty="0" smtClean="0"/>
              <a:t>parties</a:t>
            </a:r>
            <a:endParaRPr lang="en-US" dirty="0"/>
          </a:p>
          <a:p>
            <a:pPr lvl="1">
              <a:lnSpc>
                <a:spcPct val="100000"/>
              </a:lnSpc>
            </a:pPr>
            <a:r>
              <a:rPr lang="en-US" dirty="0"/>
              <a:t>Object Pascal, Perl, Python, </a:t>
            </a:r>
            <a:r>
              <a:rPr lang="en-US" dirty="0" smtClean="0"/>
              <a:t>Ruby, COBOL</a:t>
            </a:r>
            <a:r>
              <a:rPr lang="en-US" dirty="0"/>
              <a:t>,  Haskell, Oberon, Scheme, Smalltalk…</a:t>
            </a:r>
          </a:p>
          <a:p>
            <a:pPr>
              <a:lnSpc>
                <a:spcPct val="100000"/>
              </a:lnSpc>
            </a:pPr>
            <a:r>
              <a:rPr lang="en-US" dirty="0"/>
              <a:t>Different </a:t>
            </a:r>
            <a:r>
              <a:rPr lang="en-US" dirty="0" smtClean="0"/>
              <a:t>languages can be mixed in a single application</a:t>
            </a:r>
            <a:endParaRPr lang="en-US" dirty="0"/>
          </a:p>
          <a:p>
            <a:pPr>
              <a:lnSpc>
                <a:spcPct val="100000"/>
              </a:lnSpc>
            </a:pPr>
            <a:r>
              <a:rPr lang="en-US" dirty="0" smtClean="0"/>
              <a:t>Cross-language inheritance of </a:t>
            </a:r>
            <a:r>
              <a:rPr lang="en-US" dirty="0"/>
              <a:t>types </a:t>
            </a:r>
            <a:r>
              <a:rPr lang="en-US" dirty="0" smtClean="0"/>
              <a:t>and exception </a:t>
            </a:r>
            <a:r>
              <a:rPr lang="en-US" dirty="0"/>
              <a:t>handling</a:t>
            </a:r>
            <a:endParaRPr lang="bg-BG"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45</a:t>
            </a:fld>
            <a:endParaRPr lang="en-US" dirty="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2754" name="Rectangle 2"/>
          <p:cNvSpPr>
            <a:spLocks noGrp="1" noChangeArrowheads="1"/>
          </p:cNvSpPr>
          <p:nvPr>
            <p:ph type="title"/>
          </p:nvPr>
        </p:nvSpPr>
        <p:spPr/>
        <p:txBody>
          <a:bodyPr/>
          <a:lstStyle/>
          <a:p>
            <a:r>
              <a:rPr lang="en-US"/>
              <a:t>C# Language</a:t>
            </a:r>
          </a:p>
        </p:txBody>
      </p:sp>
      <p:sp>
        <p:nvSpPr>
          <p:cNvPr id="1482755" name="Rectangle 3"/>
          <p:cNvSpPr>
            <a:spLocks noGrp="1" noChangeArrowheads="1"/>
          </p:cNvSpPr>
          <p:nvPr>
            <p:ph idx="1"/>
          </p:nvPr>
        </p:nvSpPr>
        <p:spPr>
          <a:xfrm>
            <a:off x="228601" y="990601"/>
            <a:ext cx="8640762" cy="5607050"/>
          </a:xfrm>
        </p:spPr>
        <p:txBody>
          <a:bodyPr/>
          <a:lstStyle/>
          <a:p>
            <a:pPr marL="357188" indent="-357188">
              <a:lnSpc>
                <a:spcPct val="100000"/>
              </a:lnSpc>
            </a:pPr>
            <a:r>
              <a:rPr lang="en-US" dirty="0" smtClean="0"/>
              <a:t>C# is mixture </a:t>
            </a:r>
            <a:r>
              <a:rPr lang="en-US" dirty="0"/>
              <a:t>between C++, Java and </a:t>
            </a:r>
            <a:r>
              <a:rPr lang="en-US" dirty="0" smtClean="0"/>
              <a:t>Delphi</a:t>
            </a:r>
          </a:p>
          <a:p>
            <a:pPr marL="704851" lvl="1" indent="-357188">
              <a:lnSpc>
                <a:spcPct val="100000"/>
              </a:lnSpc>
            </a:pPr>
            <a:r>
              <a:rPr lang="en-US" dirty="0" smtClean="0"/>
              <a:t>Fully object-oriented by design</a:t>
            </a:r>
            <a:endParaRPr lang="en-US" dirty="0"/>
          </a:p>
          <a:p>
            <a:pPr marL="357188" indent="-357188">
              <a:lnSpc>
                <a:spcPct val="100000"/>
              </a:lnSpc>
            </a:pPr>
            <a:r>
              <a:rPr lang="en-US" dirty="0" smtClean="0"/>
              <a:t>In</a:t>
            </a:r>
            <a:r>
              <a:rPr lang="bg-BG" dirty="0" smtClean="0"/>
              <a:t> </a:t>
            </a:r>
            <a:r>
              <a:rPr lang="en-US" dirty="0" smtClean="0"/>
              <a:t>C# all data types are objects</a:t>
            </a:r>
          </a:p>
          <a:p>
            <a:pPr marL="704851" lvl="1" indent="-357188">
              <a:lnSpc>
                <a:spcPct val="100000"/>
              </a:lnSpc>
            </a:pPr>
            <a:r>
              <a:rPr lang="en-US" dirty="0" smtClean="0"/>
              <a:t>Example: </a:t>
            </a:r>
            <a:r>
              <a:rPr lang="en-US" dirty="0" smtClean="0">
                <a:solidFill>
                  <a:schemeClr val="accent5">
                    <a:lumMod val="20000"/>
                    <a:lumOff val="80000"/>
                  </a:schemeClr>
                </a:solidFill>
                <a:latin typeface="Consolas" pitchFamily="49" charset="0"/>
                <a:cs typeface="Consolas" pitchFamily="49" charset="0"/>
              </a:rPr>
              <a:t>5.ToString()</a:t>
            </a:r>
            <a:r>
              <a:rPr lang="en-US" dirty="0" smtClean="0"/>
              <a:t> is a valid call</a:t>
            </a:r>
            <a:endParaRPr lang="en-US" dirty="0"/>
          </a:p>
        </p:txBody>
      </p:sp>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46</a:t>
            </a:fld>
            <a:endParaRPr lang="en-US" dirty="0"/>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02" name="Rectangle 2"/>
          <p:cNvSpPr>
            <a:spLocks noGrp="1" noChangeArrowheads="1"/>
          </p:cNvSpPr>
          <p:nvPr>
            <p:ph type="title"/>
          </p:nvPr>
        </p:nvSpPr>
        <p:spPr/>
        <p:txBody>
          <a:bodyPr/>
          <a:lstStyle/>
          <a:p>
            <a:r>
              <a:rPr lang="en-US" dirty="0"/>
              <a:t>C# Language – Example</a:t>
            </a:r>
            <a:endParaRPr lang="bg-BG" dirty="0"/>
          </a:p>
        </p:txBody>
      </p:sp>
      <p:sp>
        <p:nvSpPr>
          <p:cNvPr id="1484806" name="Rectangle 6"/>
          <p:cNvSpPr>
            <a:spLocks noGrp="1" noChangeArrowheads="1"/>
          </p:cNvSpPr>
          <p:nvPr>
            <p:ph idx="1"/>
          </p:nvPr>
        </p:nvSpPr>
        <p:spPr>
          <a:xfrm>
            <a:off x="357188" y="1268413"/>
            <a:ext cx="8383587" cy="5329237"/>
          </a:xfrm>
          <a:noFill/>
          <a:ln/>
        </p:spPr>
        <p:txBody>
          <a:bodyPr/>
          <a:lstStyle/>
          <a:p>
            <a:pPr marL="357188" indent="-357188">
              <a:lnSpc>
                <a:spcPct val="100000"/>
              </a:lnSpc>
            </a:pPr>
            <a:r>
              <a:rPr lang="en-US" dirty="0" smtClean="0"/>
              <a:t>Example of C# program:</a:t>
            </a:r>
            <a:endParaRPr lang="en-US" dirty="0"/>
          </a:p>
        </p:txBody>
      </p:sp>
      <p:sp>
        <p:nvSpPr>
          <p:cNvPr id="1484803" name="Rectangle 3"/>
          <p:cNvSpPr>
            <a:spLocks noChangeArrowheads="1"/>
          </p:cNvSpPr>
          <p:nvPr/>
        </p:nvSpPr>
        <p:spPr bwMode="auto">
          <a:xfrm>
            <a:off x="755650" y="2755880"/>
            <a:ext cx="7704138" cy="341632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spcBef>
                <a:spcPts val="0"/>
              </a:spcBef>
              <a:buClr>
                <a:schemeClr val="accent5">
                  <a:lumMod val="40000"/>
                  <a:lumOff val="60000"/>
                </a:schemeClr>
              </a:buClr>
              <a:buSzPct val="70000"/>
            </a:pPr>
            <a:r>
              <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using System</a:t>
            </a:r>
            <a:r>
              <a:rPr lang="en-US" sz="18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a:t>
            </a:r>
          </a:p>
          <a:p>
            <a:pPr eaLnBrk="0" hangingPunct="0">
              <a:spcBef>
                <a:spcPts val="0"/>
              </a:spcBef>
              <a:buClr>
                <a:schemeClr val="accent5">
                  <a:lumMod val="40000"/>
                  <a:lumOff val="60000"/>
                </a:schemeClr>
              </a:buClr>
              <a:buSzPct val="70000"/>
            </a:pPr>
            <a:endPar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endParaRPr>
          </a:p>
          <a:p>
            <a:pPr eaLnBrk="0" hangingPunct="0">
              <a:spcBef>
                <a:spcPts val="0"/>
              </a:spcBef>
              <a:buClr>
                <a:schemeClr val="accent5">
                  <a:lumMod val="40000"/>
                  <a:lumOff val="60000"/>
                </a:schemeClr>
              </a:buClr>
              <a:buSzPct val="70000"/>
            </a:pPr>
            <a:r>
              <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class </a:t>
            </a:r>
            <a:r>
              <a:rPr lang="en-US" sz="18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NumbersFrom1to100</a:t>
            </a:r>
            <a:endPar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endParaRPr>
          </a:p>
          <a:p>
            <a:pPr eaLnBrk="0" hangingPunct="0">
              <a:spcBef>
                <a:spcPts val="0"/>
              </a:spcBef>
              <a:buClr>
                <a:schemeClr val="accent5">
                  <a:lumMod val="40000"/>
                  <a:lumOff val="60000"/>
                </a:schemeClr>
              </a:buClr>
              <a:buSzPct val="70000"/>
            </a:pPr>
            <a:r>
              <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a:t>
            </a:r>
          </a:p>
          <a:p>
            <a:pPr eaLnBrk="0" hangingPunct="0">
              <a:spcBef>
                <a:spcPts val="0"/>
              </a:spcBef>
              <a:buClr>
                <a:schemeClr val="accent5">
                  <a:lumMod val="40000"/>
                  <a:lumOff val="60000"/>
                </a:schemeClr>
              </a:buClr>
              <a:buSzPct val="70000"/>
            </a:pPr>
            <a:r>
              <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static void Main()</a:t>
            </a:r>
          </a:p>
          <a:p>
            <a:pPr eaLnBrk="0" hangingPunct="0">
              <a:spcBef>
                <a:spcPts val="0"/>
              </a:spcBef>
              <a:buClr>
                <a:schemeClr val="accent5">
                  <a:lumMod val="40000"/>
                  <a:lumOff val="60000"/>
                </a:schemeClr>
              </a:buClr>
              <a:buSzPct val="70000"/>
            </a:pPr>
            <a:r>
              <a:rPr lang="en-US" sz="18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    </a:t>
            </a:r>
            <a:r>
              <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a:t>
            </a:r>
          </a:p>
          <a:p>
            <a:pPr eaLnBrk="0" hangingPunct="0">
              <a:spcBef>
                <a:spcPts val="0"/>
              </a:spcBef>
              <a:buClr>
                <a:schemeClr val="accent5">
                  <a:lumMod val="40000"/>
                  <a:lumOff val="60000"/>
                </a:schemeClr>
              </a:buClr>
              <a:buSzPct val="70000"/>
            </a:pPr>
            <a:r>
              <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a:t>
            </a:r>
            <a:r>
              <a:rPr lang="en-US" sz="18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for (int i=1; i&lt;=100; i++)</a:t>
            </a:r>
            <a:br>
              <a:rPr lang="en-US" sz="18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br>
            <a:r>
              <a:rPr lang="en-US" sz="18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        {</a:t>
            </a:r>
          </a:p>
          <a:p>
            <a:pPr eaLnBrk="0" hangingPunct="0">
              <a:spcBef>
                <a:spcPts val="0"/>
              </a:spcBef>
              <a:buClr>
                <a:schemeClr val="accent5">
                  <a:lumMod val="40000"/>
                  <a:lumOff val="60000"/>
                </a:schemeClr>
              </a:buClr>
              <a:buSzPct val="70000"/>
            </a:pPr>
            <a:r>
              <a:rPr lang="en-US" sz="18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            Console.WriteLine(i);</a:t>
            </a:r>
          </a:p>
          <a:p>
            <a:pPr eaLnBrk="0" hangingPunct="0">
              <a:spcBef>
                <a:spcPts val="0"/>
              </a:spcBef>
              <a:buClr>
                <a:schemeClr val="accent5">
                  <a:lumMod val="40000"/>
                  <a:lumOff val="60000"/>
                </a:schemeClr>
              </a:buClr>
              <a:buSzPct val="70000"/>
            </a:pPr>
            <a:r>
              <a:rPr lang="en-US" sz="1800" b="1" noProof="1" smtClean="0">
                <a:solidFill>
                  <a:srgbClr val="8CF4F2"/>
                </a:solidFill>
                <a:effectLst>
                  <a:outerShdw blurRad="38100" dist="38100" dir="2700000" algn="tl">
                    <a:srgbClr val="000000">
                      <a:alpha val="43137"/>
                    </a:srgbClr>
                  </a:outerShdw>
                </a:effectLst>
                <a:latin typeface="Consolas" pitchFamily="49" charset="0"/>
                <a:cs typeface="Consolas" pitchFamily="49" charset="0"/>
              </a:rPr>
              <a:t>        }</a:t>
            </a:r>
            <a:endPar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endParaRPr>
          </a:p>
          <a:p>
            <a:pPr eaLnBrk="0" hangingPunct="0">
              <a:spcBef>
                <a:spcPts val="0"/>
              </a:spcBef>
              <a:buClr>
                <a:schemeClr val="accent5">
                  <a:lumMod val="40000"/>
                  <a:lumOff val="60000"/>
                </a:schemeClr>
              </a:buClr>
              <a:buSzPct val="70000"/>
            </a:pPr>
            <a:r>
              <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    }</a:t>
            </a:r>
          </a:p>
          <a:p>
            <a:pPr eaLnBrk="0" hangingPunct="0">
              <a:spcBef>
                <a:spcPts val="0"/>
              </a:spcBef>
              <a:buClr>
                <a:schemeClr val="accent5">
                  <a:lumMod val="40000"/>
                  <a:lumOff val="60000"/>
                </a:schemeClr>
              </a:buClr>
              <a:buSzPct val="70000"/>
            </a:pPr>
            <a:r>
              <a:rPr lang="en-US" sz="1800" b="1" noProof="1">
                <a:solidFill>
                  <a:srgbClr val="8CF4F2"/>
                </a:solidFill>
                <a:effectLst>
                  <a:outerShdw blurRad="38100" dist="38100" dir="2700000" algn="tl">
                    <a:srgbClr val="000000">
                      <a:alpha val="43137"/>
                    </a:srgbClr>
                  </a:outerShdw>
                </a:effectLst>
                <a:latin typeface="Consolas" pitchFamily="49" charset="0"/>
                <a:cs typeface="Consolas" pitchFamily="49" charset="0"/>
              </a:rPr>
              <a:t>}</a:t>
            </a:r>
          </a:p>
        </p:txBody>
      </p:sp>
      <p:pic>
        <p:nvPicPr>
          <p:cNvPr id="21506" name="Picture 2" descr="http://skysigal.xact-solutions.com/Portals/SkySigal/images/Blog/WLW/CStandardDateTimestringFormattingcodes_1320/blog_csharp_globalization_2.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934200" y="2362200"/>
            <a:ext cx="1752600" cy="1752600"/>
          </a:xfrm>
          <a:prstGeom prst="ellipse">
            <a:avLst/>
          </a:prstGeom>
          <a:noFill/>
        </p:spPr>
      </p:pic>
      <p:sp>
        <p:nvSpPr>
          <p:cNvPr id="6"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47</a:t>
            </a:fld>
            <a:endParaRPr lang="en-US" dirty="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5154" name="Rectangle 2"/>
          <p:cNvSpPr>
            <a:spLocks noGrp="1" noChangeArrowheads="1"/>
          </p:cNvSpPr>
          <p:nvPr>
            <p:ph type="ctrTitle"/>
          </p:nvPr>
        </p:nvSpPr>
        <p:spPr>
          <a:xfrm>
            <a:off x="1260512" y="4572000"/>
            <a:ext cx="6480175" cy="736600"/>
          </a:xfrm>
        </p:spPr>
        <p:txBody>
          <a:bodyPr/>
          <a:lstStyle/>
          <a:p>
            <a:pPr>
              <a:lnSpc>
                <a:spcPct val="110000"/>
              </a:lnSpc>
            </a:pPr>
            <a:r>
              <a:rPr lang="en-US" dirty="0"/>
              <a:t>Visual Studio IDE</a:t>
            </a:r>
            <a:endParaRPr lang="bg-BG" dirty="0"/>
          </a:p>
        </p:txBody>
      </p:sp>
      <p:sp>
        <p:nvSpPr>
          <p:cNvPr id="4" name="Subtitle 5"/>
          <p:cNvSpPr>
            <a:spLocks noGrp="1"/>
          </p:cNvSpPr>
          <p:nvPr>
            <p:ph type="subTitle" idx="1"/>
          </p:nvPr>
        </p:nvSpPr>
        <p:spPr>
          <a:xfrm>
            <a:off x="931358" y="5445920"/>
            <a:ext cx="7145842" cy="497680"/>
          </a:xfrm>
        </p:spPr>
        <p:txBody>
          <a:bodyPr/>
          <a:lstStyle/>
          <a:p>
            <a:r>
              <a:rPr lang="en-US" dirty="0" smtClean="0"/>
              <a:t>Powerful Development Environment for .NET</a:t>
            </a:r>
            <a:endParaRPr lang="en-US" dirty="0"/>
          </a:p>
        </p:txBody>
      </p:sp>
      <p:pic>
        <p:nvPicPr>
          <p:cNvPr id="1026"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824392" y="1219200"/>
            <a:ext cx="5495216" cy="3050096"/>
          </a:xfrm>
          <a:prstGeom prst="rect">
            <a:avLst/>
          </a:prstGeom>
          <a:noFill/>
          <a:ln>
            <a:noFill/>
          </a:ln>
          <a:effectLst>
            <a:glow rad="12700">
              <a:srgbClr val="FFFFFF">
                <a:alpha val="17000"/>
              </a:srgbClr>
            </a:glow>
            <a:outerShdw dist="35921" dir="2700000" algn="ctr" rotWithShape="0">
              <a:schemeClr val="bg2"/>
            </a:outerShdw>
            <a:softEdge rad="114300"/>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0946" name="Rectangle 2"/>
          <p:cNvSpPr>
            <a:spLocks noGrp="1" noChangeArrowheads="1"/>
          </p:cNvSpPr>
          <p:nvPr>
            <p:ph type="title"/>
          </p:nvPr>
        </p:nvSpPr>
        <p:spPr/>
        <p:txBody>
          <a:bodyPr/>
          <a:lstStyle/>
          <a:p>
            <a:r>
              <a:rPr lang="en-US"/>
              <a:t>Visual Studio</a:t>
            </a:r>
            <a:endParaRPr lang="bg-BG"/>
          </a:p>
        </p:txBody>
      </p:sp>
      <p:sp>
        <p:nvSpPr>
          <p:cNvPr id="1490947" name="Rectangle 3"/>
          <p:cNvSpPr>
            <a:spLocks noGrp="1" noChangeArrowheads="1"/>
          </p:cNvSpPr>
          <p:nvPr>
            <p:ph idx="1"/>
          </p:nvPr>
        </p:nvSpPr>
        <p:spPr/>
        <p:txBody>
          <a:bodyPr/>
          <a:lstStyle/>
          <a:p>
            <a:pPr>
              <a:lnSpc>
                <a:spcPct val="100000"/>
              </a:lnSpc>
            </a:pPr>
            <a:r>
              <a:rPr lang="en-US" dirty="0" smtClean="0"/>
              <a:t>Visual Studio is powerful </a:t>
            </a:r>
            <a:r>
              <a:rPr lang="en-US" dirty="0"/>
              <a:t>Integrated</a:t>
            </a:r>
            <a:r>
              <a:rPr lang="bg-BG" dirty="0"/>
              <a:t> </a:t>
            </a:r>
            <a:r>
              <a:rPr lang="en-US" dirty="0" smtClean="0"/>
              <a:t>Development Environment </a:t>
            </a:r>
            <a:r>
              <a:rPr lang="en-US" dirty="0"/>
              <a:t>(IDE) for .</a:t>
            </a:r>
            <a:r>
              <a:rPr lang="en-US" dirty="0" smtClean="0"/>
              <a:t>NET Developers</a:t>
            </a:r>
            <a:endParaRPr lang="en-US" dirty="0"/>
          </a:p>
          <a:p>
            <a:pPr lvl="1">
              <a:lnSpc>
                <a:spcPct val="100000"/>
              </a:lnSpc>
            </a:pPr>
            <a:r>
              <a:rPr lang="en-US" dirty="0"/>
              <a:t>Create, edit, compile and run .NET </a:t>
            </a:r>
            <a:r>
              <a:rPr lang="en-US" dirty="0" smtClean="0"/>
              <a:t>applications</a:t>
            </a:r>
          </a:p>
          <a:p>
            <a:pPr lvl="1">
              <a:lnSpc>
                <a:spcPct val="100000"/>
              </a:lnSpc>
            </a:pPr>
            <a:r>
              <a:rPr lang="en-US" dirty="0" smtClean="0"/>
              <a:t>Different languages</a:t>
            </a:r>
            <a:r>
              <a:rPr lang="bg-BG" dirty="0" smtClean="0"/>
              <a:t> – </a:t>
            </a:r>
            <a:r>
              <a:rPr lang="en-US" dirty="0" smtClean="0"/>
              <a:t>C#, C</a:t>
            </a:r>
            <a:r>
              <a:rPr lang="bg-BG" dirty="0" smtClean="0"/>
              <a:t>++, </a:t>
            </a:r>
            <a:r>
              <a:rPr lang="en-US" dirty="0" smtClean="0"/>
              <a:t>VB.NET,</a:t>
            </a:r>
            <a:r>
              <a:rPr lang="bg-BG" dirty="0" smtClean="0"/>
              <a:t> </a:t>
            </a:r>
            <a:r>
              <a:rPr lang="en-US" dirty="0" smtClean="0"/>
              <a:t>J#, …</a:t>
            </a:r>
            <a:endParaRPr lang="bg-BG" dirty="0" smtClean="0"/>
          </a:p>
          <a:p>
            <a:pPr lvl="1">
              <a:lnSpc>
                <a:spcPct val="100000"/>
              </a:lnSpc>
            </a:pPr>
            <a:r>
              <a:rPr lang="en-US" dirty="0" smtClean="0"/>
              <a:t>Flexible</a:t>
            </a:r>
            <a:r>
              <a:rPr lang="bg-BG" dirty="0" smtClean="0"/>
              <a:t> </a:t>
            </a:r>
            <a:r>
              <a:rPr lang="en-US" dirty="0" smtClean="0"/>
              <a:t>code editor</a:t>
            </a:r>
            <a:endParaRPr lang="bg-BG" dirty="0"/>
          </a:p>
          <a:p>
            <a:pPr lvl="1">
              <a:lnSpc>
                <a:spcPct val="100000"/>
              </a:lnSpc>
            </a:pPr>
            <a:r>
              <a:rPr lang="en-US" dirty="0"/>
              <a:t>Powerful</a:t>
            </a:r>
            <a:r>
              <a:rPr lang="bg-BG" dirty="0"/>
              <a:t> </a:t>
            </a:r>
            <a:r>
              <a:rPr lang="en-US" dirty="0"/>
              <a:t>debugger</a:t>
            </a:r>
            <a:endParaRPr lang="bg-BG" dirty="0"/>
          </a:p>
          <a:p>
            <a:pPr lvl="1">
              <a:lnSpc>
                <a:spcPct val="100000"/>
              </a:lnSpc>
            </a:pPr>
            <a:r>
              <a:rPr lang="en-US" dirty="0"/>
              <a:t>Integrated with SQL Server</a:t>
            </a:r>
            <a:r>
              <a:rPr lang="bg-BG" dirty="0"/>
              <a:t> </a:t>
            </a:r>
            <a:r>
              <a:rPr lang="en-US" dirty="0"/>
              <a:t>and</a:t>
            </a:r>
            <a:r>
              <a:rPr lang="bg-BG" dirty="0"/>
              <a:t> </a:t>
            </a:r>
            <a:r>
              <a:rPr lang="en-US" dirty="0"/>
              <a:t>IIS</a:t>
            </a:r>
            <a:endParaRPr lang="bg-BG" dirty="0"/>
          </a:p>
          <a:p>
            <a:pPr lvl="1">
              <a:lnSpc>
                <a:spcPct val="100000"/>
              </a:lnSpc>
            </a:pPr>
            <a:r>
              <a:rPr lang="en-US" dirty="0"/>
              <a:t>Strong support of </a:t>
            </a:r>
            <a:r>
              <a:rPr lang="en-US" dirty="0" smtClean="0"/>
              <a:t>Web services, WCF and WWF</a:t>
            </a:r>
            <a:endParaRPr lang="en-US" dirty="0"/>
          </a:p>
        </p:txBody>
      </p:sp>
      <p:pic>
        <p:nvPicPr>
          <p:cNvPr id="11265" name="Picture 1" descr="C:\Trash\vs2010-logo-small.pn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841054" y="4191000"/>
            <a:ext cx="1785938" cy="762000"/>
          </a:xfrm>
          <a:prstGeom prst="roundRect">
            <a:avLst>
              <a:gd name="adj" fmla="val 11722"/>
            </a:avLst>
          </a:prstGeom>
          <a:noFill/>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49</a:t>
            </a:fld>
            <a:endParaRPr lang="en-US" dirty="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1970" name="Rectangle 2"/>
          <p:cNvSpPr>
            <a:spLocks noGrp="1" noChangeArrowheads="1"/>
          </p:cNvSpPr>
          <p:nvPr>
            <p:ph type="title"/>
          </p:nvPr>
        </p:nvSpPr>
        <p:spPr/>
        <p:txBody>
          <a:bodyPr/>
          <a:lstStyle/>
          <a:p>
            <a:r>
              <a:rPr lang="en-US"/>
              <a:t>Visual Studio </a:t>
            </a:r>
            <a:r>
              <a:rPr lang="bg-BG"/>
              <a:t>(2)</a:t>
            </a:r>
          </a:p>
        </p:txBody>
      </p:sp>
      <p:sp>
        <p:nvSpPr>
          <p:cNvPr id="1491971" name="Rectangle 3"/>
          <p:cNvSpPr>
            <a:spLocks noGrp="1" noChangeArrowheads="1"/>
          </p:cNvSpPr>
          <p:nvPr>
            <p:ph idx="1"/>
          </p:nvPr>
        </p:nvSpPr>
        <p:spPr/>
        <p:txBody>
          <a:bodyPr/>
          <a:lstStyle/>
          <a:p>
            <a:pPr>
              <a:lnSpc>
                <a:spcPct val="100000"/>
              </a:lnSpc>
            </a:pPr>
            <a:r>
              <a:rPr lang="en-US" dirty="0" smtClean="0"/>
              <a:t>Visual programming</a:t>
            </a:r>
          </a:p>
          <a:p>
            <a:pPr lvl="1">
              <a:lnSpc>
                <a:spcPct val="100000"/>
              </a:lnSpc>
            </a:pPr>
            <a:r>
              <a:rPr lang="en-US" dirty="0" smtClean="0"/>
              <a:t>Component-oriented</a:t>
            </a:r>
            <a:r>
              <a:rPr lang="bg-BG" dirty="0"/>
              <a:t>, </a:t>
            </a:r>
            <a:r>
              <a:rPr lang="en-US" dirty="0"/>
              <a:t>event based</a:t>
            </a:r>
            <a:endParaRPr lang="bg-BG" dirty="0"/>
          </a:p>
          <a:p>
            <a:pPr>
              <a:lnSpc>
                <a:spcPct val="100000"/>
              </a:lnSpc>
            </a:pPr>
            <a:r>
              <a:rPr lang="en-US" dirty="0" smtClean="0"/>
              <a:t>Helpful </a:t>
            </a:r>
            <a:r>
              <a:rPr lang="en-US" dirty="0"/>
              <a:t>wizards and editors</a:t>
            </a:r>
            <a:endParaRPr lang="bg-BG" dirty="0"/>
          </a:p>
          <a:p>
            <a:pPr lvl="1">
              <a:lnSpc>
                <a:spcPct val="100000"/>
              </a:lnSpc>
            </a:pPr>
            <a:r>
              <a:rPr lang="en-US" dirty="0" smtClean="0"/>
              <a:t>Windows Forms Designer</a:t>
            </a:r>
          </a:p>
          <a:p>
            <a:pPr lvl="1">
              <a:lnSpc>
                <a:spcPct val="100000"/>
              </a:lnSpc>
            </a:pPr>
            <a:r>
              <a:rPr lang="en-US" dirty="0" smtClean="0"/>
              <a:t>WPF / Silverlight Designer</a:t>
            </a:r>
          </a:p>
          <a:p>
            <a:pPr lvl="1">
              <a:lnSpc>
                <a:spcPct val="100000"/>
              </a:lnSpc>
            </a:pPr>
            <a:r>
              <a:rPr lang="en-US" dirty="0" smtClean="0"/>
              <a:t>ASP.NET </a:t>
            </a:r>
            <a:r>
              <a:rPr lang="en-US" dirty="0"/>
              <a:t>Web Forms Designer</a:t>
            </a:r>
            <a:endParaRPr lang="bg-BG" dirty="0"/>
          </a:p>
          <a:p>
            <a:pPr lvl="1">
              <a:lnSpc>
                <a:spcPct val="100000"/>
              </a:lnSpc>
            </a:pPr>
            <a:r>
              <a:rPr lang="en-US" dirty="0" smtClean="0"/>
              <a:t>ADO.NET / LINQ-to-SQL / XML Data Designer</a:t>
            </a:r>
          </a:p>
          <a:p>
            <a:pPr>
              <a:lnSpc>
                <a:spcPct val="100000"/>
              </a:lnSpc>
            </a:pPr>
            <a:r>
              <a:rPr lang="en-US" dirty="0" smtClean="0"/>
              <a:t>Many third party extensions</a:t>
            </a:r>
            <a:endParaRPr lang="bg-BG" dirty="0"/>
          </a:p>
        </p:txBody>
      </p:sp>
      <p:pic>
        <p:nvPicPr>
          <p:cNvPr id="4" name="Picture 1" descr="C:\Trash\vs2010-logo-small.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076734" y="3429000"/>
            <a:ext cx="2500309" cy="1066800"/>
          </a:xfrm>
          <a:prstGeom prst="roundRect">
            <a:avLst>
              <a:gd name="adj" fmla="val 11722"/>
            </a:avLst>
          </a:prstGeom>
          <a:noFill/>
        </p:spPr>
      </p:pic>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50</a:t>
            </a:fld>
            <a:endParaRPr lang="en-US" dirty="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4018" name="Rectangle 2"/>
          <p:cNvSpPr>
            <a:spLocks noGrp="1" noChangeArrowheads="1"/>
          </p:cNvSpPr>
          <p:nvPr>
            <p:ph type="title"/>
          </p:nvPr>
        </p:nvSpPr>
        <p:spPr/>
        <p:txBody>
          <a:bodyPr/>
          <a:lstStyle/>
          <a:p>
            <a:r>
              <a:rPr lang="en-US" dirty="0"/>
              <a:t>Visual Studio</a:t>
            </a:r>
            <a:r>
              <a:rPr lang="bg-BG" dirty="0"/>
              <a:t> </a:t>
            </a:r>
            <a:r>
              <a:rPr lang="en-US" dirty="0" smtClean="0"/>
              <a:t>IDE</a:t>
            </a:r>
            <a:endParaRPr lang="bg-BG" dirty="0"/>
          </a:p>
        </p:txBody>
      </p:sp>
      <p:pic>
        <p:nvPicPr>
          <p:cNvPr id="13316"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066800" y="1066800"/>
            <a:ext cx="7010400" cy="5372724"/>
          </a:xfrm>
          <a:prstGeom prst="roundRect">
            <a:avLst>
              <a:gd name="adj" fmla="val 1331"/>
            </a:avLst>
          </a:prstGeom>
          <a:noFill/>
          <a:ln w="9525">
            <a:noFill/>
            <a:miter lim="800000"/>
            <a:headEnd/>
            <a:tailEnd/>
          </a:ln>
        </p:spPr>
      </p:pic>
      <p:sp>
        <p:nvSpPr>
          <p:cNvPr id="4"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51</a:t>
            </a:fld>
            <a:endParaRPr lang="en-US" dirty="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a:xfrm>
            <a:off x="1828800" y="152400"/>
            <a:ext cx="7086600" cy="914400"/>
          </a:xfrm>
        </p:spPr>
        <p:txBody>
          <a:bodyPr/>
          <a:lstStyle/>
          <a:p>
            <a:r>
              <a:rPr lang="en-US" dirty="0" smtClean="0"/>
              <a:t>.NET Framework Overview</a:t>
            </a:r>
            <a:endParaRPr lang="bg-BG" sz="3600" dirty="0"/>
          </a:p>
        </p:txBody>
      </p:sp>
      <p:sp>
        <p:nvSpPr>
          <p:cNvPr id="5" name="Content Placeholder 2"/>
          <p:cNvSpPr>
            <a:spLocks noGrp="1"/>
          </p:cNvSpPr>
          <p:nvPr>
            <p:ph idx="1"/>
          </p:nvPr>
        </p:nvSpPr>
        <p:spPr>
          <a:xfrm>
            <a:off x="1748416" y="2971799"/>
            <a:ext cx="5642984" cy="1219201"/>
          </a:xfrm>
        </p:spPr>
        <p:txBody>
          <a:bodyPr wrap="none" lIns="0" tIns="0" rIns="0" bIns="0" anchor="ctr" anchorCtr="0">
            <a:noAutofit/>
          </a:bodyPr>
          <a:lstStyle/>
          <a:p>
            <a:pPr marL="0" indent="0" algn="ctr">
              <a:lnSpc>
                <a:spcPct val="100000"/>
              </a:lnSpc>
              <a:spcBef>
                <a:spcPts val="0"/>
              </a:spcBef>
              <a:spcAft>
                <a:spcPts val="0"/>
              </a:spcAft>
              <a:buNone/>
            </a:pPr>
            <a:r>
              <a:rPr lang="en-US" sz="7200" dirty="0" smtClean="0"/>
              <a:t>Questions?</a:t>
            </a:r>
            <a:endParaRPr lang="en-US" sz="7200" dirty="0"/>
          </a:p>
        </p:txBody>
      </p:sp>
      <p:sp>
        <p:nvSpPr>
          <p:cNvPr id="6" name="TextBox 5"/>
          <p:cNvSpPr txBox="1"/>
          <p:nvPr/>
        </p:nvSpPr>
        <p:spPr>
          <a:xfrm rot="12041701" flipH="1">
            <a:off x="7298514" y="4376807"/>
            <a:ext cx="949687" cy="1803953"/>
          </a:xfrm>
          <a:prstGeom prst="rect">
            <a:avLst/>
          </a:prstGeom>
          <a:noFill/>
        </p:spPr>
        <p:txBody>
          <a:bodyPr wrap="square" rtlCol="0">
            <a:spAutoFit/>
            <a:scene3d>
              <a:camera prst="orthographicFront"/>
              <a:lightRig rig="threePt" dir="t"/>
            </a:scene3d>
            <a:sp3d extrusionH="57150">
              <a:bevelT w="38100" h="38100" prst="angle"/>
            </a:sp3d>
          </a:bodyPr>
          <a:lstStyle/>
          <a:p>
            <a:r>
              <a:rPr lang="en-US" sz="11500" b="1" dirty="0" smtClean="0">
                <a:solidFill>
                  <a:schemeClr val="tx1">
                    <a:lumMod val="75000"/>
                  </a:schemeClr>
                </a:solidFill>
                <a:effectLst>
                  <a:reflection blurRad="6350" stA="55000" endA="300" endPos="45500" dir="5400000" sy="-100000" algn="bl" rotWithShape="0"/>
                </a:effectLst>
              </a:rPr>
              <a:t>?</a:t>
            </a:r>
            <a:endParaRPr lang="en-US" sz="11500" b="1" dirty="0">
              <a:solidFill>
                <a:schemeClr val="tx1">
                  <a:lumMod val="75000"/>
                </a:schemeClr>
              </a:solidFill>
              <a:effectLst>
                <a:reflection blurRad="6350" stA="55000" endA="300" endPos="45500" dir="5400000" sy="-100000" algn="bl" rotWithShape="0"/>
              </a:effectLst>
            </a:endParaRPr>
          </a:p>
        </p:txBody>
      </p:sp>
      <p:sp>
        <p:nvSpPr>
          <p:cNvPr id="7" name="TextBox 6"/>
          <p:cNvSpPr txBox="1"/>
          <p:nvPr/>
        </p:nvSpPr>
        <p:spPr>
          <a:xfrm rot="3464797" flipH="1">
            <a:off x="968763" y="4574331"/>
            <a:ext cx="859648" cy="2404656"/>
          </a:xfrm>
          <a:prstGeom prst="rect">
            <a:avLst/>
          </a:prstGeom>
          <a:noFill/>
        </p:spPr>
        <p:txBody>
          <a:bodyPr wrap="square" rtlCol="0">
            <a:spAutoFit/>
            <a:scene3d>
              <a:camera prst="orthographicFront"/>
              <a:lightRig rig="threePt" dir="t"/>
            </a:scene3d>
            <a:sp3d extrusionH="57150">
              <a:bevelT w="38100" h="38100"/>
            </a:sp3d>
          </a:bodyPr>
          <a:lstStyle/>
          <a:p>
            <a:r>
              <a:rPr lang="en-US" sz="14000" b="1" dirty="0" smtClean="0">
                <a:solidFill>
                  <a:srgbClr val="FFBF8B"/>
                </a:solidFill>
                <a:effectLst>
                  <a:reflection blurRad="6350" stA="55000" endA="300" endPos="45500" dir="5400000" sy="-100000" algn="bl" rotWithShape="0"/>
                </a:effectLst>
                <a:latin typeface="Cambria" pitchFamily="18" charset="0"/>
              </a:rPr>
              <a:t>?</a:t>
            </a:r>
            <a:endParaRPr lang="en-US" sz="14000" b="1" dirty="0">
              <a:solidFill>
                <a:srgbClr val="FFBF8B"/>
              </a:solidFill>
              <a:effectLst>
                <a:reflection blurRad="6350" stA="55000" endA="300" endPos="45500" dir="5400000" sy="-100000" algn="bl" rotWithShape="0"/>
              </a:effectLst>
              <a:latin typeface="Cambria" pitchFamily="18" charset="0"/>
            </a:endParaRPr>
          </a:p>
        </p:txBody>
      </p:sp>
      <p:sp>
        <p:nvSpPr>
          <p:cNvPr id="8" name="TextBox 7"/>
          <p:cNvSpPr txBox="1"/>
          <p:nvPr/>
        </p:nvSpPr>
        <p:spPr>
          <a:xfrm rot="9535351" flipH="1">
            <a:off x="793612" y="1974335"/>
            <a:ext cx="949687" cy="1401418"/>
          </a:xfrm>
          <a:prstGeom prst="rect">
            <a:avLst/>
          </a:prstGeom>
          <a:noFill/>
        </p:spPr>
        <p:txBody>
          <a:bodyPr wrap="square" rtlCol="0">
            <a:spAutoFit/>
            <a:scene3d>
              <a:camera prst="isometricOffAxis1Right"/>
              <a:lightRig rig="threePt" dir="t"/>
            </a:scene3d>
            <a:sp3d extrusionH="57150">
              <a:bevelT w="38100" h="38100"/>
            </a:sp3d>
          </a:bodyPr>
          <a:lstStyle/>
          <a:p>
            <a:r>
              <a:rPr lang="en-US" sz="8800" dirty="0" smtClean="0">
                <a:solidFill>
                  <a:schemeClr val="accent5">
                    <a:lumMod val="60000"/>
                    <a:lumOff val="40000"/>
                  </a:schemeClr>
                </a:solidFill>
                <a:effectLst>
                  <a:reflection blurRad="6350" stA="55000" endA="300" endPos="45500" dir="5400000" sy="-100000" algn="bl" rotWithShape="0"/>
                </a:effectLst>
              </a:rPr>
              <a:t>?</a:t>
            </a:r>
            <a:endParaRPr lang="en-US" sz="8800" dirty="0">
              <a:solidFill>
                <a:schemeClr val="accent5">
                  <a:lumMod val="60000"/>
                  <a:lumOff val="40000"/>
                </a:schemeClr>
              </a:solidFill>
              <a:effectLst>
                <a:reflection blurRad="6350" stA="55000" endA="300" endPos="45500" dir="5400000" sy="-100000" algn="bl" rotWithShape="0"/>
              </a:effectLst>
            </a:endParaRPr>
          </a:p>
        </p:txBody>
      </p:sp>
      <p:sp>
        <p:nvSpPr>
          <p:cNvPr id="9" name="TextBox 8"/>
          <p:cNvSpPr txBox="1"/>
          <p:nvPr/>
        </p:nvSpPr>
        <p:spPr>
          <a:xfrm rot="16938170" flipH="1">
            <a:off x="4905823" y="1007426"/>
            <a:ext cx="859648" cy="1992899"/>
          </a:xfrm>
          <a:prstGeom prst="rect">
            <a:avLst/>
          </a:prstGeom>
          <a:noFill/>
        </p:spPr>
        <p:txBody>
          <a:bodyPr wrap="square" rtlCol="0">
            <a:spAutoFit/>
            <a:scene3d>
              <a:camera prst="orthographicFront"/>
              <a:lightRig rig="threePt" dir="t"/>
            </a:scene3d>
            <a:sp3d extrusionH="57150">
              <a:bevelT w="38100" h="38100"/>
            </a:sp3d>
          </a:bodyPr>
          <a:lstStyle/>
          <a:p>
            <a:r>
              <a:rPr lang="en-US" sz="11500" b="1" dirty="0" smtClean="0">
                <a:solidFill>
                  <a:srgbClr val="FF831D"/>
                </a:solidFill>
                <a:effectLst>
                  <a:reflection blurRad="6350" stA="55000" endA="300" endPos="45500" dir="5400000" sy="-100000" algn="bl" rotWithShape="0"/>
                </a:effectLst>
              </a:rPr>
              <a:t>?</a:t>
            </a:r>
            <a:endParaRPr lang="en-US" sz="11500" b="1" dirty="0">
              <a:solidFill>
                <a:srgbClr val="FF831D"/>
              </a:solidFill>
              <a:effectLst>
                <a:reflection blurRad="6350" stA="55000" endA="300" endPos="45500" dir="5400000" sy="-100000" algn="bl" rotWithShape="0"/>
              </a:effectLst>
            </a:endParaRPr>
          </a:p>
        </p:txBody>
      </p:sp>
      <p:sp>
        <p:nvSpPr>
          <p:cNvPr id="10" name="TextBox 9"/>
          <p:cNvSpPr txBox="1"/>
          <p:nvPr/>
        </p:nvSpPr>
        <p:spPr>
          <a:xfrm rot="19836951" flipH="1">
            <a:off x="7434275" y="1104110"/>
            <a:ext cx="949687" cy="2492990"/>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156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innerShdw blurRad="63500" dist="50800" dir="8100000">
                    <a:prstClr val="black">
                      <a:alpha val="50000"/>
                    </a:prstClr>
                  </a:innerShdw>
                  <a:reflection blurRad="6350" stA="55000" endA="300" endPos="45500" dir="5400000" sy="-100000" algn="bl" rotWithShape="0"/>
                </a:effectLst>
              </a:rPr>
              <a:t>?</a:t>
            </a:r>
            <a:endParaRPr lang="en-US" sz="156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innerShdw blurRad="63500" dist="50800" dir="8100000">
                  <a:prstClr val="black">
                    <a:alpha val="50000"/>
                  </a:prstClr>
                </a:innerShdw>
                <a:reflection blurRad="6350" stA="55000" endA="300" endPos="45500" dir="5400000" sy="-100000" algn="bl" rotWithShape="0"/>
              </a:effectLst>
            </a:endParaRPr>
          </a:p>
        </p:txBody>
      </p:sp>
      <p:sp>
        <p:nvSpPr>
          <p:cNvPr id="11" name="TextBox 10"/>
          <p:cNvSpPr txBox="1"/>
          <p:nvPr/>
        </p:nvSpPr>
        <p:spPr>
          <a:xfrm rot="2233443" flipH="1">
            <a:off x="2277485" y="1202946"/>
            <a:ext cx="584096" cy="924339"/>
          </a:xfrm>
          <a:prstGeom prst="rect">
            <a:avLst/>
          </a:prstGeom>
          <a:noFill/>
        </p:spPr>
        <p:txBody>
          <a:bodyPr wrap="square" rtlCol="0">
            <a:spAutoFit/>
            <a:scene3d>
              <a:camera prst="perspectiveHeroicExtremeLeftFacing"/>
              <a:lightRig rig="threePt" dir="t"/>
            </a:scene3d>
            <a:sp3d extrusionH="57150">
              <a:bevelT w="38100" h="38100"/>
            </a:sp3d>
          </a:bodyPr>
          <a:lstStyle/>
          <a:p>
            <a:r>
              <a:rPr lang="en-US" sz="5600" dirty="0" smtClean="0">
                <a:solidFill>
                  <a:schemeClr val="tx2">
                    <a:lumMod val="75000"/>
                  </a:schemeClr>
                </a:solidFill>
                <a:effectLst>
                  <a:reflection blurRad="6350" stA="55000" endA="300" endPos="45500" dir="5400000" sy="-100000" algn="bl" rotWithShape="0"/>
                </a:effectLst>
              </a:rPr>
              <a:t>?</a:t>
            </a:r>
            <a:endParaRPr lang="en-US" sz="5600" dirty="0">
              <a:solidFill>
                <a:schemeClr val="tx2">
                  <a:lumMod val="75000"/>
                </a:schemeClr>
              </a:solidFill>
              <a:effectLst>
                <a:reflection blurRad="6350" stA="55000" endA="300" endPos="45500" dir="5400000" sy="-100000" algn="bl" rotWithShape="0"/>
              </a:effectLst>
            </a:endParaRPr>
          </a:p>
        </p:txBody>
      </p:sp>
      <p:sp>
        <p:nvSpPr>
          <p:cNvPr id="12" name="TextBox 11"/>
          <p:cNvSpPr txBox="1"/>
          <p:nvPr/>
        </p:nvSpPr>
        <p:spPr>
          <a:xfrm rot="8530737" flipH="1">
            <a:off x="4871755" y="4604327"/>
            <a:ext cx="643173" cy="1569660"/>
          </a:xfrm>
          <a:prstGeom prst="rect">
            <a:avLst/>
          </a:prstGeom>
          <a:noFill/>
        </p:spPr>
        <p:txBody>
          <a:bodyPr wrap="square" rtlCol="0">
            <a:spAutoFit/>
            <a:scene3d>
              <a:camera prst="orthographicFront"/>
              <a:lightRig rig="threePt" dir="t"/>
            </a:scene3d>
            <a:sp3d extrusionH="57150">
              <a:bevelT w="38100" h="38100"/>
            </a:sp3d>
          </a:bodyPr>
          <a:lstStyle/>
          <a:p>
            <a:r>
              <a:rPr lang="en-US" sz="9600" dirty="0" smtClean="0">
                <a:solidFill>
                  <a:srgbClr val="FF4A37"/>
                </a:solidFill>
                <a:effectLst>
                  <a:reflection blurRad="6350" stA="60000" endA="900" endPos="60000" dist="29997" dir="5400000" sy="-100000" algn="bl" rotWithShape="0"/>
                </a:effectLst>
              </a:rPr>
              <a:t>?</a:t>
            </a:r>
            <a:endParaRPr lang="en-US" sz="9600" dirty="0">
              <a:solidFill>
                <a:srgbClr val="FF4A37"/>
              </a:solidFill>
              <a:effectLst>
                <a:reflection blurRad="6350" stA="60000" endA="900" endPos="60000" dist="29997" dir="5400000" sy="-100000" algn="bl" rotWithShape="0"/>
              </a:effectLst>
            </a:endParaRPr>
          </a:p>
        </p:txBody>
      </p:sp>
      <p:sp>
        <p:nvSpPr>
          <p:cNvPr id="13" name="TextBox 12"/>
          <p:cNvSpPr txBox="1"/>
          <p:nvPr/>
        </p:nvSpPr>
        <p:spPr>
          <a:xfrm rot="12627025" flipH="1">
            <a:off x="2726518" y="4222010"/>
            <a:ext cx="584096" cy="626166"/>
          </a:xfrm>
          <a:prstGeom prst="rect">
            <a:avLst/>
          </a:prstGeom>
          <a:noFill/>
        </p:spPr>
        <p:txBody>
          <a:bodyPr wrap="square" rtlCol="0">
            <a:spAutoFit/>
            <a:scene3d>
              <a:camera prst="orthographicFront"/>
              <a:lightRig rig="threePt" dir="t"/>
            </a:scene3d>
            <a:sp3d extrusionH="57150">
              <a:bevelT w="38100" h="38100"/>
            </a:sp3d>
          </a:bodyPr>
          <a:lstStyle/>
          <a:p>
            <a:r>
              <a:rPr lang="en-US" sz="3600" dirty="0" smtClean="0">
                <a:solidFill>
                  <a:schemeClr val="tx2">
                    <a:lumMod val="40000"/>
                    <a:lumOff val="60000"/>
                  </a:schemeClr>
                </a:solidFill>
                <a:effectLst>
                  <a:reflection blurRad="6350" stA="55000" endA="300" endPos="45500" dir="5400000" sy="-100000" algn="bl" rotWithShape="0"/>
                </a:effectLst>
              </a:rPr>
              <a:t>?</a:t>
            </a:r>
            <a:endParaRPr lang="en-US" sz="3600" dirty="0">
              <a:solidFill>
                <a:schemeClr val="tx2">
                  <a:lumMod val="40000"/>
                  <a:lumOff val="60000"/>
                </a:schemeClr>
              </a:solidFill>
              <a:effectLst>
                <a:reflection blurRad="6350" stA="55000" endA="300" endPos="45500" dir="5400000" sy="-100000" algn="bl" rotWithShape="0"/>
              </a:effectLst>
            </a:endParaRPr>
          </a:p>
        </p:txBody>
      </p:sp>
      <p:sp>
        <p:nvSpPr>
          <p:cNvPr id="15" name="TextBox 14"/>
          <p:cNvSpPr txBox="1"/>
          <p:nvPr/>
        </p:nvSpPr>
        <p:spPr>
          <a:xfrm rot="1186146" flipH="1">
            <a:off x="6185957" y="4166602"/>
            <a:ext cx="499379" cy="1107996"/>
          </a:xfrm>
          <a:prstGeom prst="rect">
            <a:avLst/>
          </a:prstGeom>
          <a:noFill/>
        </p:spPr>
        <p:txBody>
          <a:bodyPr wrap="square" rtlCol="0">
            <a:spAutoFit/>
            <a:scene3d>
              <a:camera prst="orthographicFront"/>
              <a:lightRig rig="threePt" dir="t"/>
            </a:scene3d>
            <a:sp3d extrusionH="57150">
              <a:bevelT w="69850" h="69850" prst="divot"/>
            </a:sp3d>
          </a:bodyPr>
          <a:lstStyle/>
          <a:p>
            <a:r>
              <a:rPr lang="en-US" sz="6600" dirty="0" smtClean="0">
                <a:solidFill>
                  <a:srgbClr val="9966FF"/>
                </a:solidFill>
                <a:effectLst>
                  <a:reflection blurRad="6350" stA="55000" endA="300" endPos="45500" dir="5400000" sy="-100000" algn="bl" rotWithShape="0"/>
                </a:effectLst>
              </a:rPr>
              <a:t>?</a:t>
            </a:r>
            <a:endParaRPr lang="en-US" sz="6600" dirty="0">
              <a:solidFill>
                <a:srgbClr val="9966FF"/>
              </a:solidFill>
              <a:effectLst>
                <a:reflection blurRad="6350" stA="55000" endA="300" endPos="45500" dir="5400000" sy="-100000" algn="bl" rotWithShape="0"/>
              </a:effectLst>
            </a:endParaRPr>
          </a:p>
        </p:txBody>
      </p:sp>
      <p:sp>
        <p:nvSpPr>
          <p:cNvPr id="14" name="TextBox 13"/>
          <p:cNvSpPr txBox="1"/>
          <p:nvPr/>
        </p:nvSpPr>
        <p:spPr>
          <a:xfrm rot="19460650" flipH="1">
            <a:off x="3142397" y="2204058"/>
            <a:ext cx="489197" cy="769441"/>
          </a:xfrm>
          <a:prstGeom prst="rect">
            <a:avLst/>
          </a:prstGeom>
          <a:noFill/>
        </p:spPr>
        <p:txBody>
          <a:bodyPr wrap="square" rtlCol="0">
            <a:prstTxWarp prst="textInflate">
              <a:avLst/>
            </a:prstTxWarp>
            <a:spAutoFit/>
            <a:scene3d>
              <a:camera prst="perspectiveRelaxedModerately"/>
              <a:lightRig rig="threePt" dir="t"/>
            </a:scene3d>
            <a:sp3d extrusionH="57150">
              <a:bevelT w="38100" h="38100"/>
            </a:sp3d>
          </a:bodyPr>
          <a:lstStyle/>
          <a:p>
            <a:r>
              <a:rPr lang="en-US" sz="4400" dirty="0" smtClean="0">
                <a:solidFill>
                  <a:srgbClr val="FF6699"/>
                </a:solidFill>
                <a:effectLst>
                  <a:reflection blurRad="6350" stA="55000" endA="300" endPos="45500" dir="5400000" sy="-100000" algn="bl" rotWithShape="0"/>
                </a:effectLst>
              </a:rPr>
              <a:t>?</a:t>
            </a:r>
            <a:endParaRPr lang="en-US" sz="4400" dirty="0">
              <a:solidFill>
                <a:srgbClr val="FF6699"/>
              </a:solidFill>
              <a:effectLst>
                <a:reflection blurRad="6350" stA="55000" endA="300" endPos="45500" dir="5400000" sy="-100000" algn="bl" rotWithShape="0"/>
              </a:effectLst>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1970" name="Rectangle 2"/>
          <p:cNvSpPr>
            <a:spLocks noGrp="1" noChangeArrowheads="1"/>
          </p:cNvSpPr>
          <p:nvPr>
            <p:ph type="title"/>
          </p:nvPr>
        </p:nvSpPr>
        <p:spPr/>
        <p:txBody>
          <a:bodyPr/>
          <a:lstStyle/>
          <a:p>
            <a:r>
              <a:rPr lang="en-US" dirty="0" smtClean="0"/>
              <a:t>Note – Shared Assembly</a:t>
            </a:r>
            <a:endParaRPr lang="bg-BG" dirty="0"/>
          </a:p>
        </p:txBody>
      </p:sp>
      <p:sp>
        <p:nvSpPr>
          <p:cNvPr id="1491971" name="Rectangle 3"/>
          <p:cNvSpPr>
            <a:spLocks noGrp="1" noChangeArrowheads="1"/>
          </p:cNvSpPr>
          <p:nvPr>
            <p:ph idx="1"/>
          </p:nvPr>
        </p:nvSpPr>
        <p:spPr/>
        <p:txBody>
          <a:bodyPr/>
          <a:lstStyle/>
          <a:p>
            <a:pPr>
              <a:lnSpc>
                <a:spcPct val="100000"/>
              </a:lnSpc>
            </a:pPr>
            <a:r>
              <a:rPr lang="en-US" dirty="0" smtClean="0"/>
              <a:t>Create Key File</a:t>
            </a:r>
          </a:p>
          <a:p>
            <a:pPr lvl="1">
              <a:lnSpc>
                <a:spcPct val="100000"/>
              </a:lnSpc>
            </a:pPr>
            <a:r>
              <a:rPr lang="en-US" dirty="0" err="1">
                <a:effectLst/>
              </a:rPr>
              <a:t>sn</a:t>
            </a:r>
            <a:r>
              <a:rPr lang="en-US" dirty="0">
                <a:effectLst/>
              </a:rPr>
              <a:t> -k </a:t>
            </a:r>
            <a:r>
              <a:rPr lang="en-US" dirty="0" smtClean="0">
                <a:effectLst/>
              </a:rPr>
              <a:t>“C:\[Path]\[Name].</a:t>
            </a:r>
            <a:r>
              <a:rPr lang="en-US" dirty="0" err="1" smtClean="0">
                <a:effectLst/>
              </a:rPr>
              <a:t>snk</a:t>
            </a:r>
            <a:r>
              <a:rPr lang="en-US" dirty="0" smtClean="0">
                <a:effectLst/>
              </a:rPr>
              <a:t>”</a:t>
            </a:r>
          </a:p>
          <a:p>
            <a:pPr>
              <a:lnSpc>
                <a:spcPct val="100000"/>
              </a:lnSpc>
            </a:pPr>
            <a:r>
              <a:rPr lang="en-US" dirty="0" smtClean="0">
                <a:effectLst/>
              </a:rPr>
              <a:t>Associate key file with assembly</a:t>
            </a:r>
          </a:p>
          <a:p>
            <a:pPr lvl="1">
              <a:lnSpc>
                <a:spcPct val="100000"/>
              </a:lnSpc>
            </a:pPr>
            <a:r>
              <a:rPr lang="en-US" dirty="0">
                <a:effectLst/>
              </a:rPr>
              <a:t>&lt;Assembly: </a:t>
            </a:r>
            <a:r>
              <a:rPr lang="en-US" dirty="0" err="1" smtClean="0">
                <a:effectLst/>
              </a:rPr>
              <a:t>AssemblyKeyFile</a:t>
            </a:r>
            <a:r>
              <a:rPr lang="en-US" dirty="0" smtClean="0">
                <a:effectLst/>
              </a:rPr>
              <a:t> (“C:\[Path]\[Name].</a:t>
            </a:r>
            <a:r>
              <a:rPr lang="en-US" dirty="0" err="1" smtClean="0">
                <a:effectLst/>
              </a:rPr>
              <a:t>snk</a:t>
            </a:r>
            <a:r>
              <a:rPr lang="en-US" dirty="0" smtClean="0">
                <a:effectLst/>
              </a:rPr>
              <a:t>”)&gt;</a:t>
            </a:r>
          </a:p>
          <a:p>
            <a:pPr>
              <a:lnSpc>
                <a:spcPct val="100000"/>
              </a:lnSpc>
            </a:pPr>
            <a:r>
              <a:rPr lang="en-US" dirty="0" smtClean="0">
                <a:effectLst/>
              </a:rPr>
              <a:t>Put assembly file in GAC</a:t>
            </a:r>
          </a:p>
          <a:p>
            <a:pPr lvl="1">
              <a:lnSpc>
                <a:spcPct val="100000"/>
              </a:lnSpc>
            </a:pPr>
            <a:r>
              <a:rPr lang="en-US" dirty="0" err="1">
                <a:effectLst/>
              </a:rPr>
              <a:t>gacutil</a:t>
            </a:r>
            <a:r>
              <a:rPr lang="en-US" dirty="0">
                <a:effectLst/>
              </a:rPr>
              <a:t> -I "C:\[PathToBinDirectoryInVSProject</a:t>
            </a:r>
            <a:r>
              <a:rPr lang="en-US" dirty="0" smtClean="0">
                <a:effectLst/>
              </a:rPr>
              <a:t>]\ [Name].</a:t>
            </a:r>
            <a:r>
              <a:rPr lang="en-US" dirty="0" err="1" smtClean="0">
                <a:effectLst/>
              </a:rPr>
              <a:t>dll</a:t>
            </a:r>
            <a:r>
              <a:rPr lang="en-US" dirty="0">
                <a:effectLst/>
              </a:rPr>
              <a:t>"</a:t>
            </a:r>
            <a:endParaRPr lang="bg-BG" dirty="0"/>
          </a:p>
        </p:txBody>
      </p:sp>
      <p:sp>
        <p:nvSpPr>
          <p:cNvPr id="5" name="Slide Number Placeholder 3"/>
          <p:cNvSpPr>
            <a:spLocks noGrp="1"/>
          </p:cNvSpPr>
          <p:nvPr/>
        </p:nvSpPr>
        <p:spPr>
          <a:xfrm>
            <a:off x="8610600" y="6553200"/>
            <a:ext cx="457200" cy="228600"/>
          </a:xfrm>
          <a:prstGeom prst="rect">
            <a:avLst/>
          </a:prstGeom>
        </p:spPr>
        <p:txBody>
          <a:bodyPr anchor="ctr" anchorCtr="0"/>
          <a:lstStyle>
            <a:defPPr>
              <a:defRPr lang="en-US"/>
            </a:defPPr>
            <a:lvl1pPr algn="r" rtl="0" fontAlgn="base">
              <a:spcBef>
                <a:spcPct val="0"/>
              </a:spcBef>
              <a:spcAft>
                <a:spcPct val="0"/>
              </a:spcAft>
              <a:defRPr sz="1100" kern="1200">
                <a:solidFill>
                  <a:srgbClr val="EBFFC2"/>
                </a:solidFill>
                <a:latin typeface="Corbel" pitchFamily="34" charset="0"/>
                <a:ea typeface="+mn-ea"/>
                <a:cs typeface="+mn-cs"/>
              </a:defRPr>
            </a:lvl1pPr>
            <a:lvl2pPr marL="457200" algn="l" rtl="0" fontAlgn="base">
              <a:spcBef>
                <a:spcPct val="0"/>
              </a:spcBef>
              <a:spcAft>
                <a:spcPct val="0"/>
              </a:spcAft>
              <a:defRPr sz="2500" kern="1200">
                <a:solidFill>
                  <a:srgbClr val="EBFFC2"/>
                </a:solidFill>
                <a:latin typeface="Corbel" pitchFamily="34" charset="0"/>
                <a:ea typeface="+mn-ea"/>
                <a:cs typeface="+mn-cs"/>
              </a:defRPr>
            </a:lvl2pPr>
            <a:lvl3pPr marL="914400" algn="l" rtl="0" fontAlgn="base">
              <a:spcBef>
                <a:spcPct val="0"/>
              </a:spcBef>
              <a:spcAft>
                <a:spcPct val="0"/>
              </a:spcAft>
              <a:defRPr sz="2500" kern="1200">
                <a:solidFill>
                  <a:srgbClr val="EBFFC2"/>
                </a:solidFill>
                <a:latin typeface="Corbel" pitchFamily="34" charset="0"/>
                <a:ea typeface="+mn-ea"/>
                <a:cs typeface="+mn-cs"/>
              </a:defRPr>
            </a:lvl3pPr>
            <a:lvl4pPr marL="1371600" algn="l" rtl="0" fontAlgn="base">
              <a:spcBef>
                <a:spcPct val="0"/>
              </a:spcBef>
              <a:spcAft>
                <a:spcPct val="0"/>
              </a:spcAft>
              <a:defRPr sz="2500" kern="1200">
                <a:solidFill>
                  <a:srgbClr val="EBFFC2"/>
                </a:solidFill>
                <a:latin typeface="Corbel" pitchFamily="34" charset="0"/>
                <a:ea typeface="+mn-ea"/>
                <a:cs typeface="+mn-cs"/>
              </a:defRPr>
            </a:lvl4pPr>
            <a:lvl5pPr marL="1828800" algn="l" rtl="0" fontAlgn="base">
              <a:spcBef>
                <a:spcPct val="0"/>
              </a:spcBef>
              <a:spcAft>
                <a:spcPct val="0"/>
              </a:spcAft>
              <a:defRPr sz="2500" kern="1200">
                <a:solidFill>
                  <a:srgbClr val="EBFFC2"/>
                </a:solidFill>
                <a:latin typeface="Corbel" pitchFamily="34" charset="0"/>
                <a:ea typeface="+mn-ea"/>
                <a:cs typeface="+mn-cs"/>
              </a:defRPr>
            </a:lvl5pPr>
            <a:lvl6pPr marL="2286000" algn="l" defTabSz="914400" rtl="0" eaLnBrk="1" latinLnBrk="0" hangingPunct="1">
              <a:defRPr sz="2500" kern="1200">
                <a:solidFill>
                  <a:srgbClr val="EBFFC2"/>
                </a:solidFill>
                <a:latin typeface="Corbel" pitchFamily="34" charset="0"/>
                <a:ea typeface="+mn-ea"/>
                <a:cs typeface="+mn-cs"/>
              </a:defRPr>
            </a:lvl6pPr>
            <a:lvl7pPr marL="2743200" algn="l" defTabSz="914400" rtl="0" eaLnBrk="1" latinLnBrk="0" hangingPunct="1">
              <a:defRPr sz="2500" kern="1200">
                <a:solidFill>
                  <a:srgbClr val="EBFFC2"/>
                </a:solidFill>
                <a:latin typeface="Corbel" pitchFamily="34" charset="0"/>
                <a:ea typeface="+mn-ea"/>
                <a:cs typeface="+mn-cs"/>
              </a:defRPr>
            </a:lvl7pPr>
            <a:lvl8pPr marL="3200400" algn="l" defTabSz="914400" rtl="0" eaLnBrk="1" latinLnBrk="0" hangingPunct="1">
              <a:defRPr sz="2500" kern="1200">
                <a:solidFill>
                  <a:srgbClr val="EBFFC2"/>
                </a:solidFill>
                <a:latin typeface="Corbel" pitchFamily="34" charset="0"/>
                <a:ea typeface="+mn-ea"/>
                <a:cs typeface="+mn-cs"/>
              </a:defRPr>
            </a:lvl8pPr>
            <a:lvl9pPr marL="3657600" algn="l" defTabSz="914400" rtl="0" eaLnBrk="1" latinLnBrk="0" hangingPunct="1">
              <a:defRPr sz="2500" kern="1200">
                <a:solidFill>
                  <a:srgbClr val="EBFFC2"/>
                </a:solidFill>
                <a:latin typeface="Corbel" pitchFamily="34" charset="0"/>
                <a:ea typeface="+mn-ea"/>
                <a:cs typeface="+mn-cs"/>
              </a:defRPr>
            </a:lvl9pPr>
          </a:lstStyle>
          <a:p>
            <a:pPr>
              <a:defRPr/>
            </a:pPr>
            <a:fld id="{58452FF4-89E3-4D1B-9927-2DBDC00E58D7}" type="slidenum">
              <a:rPr lang="en-US" smtClean="0"/>
              <a:pPr>
                <a:defRPr/>
              </a:pPr>
              <a:t>53</a:t>
            </a:fld>
            <a:endParaRPr lang="en-US" dirty="0"/>
          </a:p>
        </p:txBody>
      </p:sp>
    </p:spTree>
    <p:extLst>
      <p:ext uri="{BB962C8B-B14F-4D97-AF65-F5344CB8AC3E}">
        <p14:creationId xmlns="" xmlns:p14="http://schemas.microsoft.com/office/powerpoint/2010/main" val="599946565"/>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Telerik-PowerPoint-Theme">
  <a:themeElements>
    <a:clrScheme name="Telerik Colors Theme">
      <a:dk1>
        <a:sysClr val="windowText" lastClr="000000"/>
      </a:dk1>
      <a:lt1>
        <a:srgbClr val="CCFF66"/>
      </a:lt1>
      <a:dk2>
        <a:srgbClr val="30356E"/>
      </a:dk2>
      <a:lt2>
        <a:srgbClr val="CCFF33"/>
      </a:lt2>
      <a:accent1>
        <a:srgbClr val="CC4757"/>
      </a:accent1>
      <a:accent2>
        <a:srgbClr val="FF6F61"/>
      </a:accent2>
      <a:accent3>
        <a:srgbClr val="FF953E"/>
      </a:accent3>
      <a:accent4>
        <a:srgbClr val="F8BD52"/>
      </a:accent4>
      <a:accent5>
        <a:srgbClr val="46A6BD"/>
      </a:accent5>
      <a:accent6>
        <a:srgbClr val="5488BC"/>
      </a:accent6>
      <a:hlink>
        <a:srgbClr val="76B200"/>
      </a:hlink>
      <a:folHlink>
        <a:srgbClr val="FFCF3E"/>
      </a:folHlink>
    </a:clrScheme>
    <a:fontScheme name="Deluxe">
      <a:majorFont>
        <a:latin typeface="Corbel"/>
        <a:ea typeface=""/>
        <a:cs typeface=""/>
        <a:font script="Jpan" typeface="HGｺﾞｼｯｸM"/>
        <a:font script="Hang" typeface="HY엽서L"/>
        <a:font script="Hans" typeface="华文新魏"/>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新魏"/>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Deluxe">
      <a:fillStyleLst>
        <a:solidFill>
          <a:schemeClr val="phClr"/>
        </a:solidFill>
        <a:gradFill rotWithShape="1">
          <a:gsLst>
            <a:gs pos="0">
              <a:schemeClr val="phClr">
                <a:tint val="20000"/>
                <a:satMod val="280000"/>
              </a:schemeClr>
            </a:gs>
            <a:gs pos="14000">
              <a:schemeClr val="phClr">
                <a:tint val="37000"/>
                <a:satMod val="250000"/>
              </a:schemeClr>
            </a:gs>
            <a:gs pos="45000">
              <a:schemeClr val="phClr">
                <a:tint val="53000"/>
                <a:satMod val="220000"/>
              </a:schemeClr>
            </a:gs>
            <a:gs pos="65000">
              <a:schemeClr val="phClr">
                <a:tint val="53000"/>
                <a:satMod val="220000"/>
              </a:schemeClr>
            </a:gs>
            <a:gs pos="86000">
              <a:schemeClr val="phClr">
                <a:tint val="42000"/>
                <a:satMod val="240000"/>
              </a:schemeClr>
            </a:gs>
            <a:gs pos="100000">
              <a:schemeClr val="phClr">
                <a:tint val="20000"/>
                <a:satMod val="230000"/>
              </a:schemeClr>
            </a:gs>
          </a:gsLst>
          <a:lin ang="16200000" scaled="1"/>
        </a:gradFill>
        <a:gradFill rotWithShape="1">
          <a:gsLst>
            <a:gs pos="0">
              <a:schemeClr val="phClr">
                <a:shade val="75000"/>
                <a:satMod val="160000"/>
              </a:schemeClr>
            </a:gs>
            <a:gs pos="60000">
              <a:schemeClr val="phClr">
                <a:satMod val="150000"/>
              </a:schemeClr>
            </a:gs>
            <a:gs pos="100000">
              <a:schemeClr val="phClr">
                <a:tint val="75000"/>
                <a:satMod val="200000"/>
              </a:schemeClr>
            </a:gs>
          </a:gsLst>
          <a:lin ang="16200000" scaled="1"/>
        </a:gradFill>
      </a:fillStyleLst>
      <a:lnStyleLst>
        <a:ln w="9525" cap="flat" cmpd="sng" algn="ctr">
          <a:solidFill>
            <a:schemeClr val="phClr">
              <a:satMod val="140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outerShdw blurRad="50800" dist="25400" dir="5400000" rotWithShape="0">
              <a:srgbClr val="000000">
                <a:alpha val="43137"/>
              </a:srgbClr>
            </a:outerShdw>
          </a:effectLst>
        </a:effectStyle>
        <a:effectStyle>
          <a:effectLst>
            <a:outerShdw blurRad="50800" dist="25400" dir="5400000" rotWithShape="0">
              <a:srgbClr val="000000">
                <a:alpha val="43137"/>
              </a:srgbClr>
            </a:outerShdw>
          </a:effectLst>
          <a:scene3d>
            <a:camera prst="orthographicFront" fov="0">
              <a:rot lat="0" lon="0" rev="0"/>
            </a:camera>
            <a:lightRig rig="contrasting" dir="t">
              <a:rot lat="0" lon="0" rev="16500000"/>
            </a:lightRig>
          </a:scene3d>
          <a:sp3d prstMaterial="powder">
            <a:bevelT w="152400"/>
            <a:contourClr>
              <a:schemeClr val="phClr"/>
            </a:contourClr>
          </a:sp3d>
        </a:effectStyle>
        <a:effectStyle>
          <a:effectLst>
            <a:reflection blurRad="12700" stA="26000" endPos="28000" dist="38100" dir="5400000" sy="-100000"/>
          </a:effectLst>
          <a:scene3d>
            <a:camera prst="orthographicFront" fov="0">
              <a:rot lat="0" lon="0" rev="0"/>
            </a:camera>
            <a:lightRig rig="contrasting" dir="t">
              <a:rot lat="0" lon="0" rev="16500000"/>
            </a:lightRig>
          </a:scene3d>
          <a:sp3d prstMaterial="powder">
            <a:bevelT w="190500" h="101600"/>
            <a:contourClr>
              <a:schemeClr val="phClr"/>
            </a:contourClr>
          </a:sp3d>
        </a:effectStyle>
      </a:effectStyleLst>
      <a:bgFillStyleLst>
        <a:solidFill>
          <a:schemeClr val="phClr"/>
        </a:solidFill>
        <a:gradFill rotWithShape="1">
          <a:gsLst>
            <a:gs pos="0">
              <a:schemeClr val="phClr">
                <a:tint val="43000"/>
                <a:satMod val="1550000"/>
              </a:schemeClr>
            </a:gs>
            <a:gs pos="1000">
              <a:schemeClr val="phClr">
                <a:tint val="48000"/>
                <a:satMod val="1550000"/>
              </a:schemeClr>
            </a:gs>
            <a:gs pos="90000">
              <a:schemeClr val="phClr">
                <a:shade val="18000"/>
                <a:satMod val="275000"/>
              </a:schemeClr>
            </a:gs>
          </a:gsLst>
          <a:path path="circle">
            <a:fillToRect r="210000" b="300000"/>
          </a:path>
        </a:gradFill>
        <a:gradFill rotWithShape="1">
          <a:gsLst>
            <a:gs pos="5000">
              <a:schemeClr val="phClr">
                <a:tint val="38000"/>
                <a:satMod val="1800000"/>
              </a:schemeClr>
            </a:gs>
            <a:gs pos="5000">
              <a:schemeClr val="phClr">
                <a:tint val="40000"/>
                <a:satMod val="1800000"/>
              </a:schemeClr>
            </a:gs>
            <a:gs pos="90000">
              <a:schemeClr val="phClr">
                <a:shade val="18000"/>
                <a:satMod val="275000"/>
              </a:schemeClr>
            </a:gs>
          </a:gsLst>
          <a:path path="circle">
            <a:fillToRect l="20000" t="30000" r="135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Telerik-PowerPoint-Theme</Template>
  <TotalTime>2919</TotalTime>
  <Words>3618</Words>
  <Application>Microsoft Office PowerPoint</Application>
  <PresentationFormat>On-screen Show (4:3)</PresentationFormat>
  <Paragraphs>631</Paragraphs>
  <Slides>53</Slides>
  <Notes>47</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Telerik-PowerPoint-Theme</vt:lpstr>
      <vt:lpstr>.NET Framework Overview</vt:lpstr>
      <vt:lpstr>Table of Contents</vt:lpstr>
      <vt:lpstr>Table of Contents (2)</vt:lpstr>
      <vt:lpstr>.NET Framework</vt:lpstr>
      <vt:lpstr>What is the .NET Platform?</vt:lpstr>
      <vt:lpstr>What is .NET Framework?</vt:lpstr>
      <vt:lpstr>.NET Framework Components</vt:lpstr>
      <vt:lpstr>.NET Framework Architecture</vt:lpstr>
      <vt:lpstr>.NET Framework Architecture (2)</vt:lpstr>
      <vt:lpstr>.NET Framework Architecture (3)</vt:lpstr>
      <vt:lpstr>.NET Framework Architecture (4)</vt:lpstr>
      <vt:lpstr>.NET Framework Architecture (5)</vt:lpstr>
      <vt:lpstr>.NET Framework Architecture (6)</vt:lpstr>
      <vt:lpstr>.NET Framework Architecture (7)</vt:lpstr>
      <vt:lpstr>Common Language Runtime (CLR)</vt:lpstr>
      <vt:lpstr>Common Language Runtime (CLR)</vt:lpstr>
      <vt:lpstr>Responsibilities of CLR</vt:lpstr>
      <vt:lpstr>Responsibilities of CLR (2)</vt:lpstr>
      <vt:lpstr>CLR Architecture</vt:lpstr>
      <vt:lpstr>Managed and Unmanaged Code</vt:lpstr>
      <vt:lpstr>Managed Code</vt:lpstr>
      <vt:lpstr>Managed Code (2)</vt:lpstr>
      <vt:lpstr>Unmanaged (Win32) Code </vt:lpstr>
      <vt:lpstr>Memory Management</vt:lpstr>
      <vt:lpstr>Intermediate Language (MSIL)</vt:lpstr>
      <vt:lpstr>Intermediate Language  (MSIL, IL, CIL)</vt:lpstr>
      <vt:lpstr>Sample MSIL Program</vt:lpstr>
      <vt:lpstr>Compilation and Execution</vt:lpstr>
      <vt:lpstr>How CLR Executes MSIL?</vt:lpstr>
      <vt:lpstr>.NET Applications</vt:lpstr>
      <vt:lpstr>.NET Assemblies</vt:lpstr>
      <vt:lpstr>Side-by-side execution</vt:lpstr>
      <vt:lpstr>Versioning</vt:lpstr>
      <vt:lpstr>Metadata in the Assemblies</vt:lpstr>
      <vt:lpstr>Metadata in Assemblies</vt:lpstr>
      <vt:lpstr>Global Assembly Cache</vt:lpstr>
      <vt:lpstr>.NET Applications</vt:lpstr>
      <vt:lpstr>Common Language Infrastructure</vt:lpstr>
      <vt:lpstr>Common Language Infrastructure</vt:lpstr>
      <vt:lpstr>Common Language Infrastructure (2)</vt:lpstr>
      <vt:lpstr>.NET Code Compilation and Execution</vt:lpstr>
      <vt:lpstr>Common Type System (CTS)</vt:lpstr>
      <vt:lpstr>Common Language Specification (CLS)</vt:lpstr>
      <vt:lpstr>The .NET Languages</vt:lpstr>
      <vt:lpstr>.NET Languages</vt:lpstr>
      <vt:lpstr>C# Language</vt:lpstr>
      <vt:lpstr>C# Language – Example</vt:lpstr>
      <vt:lpstr>Visual Studio IDE</vt:lpstr>
      <vt:lpstr>Visual Studio</vt:lpstr>
      <vt:lpstr>Visual Studio (2)</vt:lpstr>
      <vt:lpstr>Visual Studio IDE</vt:lpstr>
      <vt:lpstr>.NET Framework Overview</vt:lpstr>
      <vt:lpstr>Note – Shared Assembly</vt:lpstr>
    </vt:vector>
  </TitlesOfParts>
  <Company>Telerik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 Framework Overview</dc:title>
  <dc:creator>Svetlin Nakov</dc:creator>
  <cp:lastModifiedBy>mar</cp:lastModifiedBy>
  <cp:revision>419</cp:revision>
  <dcterms:created xsi:type="dcterms:W3CDTF">2007-12-08T16:03:35Z</dcterms:created>
  <dcterms:modified xsi:type="dcterms:W3CDTF">2015-06-29T09:18:13Z</dcterms:modified>
</cp:coreProperties>
</file>